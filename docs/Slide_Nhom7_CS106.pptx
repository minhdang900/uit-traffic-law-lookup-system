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201E1D"/>
                </a:solidFill>
                <a:latin typeface="Arial"/>
              </a:defRPr>
            </a:pPr>
            <a:r>
              <a:rPr sz="1250" b="0" i="0" u="none" strike="noStrike">
                <a:solidFill>
                  <a:srgbClr val="201E1D"/>
                </a:solidFill>
                <a:latin typeface="Arial"/>
              </a:rPr>
              <a:t>Số câu hỏi theo lớp bài toán × mức độ khó</a:t>
            </a:r>
          </a:p>
        </c:rich>
      </c:tx>
      <c:layout/>
      <c:overlay val="0"/>
    </c:title>
    <c:autoTitleDeleted val="0"/>
    <c:plotArea>
      <c:layout/>
      <c:barChart>
        <c:barDir val="col"/>
        <c:grouping val="stacked"/>
        <c:varyColors val="0"/>
        <c:ser>
          <c:idx val="0"/>
          <c:order val="0"/>
          <c:tx>
            <c:strRef>
              <c:f>Sheet1!$B$1</c:f>
              <c:strCache>
                <c:ptCount val="1"/>
                <c:pt idx="0">
                  <c:v>Dễ</c:v>
                </c:pt>
              </c:strCache>
            </c:strRef>
          </c:tx>
          <c:spPr>
            <a:solidFill>
              <a:srgbClr val="E1EE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P1</c:v>
                  </c:pt>
                  <c:pt idx="1">
                    <c:v>P2</c:v>
                  </c:pt>
                  <c:pt idx="2">
                    <c:v>P3</c:v>
                  </c:pt>
                  <c:pt idx="3">
                    <c:v>P4</c:v>
                  </c:pt>
                  <c:pt idx="4">
                    <c:v>P5</c:v>
                  </c:pt>
                  <c:pt idx="5">
                    <c:v>P6</c:v>
                  </c:pt>
                  <c:pt idx="6">
                    <c:v>P7</c:v>
                  </c:pt>
                </c:lvl>
              </c:multiLvlStrCache>
            </c:multiLvlStrRef>
          </c:cat>
          <c:val>
            <c:numRef>
              <c:f>Sheet1!$B$2:$B$8</c:f>
              <c:numCache>
                <c:formatCode>General</c:formatCode>
                <c:ptCount val="7"/>
                <c:pt idx="0">
                  <c:v>8</c:v>
                </c:pt>
                <c:pt idx="1">
                  <c:v>7</c:v>
                </c:pt>
                <c:pt idx="2">
                  <c:v>10</c:v>
                </c:pt>
                <c:pt idx="3">
                  <c:v>0</c:v>
                </c:pt>
                <c:pt idx="4">
                  <c:v>0</c:v>
                </c:pt>
                <c:pt idx="5">
                  <c:v>3</c:v>
                </c:pt>
                <c:pt idx="6">
                  <c:v>0</c:v>
                </c:pt>
              </c:numCache>
            </c:numRef>
          </c:val>
        </c:ser>
        <c:ser>
          <c:idx val="1"/>
          <c:order val="1"/>
          <c:tx>
            <c:strRef>
              <c:f>Sheet1!$C$1</c:f>
              <c:strCache>
                <c:ptCount val="1"/>
                <c:pt idx="0">
                  <c:v>Trung bình</c:v>
                </c:pt>
              </c:strCache>
            </c:strRef>
          </c:tx>
          <c:spPr>
            <a:solidFill>
              <a:srgbClr val="7A8A5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P1</c:v>
                  </c:pt>
                  <c:pt idx="1">
                    <c:v>P2</c:v>
                  </c:pt>
                  <c:pt idx="2">
                    <c:v>P3</c:v>
                  </c:pt>
                  <c:pt idx="3">
                    <c:v>P4</c:v>
                  </c:pt>
                  <c:pt idx="4">
                    <c:v>P5</c:v>
                  </c:pt>
                  <c:pt idx="5">
                    <c:v>P6</c:v>
                  </c:pt>
                  <c:pt idx="6">
                    <c:v>P7</c:v>
                  </c:pt>
                </c:lvl>
              </c:multiLvlStrCache>
            </c:multiLvlStrRef>
          </c:cat>
          <c:val>
            <c:numRef>
              <c:f>Sheet1!$C$2:$C$8</c:f>
              <c:numCache>
                <c:formatCode>General</c:formatCode>
                <c:ptCount val="7"/>
                <c:pt idx="0">
                  <c:v>9</c:v>
                </c:pt>
                <c:pt idx="1">
                  <c:v>11</c:v>
                </c:pt>
                <c:pt idx="2">
                  <c:v>25</c:v>
                </c:pt>
                <c:pt idx="3">
                  <c:v>9</c:v>
                </c:pt>
                <c:pt idx="4">
                  <c:v>4</c:v>
                </c:pt>
                <c:pt idx="5">
                  <c:v>5</c:v>
                </c:pt>
                <c:pt idx="6">
                  <c:v>5</c:v>
                </c:pt>
              </c:numCache>
            </c:numRef>
          </c:val>
        </c:ser>
        <c:ser>
          <c:idx val="2"/>
          <c:order val="2"/>
          <c:tx>
            <c:strRef>
              <c:f>Sheet1!$D$1</c:f>
              <c:strCache>
                <c:ptCount val="1"/>
                <c:pt idx="0">
                  <c:v>Khó</c:v>
                </c:pt>
              </c:strCache>
            </c:strRef>
          </c:tx>
          <c:spPr>
            <a:solidFill>
              <a:srgbClr val="C6713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P1</c:v>
                  </c:pt>
                  <c:pt idx="1">
                    <c:v>P2</c:v>
                  </c:pt>
                  <c:pt idx="2">
                    <c:v>P3</c:v>
                  </c:pt>
                  <c:pt idx="3">
                    <c:v>P4</c:v>
                  </c:pt>
                  <c:pt idx="4">
                    <c:v>P5</c:v>
                  </c:pt>
                  <c:pt idx="5">
                    <c:v>P6</c:v>
                  </c:pt>
                  <c:pt idx="6">
                    <c:v>P7</c:v>
                  </c:pt>
                </c:lvl>
              </c:multiLvlStrCache>
            </c:multiLvlStrRef>
          </c:cat>
          <c:val>
            <c:numRef>
              <c:f>Sheet1!$D$2:$D$8</c:f>
              <c:numCache>
                <c:formatCode>General</c:formatCode>
                <c:ptCount val="7"/>
                <c:pt idx="0">
                  <c:v>3</c:v>
                </c:pt>
                <c:pt idx="1">
                  <c:v>2</c:v>
                </c:pt>
                <c:pt idx="2">
                  <c:v>5</c:v>
                </c:pt>
                <c:pt idx="3">
                  <c:v>3</c:v>
                </c:pt>
                <c:pt idx="4">
                  <c:v>11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5C50"/>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DCD3C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2796A"/>
                </a:solidFill>
                <a:latin typeface="Arial"/>
              </a:defRPr>
            </a:pPr>
            <a:endParaRPr lang="en-US"/>
          </a:p>
        </c:txPr>
        <c:crossAx val="2094734554"/>
        <c:crosses val="autoZero"/>
        <c:crossBetween val="between"/>
        <c:majorUnit val="10"/>
      </c:valAx>
      <c:spPr>
        <a:solidFill>
          <a:srgbClr val="F5EAD8"/>
        </a:solidFill>
        <a:ln>
          <a:noFill/>
        </a:ln>
        <a:effectLst/>
      </c:spPr>
    </c:plotArea>
    <c:legend>
      <c:legendPos val="t"/>
      <c:overlay val="0"/>
      <c:txPr>
        <a:bodyPr/>
        <a:lstStyle/>
        <a:p>
          <a:pPr>
            <a:defRPr sz="1000">
              <a:solidFill>
                <a:srgbClr val="645C50"/>
              </a:solidFill>
              <a:latin typeface="Arial"/>
              <a:cs typeface="Arial"/>
            </a:defRPr>
          </a:pPr>
          <a:endParaRPr lang="en-US"/>
        </a:p>
      </c:txPr>
    </c:legend>
    <c:plotVisOnly val="1"/>
    <c:dispBlanksAs val="span"/>
  </c:chart>
  <c:spPr>
    <a:solidFill>
      <a:srgbClr val="F5EAD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201E1D"/>
                </a:solidFill>
                <a:latin typeface="Arial"/>
              </a:defRPr>
            </a:pPr>
            <a:r>
              <a:rPr sz="1250" b="0" i="0" u="none" strike="noStrike">
                <a:solidFill>
                  <a:srgbClr val="201E1D"/>
                </a:solidFill>
                <a:latin typeface="Arial"/>
              </a:rPr>
              <a:t>Tỉ trọng theo 6 lĩnh vực (%)</a:t>
            </a:r>
          </a:p>
        </c:rich>
      </c:tx>
      <c:layout/>
      <c:overlay val="0"/>
    </c:title>
    <c:autoTitleDeleted val="0"/>
    <c:plotArea>
      <c:layout/>
      <c:barChart>
        <c:barDir val="bar"/>
        <c:grouping val="clustered"/>
        <c:varyColors val="0"/>
        <c:ser>
          <c:idx val="0"/>
          <c:order val="0"/>
          <c:tx>
            <c:strRef>
              <c:f>Sheet1!$B$1</c:f>
              <c:strCache>
                <c:ptCount val="1"/>
                <c:pt idx="0">
                  <c:v>Cơ sở tri thức</c:v>
                </c:pt>
              </c:strCache>
            </c:strRef>
          </c:tx>
          <c:spPr>
            <a:solidFill>
              <a:srgbClr val="C67139"/>
            </a:solidFill>
            <a:effectLst/>
          </c:spPr>
          <c:invertIfNegative val="0"/>
          <c:dLbls>
            <c:numFmt formatCode="0" sourceLinked="0"/>
            <c:txPr>
              <a:bodyPr/>
              <a:lstStyle/>
              <a:p>
                <a:pPr>
                  <a:defRPr b="0" i="0" strike="noStrike" sz="850" u="none">
                    <a:solidFill>
                      <a:srgbClr val="645C50"/>
                    </a:solidFill>
                    <a:latin typeface="Arial"/>
                  </a:defRPr>
                </a:pPr>
              </a:p>
            </c:txPr>
            <c:showLegendKey val="0"/>
            <c:showVal val="1"/>
            <c:showCatName val="0"/>
            <c:showSerName val="0"/>
            <c:showPercent val="0"/>
            <c:showBubbleSize val="0"/>
            <c:showLeaderLines val="0"/>
          </c:dLbls>
          <c:cat>
            <c:multiLvlStrRef>
              <c:f>Sheet1!$A$2:$A$7</c:f>
              <c:multiLvlStrCache>
                <c:ptCount val="6"/>
                <c:lvl>
                  <c:pt idx="0">
                    <c:v>Khác</c:v>
                  </c:pt>
                  <c:pt idx="1">
                    <c:v>Vận tải</c:v>
                  </c:pt>
                  <c:pt idx="2">
                    <c:v>ĐK phương tiện</c:v>
                  </c:pt>
                  <c:pt idx="3">
                    <c:v>ĐK người lái</c:v>
                  </c:pt>
                  <c:pt idx="4">
                    <c:v>An toàn người</c:v>
                  </c:pt>
                  <c:pt idx="5">
                    <c:v>Quy tắc GT</c:v>
                  </c:pt>
                </c:lvl>
              </c:multiLvlStrCache>
            </c:multiLvlStrRef>
          </c:cat>
          <c:val>
            <c:numRef>
              <c:f>Sheet1!$B$2:$B$7</c:f>
              <c:numCache>
                <c:formatCode>General</c:formatCode>
                <c:ptCount val="6"/>
                <c:pt idx="0">
                  <c:v>3.2</c:v>
                </c:pt>
                <c:pt idx="1">
                  <c:v>6.4</c:v>
                </c:pt>
                <c:pt idx="2">
                  <c:v>16.5</c:v>
                </c:pt>
                <c:pt idx="3">
                  <c:v>17.7</c:v>
                </c:pt>
                <c:pt idx="4">
                  <c:v>18.8</c:v>
                </c:pt>
                <c:pt idx="5">
                  <c:v>37.4</c:v>
                </c:pt>
              </c:numCache>
            </c:numRef>
          </c:val>
        </c:ser>
        <c:ser>
          <c:idx val="1"/>
          <c:order val="1"/>
          <c:tx>
            <c:strRef>
              <c:f>Sheet1!$C$1</c:f>
              <c:strCache>
                <c:ptCount val="1"/>
                <c:pt idx="0">
                  <c:v>Bộ câu hỏi</c:v>
                </c:pt>
              </c:strCache>
            </c:strRef>
          </c:tx>
          <c:spPr>
            <a:solidFill>
              <a:srgbClr val="7A8A5E"/>
            </a:solidFill>
            <a:effectLst/>
          </c:spPr>
          <c:invertIfNegative val="0"/>
          <c:dLbls>
            <c:numFmt formatCode="0" sourceLinked="0"/>
            <c:txPr>
              <a:bodyPr/>
              <a:lstStyle/>
              <a:p>
                <a:pPr>
                  <a:defRPr b="0" i="0" strike="noStrike" sz="850" u="none">
                    <a:solidFill>
                      <a:srgbClr val="645C50"/>
                    </a:solidFill>
                    <a:latin typeface="Arial"/>
                  </a:defRPr>
                </a:pPr>
              </a:p>
            </c:txPr>
            <c:showLegendKey val="0"/>
            <c:showVal val="1"/>
            <c:showCatName val="0"/>
            <c:showSerName val="0"/>
            <c:showPercent val="0"/>
            <c:showBubbleSize val="0"/>
            <c:showLeaderLines val="0"/>
          </c:dLbls>
          <c:cat>
            <c:multiLvlStrRef>
              <c:f>Sheet1!$A$2:$A$7</c:f>
              <c:multiLvlStrCache>
                <c:ptCount val="6"/>
                <c:lvl>
                  <c:pt idx="0">
                    <c:v>Khác</c:v>
                  </c:pt>
                  <c:pt idx="1">
                    <c:v>Vận tải</c:v>
                  </c:pt>
                  <c:pt idx="2">
                    <c:v>ĐK phương tiện</c:v>
                  </c:pt>
                  <c:pt idx="3">
                    <c:v>ĐK người lái</c:v>
                  </c:pt>
                  <c:pt idx="4">
                    <c:v>An toàn người</c:v>
                  </c:pt>
                  <c:pt idx="5">
                    <c:v>Quy tắc GT</c:v>
                  </c:pt>
                </c:lvl>
              </c:multiLvlStrCache>
            </c:multiLvlStrRef>
          </c:cat>
          <c:val>
            <c:numRef>
              <c:f>Sheet1!$C$2:$C$7</c:f>
              <c:numCache>
                <c:formatCode>General</c:formatCode>
                <c:ptCount val="6"/>
                <c:pt idx="0">
                  <c:v>0</c:v>
                </c:pt>
                <c:pt idx="1">
                  <c:v>3.9</c:v>
                </c:pt>
                <c:pt idx="2">
                  <c:v>7.8</c:v>
                </c:pt>
                <c:pt idx="3">
                  <c:v>14.7</c:v>
                </c:pt>
                <c:pt idx="4">
                  <c:v>43.1</c:v>
                </c:pt>
                <c:pt idx="5">
                  <c:v>30.4</c:v>
                </c:pt>
              </c:numCache>
            </c:numRef>
          </c:val>
        </c:ser>
        <c:dLbls>
          <c:numFmt formatCode="0" sourceLinked="0"/>
          <c:txPr>
            <a:bodyPr/>
            <a:lstStyle/>
            <a:p>
              <a:pPr>
                <a:defRPr b="0" i="0" strike="noStrike" sz="850" u="none">
                  <a:solidFill>
                    <a:srgbClr val="645C5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645C50"/>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b"/>
        <c:majorGridlines>
          <c:spPr>
            <a:ln w="6350" cap="flat">
              <a:solidFill>
                <a:srgbClr val="DCD3C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2796A"/>
                </a:solidFill>
                <a:latin typeface="Arial"/>
              </a:defRPr>
            </a:pPr>
            <a:endParaRPr lang="en-US"/>
          </a:p>
        </c:txPr>
        <c:crossAx val="2094734554"/>
        <c:crosses val="autoZero"/>
        <c:crossBetween val="between"/>
        <c:majorUnit val="25"/>
      </c:valAx>
      <c:spPr>
        <a:solidFill>
          <a:srgbClr val="F5EAD8"/>
        </a:solidFill>
        <a:ln>
          <a:noFill/>
        </a:ln>
        <a:effectLst/>
      </c:spPr>
    </c:plotArea>
    <c:legend>
      <c:legendPos val="t"/>
      <c:overlay val="0"/>
      <c:txPr>
        <a:bodyPr/>
        <a:lstStyle/>
        <a:p>
          <a:pPr>
            <a:defRPr sz="1000">
              <a:solidFill>
                <a:srgbClr val="645C50"/>
              </a:solidFill>
              <a:latin typeface="Arial"/>
              <a:cs typeface="Arial"/>
            </a:defRPr>
          </a:pPr>
          <a:endParaRPr lang="en-US"/>
        </a:p>
      </c:txPr>
    </c:legend>
    <c:plotVisOnly val="1"/>
    <c:dispBlanksAs val="span"/>
  </c:chart>
  <c:spPr>
    <a:solidFill>
      <a:srgbClr val="F5EAD8"/>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01E1D"/>
                </a:solidFill>
                <a:latin typeface="Arial"/>
              </a:defRPr>
            </a:pPr>
            <a:r>
              <a:rPr sz="1300" b="0" i="0" u="none" strike="noStrike">
                <a:solidFill>
                  <a:srgbClr val="201E1D"/>
                </a:solidFill>
                <a:latin typeface="Arial"/>
              </a:rPr>
              <a:t>Top-1 và Top-5 theo từng lớp bài toán (%)</a:t>
            </a:r>
          </a:p>
        </c:rich>
      </c:tx>
      <c:layout/>
      <c:overlay val="0"/>
    </c:title>
    <c:autoTitleDeleted val="0"/>
    <c:plotArea>
      <c:layout/>
      <c:barChart>
        <c:barDir val="col"/>
        <c:grouping val="clustered"/>
        <c:varyColors val="0"/>
        <c:ser>
          <c:idx val="0"/>
          <c:order val="0"/>
          <c:tx>
            <c:strRef>
              <c:f>Sheet1!$B$1</c:f>
              <c:strCache>
                <c:ptCount val="1"/>
                <c:pt idx="0">
                  <c:v>Top-1</c:v>
                </c:pt>
              </c:strCache>
            </c:strRef>
          </c:tx>
          <c:spPr>
            <a:solidFill>
              <a:srgbClr val="C67139"/>
            </a:solidFill>
            <a:effectLst/>
          </c:spPr>
          <c:invertIfNegative val="0"/>
          <c:dLbls>
            <c:numFmt formatCode="0" sourceLinked="0"/>
            <c:txPr>
              <a:bodyPr/>
              <a:lstStyle/>
              <a:p>
                <a:pPr>
                  <a:defRPr b="0" i="0" strike="noStrike" sz="850" u="none">
                    <a:solidFill>
                      <a:srgbClr val="645C50"/>
                    </a:solidFill>
                    <a:latin typeface="Arial"/>
                  </a:defRPr>
                </a:pPr>
              </a:p>
            </c:txPr>
            <c:showLegendKey val="0"/>
            <c:showVal val="1"/>
            <c:showCatName val="0"/>
            <c:showSerName val="0"/>
            <c:showPercent val="0"/>
            <c:showBubbleSize val="0"/>
            <c:showLeaderLines val="0"/>
          </c:dLbls>
          <c:cat>
            <c:multiLvlStrRef>
              <c:f>Sheet1!$A$2:$A$8</c:f>
              <c:multiLvlStrCache>
                <c:ptCount val="7"/>
                <c:lvl>
                  <c:pt idx="0">
                    <c:v>P1</c:v>
                  </c:pt>
                  <c:pt idx="1">
                    <c:v>P2</c:v>
                  </c:pt>
                  <c:pt idx="2">
                    <c:v>P3</c:v>
                  </c:pt>
                  <c:pt idx="3">
                    <c:v>P4</c:v>
                  </c:pt>
                  <c:pt idx="4">
                    <c:v>P5</c:v>
                  </c:pt>
                  <c:pt idx="5">
                    <c:v>P6</c:v>
                  </c:pt>
                  <c:pt idx="6">
                    <c:v>P7</c:v>
                  </c:pt>
                </c:lvl>
              </c:multiLvlStrCache>
            </c:multiLvlStrRef>
          </c:cat>
          <c:val>
            <c:numRef>
              <c:f>Sheet1!$B$2:$B$8</c:f>
              <c:numCache>
                <c:formatCode>General</c:formatCode>
                <c:ptCount val="7"/>
                <c:pt idx="0">
                  <c:v>85</c:v>
                </c:pt>
                <c:pt idx="1">
                  <c:v>55</c:v>
                </c:pt>
                <c:pt idx="2">
                  <c:v>85</c:v>
                </c:pt>
                <c:pt idx="3">
                  <c:v>66.7</c:v>
                </c:pt>
                <c:pt idx="4">
                  <c:v>86.7</c:v>
                </c:pt>
                <c:pt idx="5">
                  <c:v>87.5</c:v>
                </c:pt>
                <c:pt idx="6">
                  <c:v>40</c:v>
                </c:pt>
              </c:numCache>
            </c:numRef>
          </c:val>
        </c:ser>
        <c:ser>
          <c:idx val="1"/>
          <c:order val="1"/>
          <c:tx>
            <c:strRef>
              <c:f>Sheet1!$C$1</c:f>
              <c:strCache>
                <c:ptCount val="1"/>
                <c:pt idx="0">
                  <c:v>Top-5</c:v>
                </c:pt>
              </c:strCache>
            </c:strRef>
          </c:tx>
          <c:spPr>
            <a:solidFill>
              <a:srgbClr val="7A8A5E"/>
            </a:solidFill>
            <a:effectLst/>
          </c:spPr>
          <c:invertIfNegative val="0"/>
          <c:dLbls>
            <c:numFmt formatCode="0" sourceLinked="0"/>
            <c:txPr>
              <a:bodyPr/>
              <a:lstStyle/>
              <a:p>
                <a:pPr>
                  <a:defRPr b="0" i="0" strike="noStrike" sz="850" u="none">
                    <a:solidFill>
                      <a:srgbClr val="645C50"/>
                    </a:solidFill>
                    <a:latin typeface="Arial"/>
                  </a:defRPr>
                </a:pPr>
              </a:p>
            </c:txPr>
            <c:showLegendKey val="0"/>
            <c:showVal val="1"/>
            <c:showCatName val="0"/>
            <c:showSerName val="0"/>
            <c:showPercent val="0"/>
            <c:showBubbleSize val="0"/>
            <c:showLeaderLines val="0"/>
          </c:dLbls>
          <c:cat>
            <c:multiLvlStrRef>
              <c:f>Sheet1!$A$2:$A$8</c:f>
              <c:multiLvlStrCache>
                <c:ptCount val="7"/>
                <c:lvl>
                  <c:pt idx="0">
                    <c:v>P1</c:v>
                  </c:pt>
                  <c:pt idx="1">
                    <c:v>P2</c:v>
                  </c:pt>
                  <c:pt idx="2">
                    <c:v>P3</c:v>
                  </c:pt>
                  <c:pt idx="3">
                    <c:v>P4</c:v>
                  </c:pt>
                  <c:pt idx="4">
                    <c:v>P5</c:v>
                  </c:pt>
                  <c:pt idx="5">
                    <c:v>P6</c:v>
                  </c:pt>
                  <c:pt idx="6">
                    <c:v>P7</c:v>
                  </c:pt>
                </c:lvl>
              </c:multiLvlStrCache>
            </c:multiLvlStrRef>
          </c:cat>
          <c:val>
            <c:numRef>
              <c:f>Sheet1!$C$2:$C$8</c:f>
              <c:numCache>
                <c:formatCode>General</c:formatCode>
                <c:ptCount val="7"/>
                <c:pt idx="0">
                  <c:v>95</c:v>
                </c:pt>
                <c:pt idx="1">
                  <c:v>85</c:v>
                </c:pt>
                <c:pt idx="2">
                  <c:v>97.5</c:v>
                </c:pt>
                <c:pt idx="3">
                  <c:v>100</c:v>
                </c:pt>
                <c:pt idx="4">
                  <c:v>93.3</c:v>
                </c:pt>
                <c:pt idx="5">
                  <c:v>100</c:v>
                </c:pt>
                <c:pt idx="6">
                  <c:v>100</c:v>
                </c:pt>
              </c:numCache>
            </c:numRef>
          </c:val>
        </c:ser>
        <c:dLbls>
          <c:numFmt formatCode="0" sourceLinked="0"/>
          <c:txPr>
            <a:bodyPr/>
            <a:lstStyle/>
            <a:p>
              <a:pPr>
                <a:defRPr b="0" i="0" strike="noStrike" sz="850" u="none">
                  <a:solidFill>
                    <a:srgbClr val="645C5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45C5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3C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2796A"/>
                </a:solidFill>
                <a:latin typeface="Arial"/>
              </a:defRPr>
            </a:pPr>
            <a:endParaRPr lang="en-US"/>
          </a:p>
        </c:txPr>
        <c:crossAx val="2094734554"/>
        <c:crosses val="autoZero"/>
        <c:crossBetween val="between"/>
        <c:majorUnit val="25"/>
      </c:valAx>
      <c:spPr>
        <a:solidFill>
          <a:srgbClr val="F5EAD8"/>
        </a:solidFill>
        <a:ln>
          <a:noFill/>
        </a:ln>
        <a:effectLst/>
      </c:spPr>
    </c:plotArea>
    <c:legend>
      <c:legendPos val="t"/>
      <c:overlay val="0"/>
      <c:txPr>
        <a:bodyPr/>
        <a:lstStyle/>
        <a:p>
          <a:pPr>
            <a:defRPr sz="1000">
              <a:solidFill>
                <a:srgbClr val="645C50"/>
              </a:solidFill>
              <a:latin typeface="Arial"/>
              <a:cs typeface="Arial"/>
            </a:defRPr>
          </a:pPr>
          <a:endParaRPr lang="en-US"/>
        </a:p>
      </c:txPr>
    </c:legend>
    <c:plotVisOnly val="1"/>
    <c:dispBlanksAs val="span"/>
  </c:chart>
  <c:spPr>
    <a:solidFill>
      <a:srgbClr val="F5EAD8"/>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01E1D"/>
                </a:solidFill>
                <a:latin typeface="Arial"/>
              </a:defRPr>
            </a:pPr>
            <a:r>
              <a:rPr sz="1300" b="0" i="0" u="none" strike="noStrike">
                <a:solidFill>
                  <a:srgbClr val="201E1D"/>
                </a:solidFill>
                <a:latin typeface="Arial"/>
              </a:rPr>
              <a:t>Top-1 theo cấu hình — toàn bộ 120 câu hỏi</a:t>
            </a:r>
          </a:p>
        </c:rich>
      </c:tx>
      <c:layout/>
      <c:overlay val="0"/>
    </c:title>
    <c:autoTitleDeleted val="0"/>
    <c:plotArea>
      <c:layout/>
      <c:barChart>
        <c:barDir val="bar"/>
        <c:grouping val="clustered"/>
        <c:varyColors val="0"/>
        <c:ser>
          <c:idx val="0"/>
          <c:order val="0"/>
          <c:tx>
            <c:strRef>
              <c:f>Sheet1!$B$1</c:f>
              <c:strCache>
                <c:ptCount val="1"/>
                <c:pt idx="0">
                  <c:v>Top-1 (%)</c:v>
                </c:pt>
              </c:strCache>
            </c:strRef>
          </c:tx>
          <c:spPr>
            <a:solidFill>
              <a:srgbClr val="82796A"/>
            </a:solidFill>
            <a:effectLst/>
          </c:spPr>
          <c:invertIfNegative val="0"/>
          <c:dLbls>
            <c:numFmt formatCode="0.0" sourceLinked="0"/>
            <c:txPr>
              <a:bodyPr/>
              <a:lstStyle/>
              <a:p>
                <a:pPr>
                  <a:defRPr b="0" i="0" strike="noStrike" sz="1000" u="none">
                    <a:solidFill>
                      <a:srgbClr val="645C50"/>
                    </a:solidFill>
                    <a:latin typeface="Arial"/>
                  </a:defRPr>
                </a:pPr>
              </a:p>
            </c:txPr>
            <c:showLegendKey val="0"/>
            <c:showVal val="1"/>
            <c:showCatName val="0"/>
            <c:showSerName val="0"/>
            <c:showPercent val="0"/>
            <c:showBubbleSize val="0"/>
            <c:showLeaderLines val="0"/>
          </c:dLbls>
          <c:dPt>
            <c:idx val="0"/>
            <c:invertIfNegative val="0"/>
            <c:bubble3D val="0"/>
            <c:spPr>
              <a:solidFill>
                <a:srgbClr val="82796A"/>
              </a:solidFill>
              <a:effectLst/>
            </c:spPr>
          </c:dPt>
          <c:dPt>
            <c:idx val="1"/>
            <c:invertIfNegative val="0"/>
            <c:bubble3D val="0"/>
            <c:spPr>
              <a:solidFill>
                <a:srgbClr val="82796A"/>
              </a:solidFill>
              <a:effectLst/>
            </c:spPr>
          </c:dPt>
          <c:dPt>
            <c:idx val="2"/>
            <c:invertIfNegative val="0"/>
            <c:bubble3D val="0"/>
            <c:spPr>
              <a:solidFill>
                <a:srgbClr val="7A8A5E"/>
              </a:solidFill>
              <a:effectLst/>
            </c:spPr>
          </c:dPt>
          <c:dPt>
            <c:idx val="3"/>
            <c:invertIfNegative val="0"/>
            <c:bubble3D val="0"/>
            <c:spPr>
              <a:solidFill>
                <a:srgbClr val="C67139"/>
              </a:solidFill>
              <a:effectLst/>
            </c:spPr>
          </c:dPt>
          <c:cat>
            <c:multiLvlStrRef>
              <c:f>Sheet1!$A$2:$A$5</c:f>
              <c:multiLvlStrCache>
                <c:ptCount val="4"/>
                <c:lvl>
                  <c:pt idx="0">
                    <c:v>A. Chỉ TF-IDF</c:v>
                  </c:pt>
                  <c:pt idx="1">
                    <c:v>B. Chỉ keyphrase</c:v>
                  </c:pt>
                  <c:pt idx="2">
                    <c:v>C. Lai ba thành phần</c:v>
                  </c:pt>
                  <c:pt idx="3">
                    <c:v>D. C + suy diễn số học</c:v>
                  </c:pt>
                </c:lvl>
              </c:multiLvlStrCache>
            </c:multiLvlStrRef>
          </c:cat>
          <c:val>
            <c:numRef>
              <c:f>Sheet1!$B$2:$B$5</c:f>
              <c:numCache>
                <c:formatCode>General</c:formatCode>
                <c:ptCount val="4"/>
                <c:pt idx="0">
                  <c:v>58.3</c:v>
                </c:pt>
                <c:pt idx="1">
                  <c:v>35.8</c:v>
                </c:pt>
                <c:pt idx="2">
                  <c:v>66.7</c:v>
                </c:pt>
                <c:pt idx="3">
                  <c:v>76.7</c:v>
                </c:pt>
              </c:numCache>
            </c:numRef>
          </c:val>
        </c:ser>
        <c:dLbls>
          <c:numFmt formatCode="0.0" sourceLinked="0"/>
          <c:txPr>
            <a:bodyPr/>
            <a:lstStyle/>
            <a:p>
              <a:pPr>
                <a:defRPr b="0" i="0" strike="noStrike" sz="1000" u="none">
                  <a:solidFill>
                    <a:srgbClr val="645C5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45C5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DCD3C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2796A"/>
                </a:solidFill>
                <a:latin typeface="Arial"/>
              </a:defRPr>
            </a:pPr>
            <a:endParaRPr lang="en-US"/>
          </a:p>
        </c:txPr>
        <c:crossAx val="2094734554"/>
        <c:crosses val="autoZero"/>
        <c:crossBetween val="between"/>
        <c:majorUnit val="25"/>
      </c:valAx>
      <c:spPr>
        <a:solidFill>
          <a:srgbClr val="F5EAD8"/>
        </a:solidFill>
        <a:ln>
          <a:noFill/>
        </a:ln>
        <a:effectLst/>
      </c:spPr>
    </c:plotArea>
    <c:plotVisOnly val="1"/>
    <c:dispBlanksAs val="span"/>
  </c:chart>
  <c:spPr>
    <a:solidFill>
      <a:srgbClr val="F5EAD8"/>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201E1D"/>
                </a:solidFill>
                <a:latin typeface="Arial"/>
              </a:defRPr>
            </a:pPr>
            <a:r>
              <a:rPr sz="1300" b="0" i="0" u="none" strike="noStrike">
                <a:solidFill>
                  <a:srgbClr val="201E1D"/>
                </a:solidFill>
                <a:latin typeface="Arial"/>
              </a:rPr>
              <a:t>Khả năng tách truy vấn ngoài lĩnh vực (AUC)</a:t>
            </a:r>
          </a:p>
        </c:rich>
      </c:tx>
      <c:layout/>
      <c:overlay val="0"/>
    </c:title>
    <c:autoTitleDeleted val="0"/>
    <c:plotArea>
      <c:layout/>
      <c:barChart>
        <c:barDir val="bar"/>
        <c:grouping val="clustered"/>
        <c:varyColors val="0"/>
        <c:ser>
          <c:idx val="0"/>
          <c:order val="0"/>
          <c:tx>
            <c:strRef>
              <c:f>Sheet1!$B$1</c:f>
              <c:strCache>
                <c:ptCount val="1"/>
                <c:pt idx="0">
                  <c:v>AUC</c:v>
                </c:pt>
              </c:strCache>
            </c:strRef>
          </c:tx>
          <c:spPr>
            <a:solidFill>
              <a:srgbClr val="82796A"/>
            </a:solidFill>
            <a:effectLst/>
          </c:spPr>
          <c:invertIfNegative val="0"/>
          <c:dLbls>
            <c:numFmt formatCode="0.000" sourceLinked="0"/>
            <c:txPr>
              <a:bodyPr/>
              <a:lstStyle/>
              <a:p>
                <a:pPr>
                  <a:defRPr b="0" i="0" strike="noStrike" sz="1000" u="none">
                    <a:solidFill>
                      <a:srgbClr val="645C50"/>
                    </a:solidFill>
                    <a:latin typeface="Arial"/>
                  </a:defRPr>
                </a:pPr>
              </a:p>
            </c:txPr>
            <c:showLegendKey val="0"/>
            <c:showVal val="1"/>
            <c:showCatName val="0"/>
            <c:showSerName val="0"/>
            <c:showPercent val="0"/>
            <c:showBubbleSize val="0"/>
            <c:showLeaderLines val="0"/>
          </c:dLbls>
          <c:dPt>
            <c:idx val="0"/>
            <c:invertIfNegative val="0"/>
            <c:bubble3D val="0"/>
            <c:spPr>
              <a:solidFill>
                <a:srgbClr val="82796A"/>
              </a:solidFill>
              <a:effectLst/>
            </c:spPr>
          </c:dPt>
          <c:dPt>
            <c:idx val="1"/>
            <c:invertIfNegative val="0"/>
            <c:bubble3D val="0"/>
            <c:spPr>
              <a:solidFill>
                <a:srgbClr val="7A8A5E"/>
              </a:solidFill>
              <a:effectLst/>
            </c:spPr>
          </c:dPt>
          <c:dPt>
            <c:idx val="2"/>
            <c:invertIfNegative val="0"/>
            <c:bubble3D val="0"/>
            <c:spPr>
              <a:solidFill>
                <a:srgbClr val="C0B6A5"/>
              </a:solidFill>
              <a:effectLst/>
            </c:spPr>
          </c:dPt>
          <c:dPt>
            <c:idx val="3"/>
            <c:invertIfNegative val="0"/>
            <c:bubble3D val="0"/>
            <c:spPr>
              <a:solidFill>
                <a:srgbClr val="C67139"/>
              </a:solidFill>
              <a:effectLst/>
            </c:spPr>
          </c:dPt>
          <c:cat>
            <c:multiLvlStrRef>
              <c:f>Sheet1!$A$2:$A$5</c:f>
              <c:multiLvlStrCache>
                <c:ptCount val="4"/>
                <c:lvl>
                  <c:pt idx="0">
                    <c:v>TF-IDF thô</c:v>
                  </c:pt>
                  <c:pt idx="1">
                    <c:v>số keyphrase</c:v>
                  </c:pt>
                  <c:pt idx="2">
                    <c:v>phủ từ vựng KB</c:v>
                  </c:pt>
                  <c:pt idx="3">
                    <c:v>dense</c:v>
                  </c:pt>
                </c:lvl>
              </c:multiLvlStrCache>
            </c:multiLvlStrRef>
          </c:cat>
          <c:val>
            <c:numRef>
              <c:f>Sheet1!$B$2:$B$5</c:f>
              <c:numCache>
                <c:formatCode>General</c:formatCode>
                <c:ptCount val="4"/>
                <c:pt idx="0">
                  <c:v>0.8746</c:v>
                </c:pt>
                <c:pt idx="1">
                  <c:v>0.95</c:v>
                </c:pt>
                <c:pt idx="2">
                  <c:v>0.7243</c:v>
                </c:pt>
                <c:pt idx="3">
                  <c:v>0.9958</c:v>
                </c:pt>
              </c:numCache>
            </c:numRef>
          </c:val>
        </c:ser>
        <c:dLbls>
          <c:numFmt formatCode="0.000" sourceLinked="0"/>
          <c:txPr>
            <a:bodyPr/>
            <a:lstStyle/>
            <a:p>
              <a:pPr>
                <a:defRPr b="0" i="0" strike="noStrike" sz="1000" u="none">
                  <a:solidFill>
                    <a:srgbClr val="645C5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45C50"/>
                </a:solidFill>
                <a:latin typeface="Arial"/>
              </a:defRPr>
            </a:pPr>
            <a:endParaRPr lang="en-US"/>
          </a:p>
        </c:txPr>
        <c:crossAx val="2094734552"/>
        <c:crosses val="autoZero"/>
        <c:auto val="1"/>
        <c:lblAlgn val="ctr"/>
        <c:noMultiLvlLbl val="1"/>
      </c:catAx>
      <c:valAx>
        <c:axId val="2094734552"/>
        <c:scaling>
          <c:orientation val="minMax"/>
          <c:max val="1.15"/>
          <c:min val="0"/>
        </c:scaling>
        <c:delete val="0"/>
        <c:axPos val="b"/>
        <c:majorGridlines>
          <c:spPr>
            <a:ln w="6350" cap="flat">
              <a:solidFill>
                <a:srgbClr val="DCD3C4"/>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2796A"/>
                </a:solidFill>
                <a:latin typeface="Arial"/>
              </a:defRPr>
            </a:pPr>
            <a:endParaRPr lang="en-US"/>
          </a:p>
        </c:txPr>
        <c:crossAx val="2094734554"/>
        <c:crosses val="autoZero"/>
        <c:crossBetween val="between"/>
        <c:majorUnit val="0.25"/>
      </c:valAx>
      <c:spPr>
        <a:solidFill>
          <a:srgbClr val="F5EAD8"/>
        </a:solidFill>
        <a:ln>
          <a:noFill/>
        </a:ln>
        <a:effectLst/>
      </c:spPr>
    </c:plotArea>
    <c:plotVisOnly val="1"/>
    <c:dispBlanksAs val="span"/>
  </c:chart>
  <c:spPr>
    <a:solidFill>
      <a:srgbClr val="F5EAD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hội đồng. Nhóm 7 lớp CS106.F31.CN2 báo cáo Đề tài 4 — hệ thống tra cứu kiến thức pháp luật giao thông đường bộ.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bố cục, dừng lâu nhất ở phần 3 và phần 5 vì đó là phần có số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Vấn đề không phải thiếu thông tin mà là thông tin bị tách rời giữa luật và nghị định, lại còn đang bị sửa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ràng buộc không sinh ngôn ngữ — đây là điểm phân biệt với hướng RAG/LLM ở phần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hội đồng hỏi về ALQAC hay Zalo: nhóm chưa kiểm chứng được quy mô từ nguồn gốc nên không điền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trả lời câu hỏi “đề tài này mới ở chỗ nào”. Nhấn cột phải.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phần giải trình: đề ghi 01 văn bản, nhóm dùng 4 và đây là quyết định thiết kế, không phải làm lệch đề.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vào đuôi phải của histogram khi nói câu dài là chỗ hệ thống yếu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Chủ động nêu hạn chế phủ chưa đều trước khi hội đồng hỏi — đó là điểm cộng, không phải điểm trừ.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tầng: phân tích truy vấn, suy diễn, sinh câu trả lời. Cơ sở tri thức đứng bên cạnh chứ không nằm trong tầng suy diễn.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vào ô ví dụ: chữ nhậu không có trong luật, B2 không khớp cụm nào, nhưng B5 vẫn ra đúng khung nhờ TF-IDF.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Bảy lớp bài toán phủ đủ hai yêu cầu của đề: tra cứu quy định và tra cứu theo ngữ nghĩa.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hỏi hay gặp: ba trọng số này chọn kiểu gì? Trả lời: thiết kế, rồi chứng minh bằng ablation ở slide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Chủ động nêu P2 và P7 trước khi hội đồng hỏi. Precision thấp là do thiết kế trả 5 kết quả, không phải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trả lời trước câu hỏi kinh điển của hội đồng: số đẹp vậy có chắc không, hay chỉ là may.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đáng tiền nhất của phần thực nghiệm: chứng minh trọng số không phải chọn cảm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chứng minh nhóm hiểu hệ của mình hỏng ở đâu chứ không chỉ biết con số tổng.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chỉ được giữ một slide của phần kết quả thì giữ slide này — nó cho thấy nhóm hiểu VÌ SAO chứ không chỉ đo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Docker và chạy script trước giờ trình bày ít nhất 5 phút. Dự phòng: bảng 12 ca nghiệm thu trong so_lieu/.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Chủ động nêu hạn chế trước khi hội đồng hỏi. Nhấn: đây là hạn chế ĐÃ ĐO, không phải chưa biết.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lại bằng kỷ luật đo đạc chứ không bằng con số. Sẵn sàng nhận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9997135" y="-1737360"/>
            <a:ext cx="4572000" cy="4572000"/>
          </a:xfrm>
          <a:prstGeom prst="ellipse">
            <a:avLst/>
          </a:prstGeom>
          <a:solidFill>
            <a:srgbClr val="402310"/>
          </a:solidFill>
          <a:ln/>
        </p:spPr>
      </p:sp>
      <p:sp>
        <p:nvSpPr>
          <p:cNvPr id="3" name="Shape 1"/>
          <p:cNvSpPr/>
          <p:nvPr/>
        </p:nvSpPr>
        <p:spPr>
          <a:xfrm>
            <a:off x="-1371600" y="5486400"/>
            <a:ext cx="2926080" cy="2926080"/>
          </a:xfrm>
          <a:prstGeom prst="ellipse">
            <a:avLst/>
          </a:prstGeom>
          <a:solidFill>
            <a:srgbClr val="3D472B"/>
          </a:solidFill>
          <a:ln/>
        </p:spPr>
      </p:sp>
      <p:sp>
        <p:nvSpPr>
          <p:cNvPr id="4" name="Shape 2"/>
          <p:cNvSpPr/>
          <p:nvPr/>
        </p:nvSpPr>
        <p:spPr>
          <a:xfrm>
            <a:off x="685800" y="868680"/>
            <a:ext cx="2242109" cy="274320"/>
          </a:xfrm>
          <a:prstGeom prst="roundRect">
            <a:avLst>
              <a:gd name="adj" fmla="val 50000"/>
            </a:avLst>
          </a:prstGeom>
          <a:solidFill>
            <a:srgbClr val="C67139"/>
          </a:solidFill>
          <a:ln/>
        </p:spPr>
      </p:sp>
      <p:sp>
        <p:nvSpPr>
          <p:cNvPr id="5" name="Text 3"/>
          <p:cNvSpPr txBox="1"/>
          <p:nvPr/>
        </p:nvSpPr>
        <p:spPr>
          <a:xfrm>
            <a:off x="685800" y="868680"/>
            <a:ext cx="2242109" cy="274320"/>
          </a:xfrm>
          <a:prstGeom prst="rect">
            <a:avLst/>
          </a:prstGeom>
          <a:noFill/>
          <a:ln/>
        </p:spPr>
        <p:txBody>
          <a:bodyPr wrap="square" lIns="0" tIns="0" rIns="0" bIns="0" rtlCol="0" anchor="ctr"/>
          <a:lstStyle/>
          <a:p>
            <a:pPr algn="ctr" indent="0" marL="0">
              <a:buNone/>
            </a:pPr>
            <a:r>
              <a:rPr lang="en-US" sz="1200" b="1" dirty="0">
                <a:solidFill>
                  <a:srgbClr val="F5EAD8"/>
                </a:solidFill>
                <a:latin typeface="Arial" pitchFamily="34" charset="0"/>
                <a:ea typeface="Arial" pitchFamily="34" charset="-122"/>
                <a:cs typeface="Arial" pitchFamily="34" charset="-120"/>
              </a:rPr>
              <a:t>CS106 · TRÍ TUỆ NHÂN TẠO</a:t>
            </a:r>
            <a:endParaRPr lang="en-US" sz="1200" dirty="0"/>
          </a:p>
        </p:txBody>
      </p:sp>
      <p:sp>
        <p:nvSpPr>
          <p:cNvPr id="6" name="Text 4"/>
          <p:cNvSpPr txBox="1"/>
          <p:nvPr/>
        </p:nvSpPr>
        <p:spPr>
          <a:xfrm>
            <a:off x="685800" y="1417320"/>
            <a:ext cx="10820095" cy="457200"/>
          </a:xfrm>
          <a:prstGeom prst="rect">
            <a:avLst/>
          </a:prstGeom>
          <a:noFill/>
          <a:ln/>
        </p:spPr>
        <p:txBody>
          <a:bodyPr wrap="square" lIns="0" tIns="0" rIns="0" bIns="0" rtlCol="0" anchor="ctr"/>
          <a:lstStyle/>
          <a:p>
            <a:pPr indent="0" marL="0">
              <a:buNone/>
            </a:pPr>
            <a:r>
              <a:rPr lang="en-US" sz="2000" b="1" spc="300" kern="0" dirty="0">
                <a:solidFill>
                  <a:srgbClr val="F6A06B"/>
                </a:solidFill>
                <a:latin typeface="Arial" pitchFamily="34" charset="0"/>
                <a:ea typeface="Arial" pitchFamily="34" charset="-122"/>
                <a:cs typeface="Arial" pitchFamily="34" charset="-120"/>
              </a:rPr>
              <a:t>ĐỀ TÀI 4</a:t>
            </a:r>
            <a:endParaRPr lang="en-US" sz="2000" dirty="0"/>
          </a:p>
        </p:txBody>
      </p:sp>
      <p:sp>
        <p:nvSpPr>
          <p:cNvPr id="7" name="Text 5"/>
          <p:cNvSpPr txBox="1"/>
          <p:nvPr/>
        </p:nvSpPr>
        <p:spPr>
          <a:xfrm>
            <a:off x="685800" y="1874520"/>
            <a:ext cx="8778240" cy="1737360"/>
          </a:xfrm>
          <a:prstGeom prst="rect">
            <a:avLst/>
          </a:prstGeom>
          <a:noFill/>
          <a:ln/>
        </p:spPr>
        <p:txBody>
          <a:bodyPr wrap="square" lIns="0" tIns="0" rIns="0" bIns="0" rtlCol="0" anchor="ctr"/>
          <a:lstStyle/>
          <a:p>
            <a:pPr indent="0" marL="0">
              <a:lnSpc>
                <a:spcPts val="4600"/>
              </a:lnSpc>
              <a:buNone/>
            </a:pPr>
            <a:r>
              <a:rPr lang="en-US" sz="4000" b="1" dirty="0">
                <a:solidFill>
                  <a:srgbClr val="F9F4ED"/>
                </a:solidFill>
                <a:latin typeface="Arial" pitchFamily="34" charset="0"/>
                <a:ea typeface="Arial" pitchFamily="34" charset="-122"/>
                <a:cs typeface="Arial" pitchFamily="34" charset="-120"/>
              </a:rPr>
              <a:t>Xây dựng hệ thống</a:t>
            </a:r>
            <a:endParaRPr lang="en-US" sz="4000" dirty="0"/>
          </a:p>
          <a:p>
            <a:pPr indent="0" marL="0">
              <a:lnSpc>
                <a:spcPts val="4600"/>
              </a:lnSpc>
              <a:buNone/>
            </a:pPr>
            <a:r>
              <a:rPr lang="en-US" sz="4000" b="1" dirty="0">
                <a:solidFill>
                  <a:srgbClr val="F9F4ED"/>
                </a:solidFill>
                <a:latin typeface="Arial" pitchFamily="34" charset="0"/>
                <a:ea typeface="Arial" pitchFamily="34" charset="-122"/>
                <a:cs typeface="Arial" pitchFamily="34" charset="-120"/>
              </a:rPr>
              <a:t>tra cứu kiến thức pháp luật</a:t>
            </a:r>
            <a:endParaRPr lang="en-US" sz="4000" dirty="0"/>
          </a:p>
        </p:txBody>
      </p:sp>
      <p:sp>
        <p:nvSpPr>
          <p:cNvPr id="8" name="Text 6"/>
          <p:cNvSpPr txBox="1"/>
          <p:nvPr/>
        </p:nvSpPr>
        <p:spPr>
          <a:xfrm>
            <a:off x="685800" y="3657600"/>
            <a:ext cx="9326880" cy="329184"/>
          </a:xfrm>
          <a:prstGeom prst="rect">
            <a:avLst/>
          </a:prstGeom>
          <a:noFill/>
          <a:ln/>
        </p:spPr>
        <p:txBody>
          <a:bodyPr wrap="square" lIns="0" tIns="0" rIns="0" bIns="0" rtlCol="0" anchor="ctr"/>
          <a:lstStyle/>
          <a:p>
            <a:pPr indent="0" marL="0">
              <a:buNone/>
            </a:pPr>
            <a:r>
              <a:rPr lang="en-US" sz="1500" i="1" dirty="0">
                <a:solidFill>
                  <a:srgbClr val="C0B6A5"/>
                </a:solidFill>
                <a:latin typeface="Arial" pitchFamily="34" charset="0"/>
                <a:ea typeface="Arial" pitchFamily="34" charset="-122"/>
                <a:cs typeface="Arial" pitchFamily="34" charset="-120"/>
              </a:rPr>
              <a:t>Lĩnh vực: Giao thông đường bộ  ·  Luật 36/2024/QH15 và Nghị định 168/2024/NĐ-CP</a:t>
            </a:r>
            <a:endParaRPr lang="en-US" sz="1500" dirty="0"/>
          </a:p>
        </p:txBody>
      </p:sp>
      <p:sp>
        <p:nvSpPr>
          <p:cNvPr id="9" name="Shape 7"/>
          <p:cNvSpPr/>
          <p:nvPr/>
        </p:nvSpPr>
        <p:spPr>
          <a:xfrm>
            <a:off x="685800" y="4261104"/>
            <a:ext cx="5212080" cy="1554480"/>
          </a:xfrm>
          <a:prstGeom prst="roundRect">
            <a:avLst>
              <a:gd name="adj" fmla="val 8235"/>
            </a:avLst>
          </a:prstGeom>
          <a:solidFill>
            <a:srgbClr val="3A352D"/>
          </a:solidFill>
          <a:ln w="12700">
            <a:solidFill>
              <a:srgbClr val="56503F"/>
            </a:solidFill>
            <a:prstDash val="solid"/>
          </a:ln>
        </p:spPr>
      </p:sp>
      <p:sp>
        <p:nvSpPr>
          <p:cNvPr id="10" name="Text 8"/>
          <p:cNvSpPr txBox="1"/>
          <p:nvPr/>
        </p:nvSpPr>
        <p:spPr>
          <a:xfrm>
            <a:off x="978408" y="4443984"/>
            <a:ext cx="4663440" cy="1051560"/>
          </a:xfrm>
          <a:prstGeom prst="rect">
            <a:avLst/>
          </a:prstGeom>
          <a:noFill/>
          <a:ln/>
        </p:spPr>
        <p:txBody>
          <a:bodyPr wrap="square" lIns="0" tIns="0" rIns="0" bIns="0" rtlCol="0" anchor="ctr"/>
          <a:lstStyle/>
          <a:p>
            <a:pPr indent="0" marL="0">
              <a:buNone/>
            </a:pPr>
            <a:r>
              <a:rPr lang="en-US" sz="1100" dirty="0">
                <a:solidFill>
                  <a:srgbClr val="A19786"/>
                </a:solidFill>
                <a:latin typeface="Arial" pitchFamily="34" charset="0"/>
                <a:ea typeface="Arial" pitchFamily="34" charset="-122"/>
                <a:cs typeface="Arial" pitchFamily="34" charset="-120"/>
              </a:rPr>
              <a:t>Giảng viên hướng dẫn
</a:t>
            </a:r>
            <a:pPr indent="0" marL="0">
              <a:buNone/>
            </a:pPr>
            <a:r>
              <a:rPr lang="en-US" sz="1500" b="1" dirty="0">
                <a:solidFill>
                  <a:srgbClr val="F9F4ED"/>
                </a:solidFill>
                <a:latin typeface="Arial" pitchFamily="34" charset="0"/>
                <a:ea typeface="Arial" pitchFamily="34" charset="-122"/>
                <a:cs typeface="Arial" pitchFamily="34" charset="-120"/>
              </a:rPr>
              <a:t>PGS.TS. Nguyễn Đình Hiển
</a:t>
            </a:r>
            <a:pPr indent="0" marL="0">
              <a:buNone/>
            </a:pPr>
            <a:r>
              <a:rPr lang="en-US" sz="1200" dirty="0">
                <a:solidFill>
                  <a:srgbClr val="C0B6A5"/>
                </a:solidFill>
                <a:latin typeface="Arial" pitchFamily="34" charset="0"/>
                <a:ea typeface="Arial" pitchFamily="34" charset="-122"/>
                <a:cs typeface="Arial" pitchFamily="34" charset="-120"/>
              </a:rPr>
              <a:t>Lớp CS106.F31.CN2   ·   Nhóm 7   ·   7 thành viên</a:t>
            </a:r>
            <a:endParaRPr lang="en-US" sz="1100" dirty="0"/>
          </a:p>
        </p:txBody>
      </p:sp>
      <p:sp>
        <p:nvSpPr>
          <p:cNvPr id="11" name="Text 9"/>
          <p:cNvSpPr txBox="1"/>
          <p:nvPr/>
        </p:nvSpPr>
        <p:spPr>
          <a:xfrm>
            <a:off x="6263640" y="4261104"/>
            <a:ext cx="2926080" cy="1737360"/>
          </a:xfrm>
          <a:prstGeom prst="rect">
            <a:avLst/>
          </a:prstGeom>
          <a:noFill/>
          <a:ln/>
        </p:spPr>
        <p:txBody>
          <a:bodyPr wrap="square" lIns="0" tIns="0" rIns="0" bIns="0" rtlCol="0" anchor="ctr"/>
          <a:lstStyle/>
          <a:p>
            <a:pPr indent="0" marL="0">
              <a:lnSpc>
                <a:spcPts val="1600"/>
              </a:lnSpc>
              <a:buNone/>
            </a:pPr>
            <a:r>
              <a:rPr lang="en-US" sz="1150" dirty="0">
                <a:solidFill>
                  <a:srgbClr val="C0B6A5"/>
                </a:solidFill>
                <a:latin typeface="Arial" pitchFamily="34" charset="0"/>
                <a:ea typeface="Arial" pitchFamily="34" charset="-122"/>
                <a:cs typeface="Arial" pitchFamily="34" charset="-120"/>
              </a:rPr>
              <a:t>Nguyễn Quang Lâm</a:t>
            </a:r>
            <a:endParaRPr lang="en-US" sz="1150" dirty="0"/>
          </a:p>
          <a:p>
            <a:pPr indent="0" marL="0">
              <a:lnSpc>
                <a:spcPts val="1600"/>
              </a:lnSpc>
              <a:buNone/>
            </a:pPr>
            <a:r>
              <a:rPr lang="en-US" sz="1150" dirty="0">
                <a:solidFill>
                  <a:srgbClr val="C0B6A5"/>
                </a:solidFill>
                <a:latin typeface="Arial" pitchFamily="34" charset="0"/>
                <a:ea typeface="Arial" pitchFamily="34" charset="-122"/>
                <a:cs typeface="Arial" pitchFamily="34" charset="-120"/>
              </a:rPr>
              <a:t>Trần Trọng Tấn</a:t>
            </a:r>
            <a:endParaRPr lang="en-US" sz="1150" dirty="0"/>
          </a:p>
          <a:p>
            <a:pPr indent="0" marL="0">
              <a:lnSpc>
                <a:spcPts val="1600"/>
              </a:lnSpc>
              <a:buNone/>
            </a:pPr>
            <a:r>
              <a:rPr lang="en-US" sz="1150" dirty="0">
                <a:solidFill>
                  <a:srgbClr val="C0B6A5"/>
                </a:solidFill>
                <a:latin typeface="Arial" pitchFamily="34" charset="0"/>
                <a:ea typeface="Arial" pitchFamily="34" charset="-122"/>
                <a:cs typeface="Arial" pitchFamily="34" charset="-120"/>
              </a:rPr>
              <a:t>Lê Quang Thi</a:t>
            </a:r>
            <a:endParaRPr lang="en-US" sz="1150" dirty="0"/>
          </a:p>
          <a:p>
            <a:pPr indent="0" marL="0">
              <a:lnSpc>
                <a:spcPts val="1600"/>
              </a:lnSpc>
              <a:buNone/>
            </a:pPr>
            <a:r>
              <a:rPr lang="en-US" sz="1150" dirty="0">
                <a:solidFill>
                  <a:srgbClr val="C0B6A5"/>
                </a:solidFill>
                <a:latin typeface="Arial" pitchFamily="34" charset="0"/>
                <a:ea typeface="Arial" pitchFamily="34" charset="-122"/>
                <a:cs typeface="Arial" pitchFamily="34" charset="-120"/>
              </a:rPr>
              <a:t>Vỏ Cẩm Thu</a:t>
            </a:r>
            <a:endParaRPr lang="en-US" sz="1150" dirty="0"/>
          </a:p>
          <a:p>
            <a:pPr indent="0" marL="0">
              <a:lnSpc>
                <a:spcPts val="1600"/>
              </a:lnSpc>
              <a:buNone/>
            </a:pPr>
            <a:r>
              <a:rPr lang="en-US" sz="1150" dirty="0">
                <a:solidFill>
                  <a:srgbClr val="C0B6A5"/>
                </a:solidFill>
                <a:latin typeface="Arial" pitchFamily="34" charset="0"/>
                <a:ea typeface="Arial" pitchFamily="34" charset="-122"/>
                <a:cs typeface="Arial" pitchFamily="34" charset="-120"/>
              </a:rPr>
              <a:t>Nguyễn Trí Toàn</a:t>
            </a:r>
            <a:endParaRPr lang="en-US" sz="1150" dirty="0"/>
          </a:p>
          <a:p>
            <a:pPr indent="0" marL="0">
              <a:lnSpc>
                <a:spcPts val="1600"/>
              </a:lnSpc>
              <a:buNone/>
            </a:pPr>
            <a:r>
              <a:rPr lang="en-US" sz="1150" dirty="0">
                <a:solidFill>
                  <a:srgbClr val="C0B6A5"/>
                </a:solidFill>
                <a:latin typeface="Arial" pitchFamily="34" charset="0"/>
                <a:ea typeface="Arial" pitchFamily="34" charset="-122"/>
                <a:cs typeface="Arial" pitchFamily="34" charset="-120"/>
              </a:rPr>
              <a:t>Nguyễn Văn Thái</a:t>
            </a:r>
            <a:endParaRPr lang="en-US" sz="1150" dirty="0"/>
          </a:p>
          <a:p>
            <a:pPr indent="0" marL="0">
              <a:lnSpc>
                <a:spcPts val="1600"/>
              </a:lnSpc>
              <a:buNone/>
            </a:pPr>
            <a:r>
              <a:rPr lang="en-US" sz="1150" dirty="0">
                <a:solidFill>
                  <a:srgbClr val="C0B6A5"/>
                </a:solidFill>
                <a:latin typeface="Arial" pitchFamily="34" charset="0"/>
                <a:ea typeface="Arial" pitchFamily="34" charset="-122"/>
                <a:cs typeface="Arial" pitchFamily="34" charset="-120"/>
              </a:rPr>
              <a:t>Đỗ Quốc Hoàng</a:t>
            </a:r>
            <a:endParaRPr lang="en-US" sz="1150" dirty="0"/>
          </a:p>
        </p:txBody>
      </p:sp>
      <p:sp>
        <p:nvSpPr>
          <p:cNvPr id="12" name="Text 10"/>
          <p:cNvSpPr txBox="1"/>
          <p:nvPr/>
        </p:nvSpPr>
        <p:spPr>
          <a:xfrm>
            <a:off x="9235440" y="4261104"/>
            <a:ext cx="1371600" cy="1737360"/>
          </a:xfrm>
          <a:prstGeom prst="rect">
            <a:avLst/>
          </a:prstGeom>
          <a:noFill/>
          <a:ln/>
        </p:spPr>
        <p:txBody>
          <a:bodyPr wrap="square" lIns="0" tIns="0" rIns="0" bIns="0" rtlCol="0" anchor="ctr"/>
          <a:lstStyle/>
          <a:p>
            <a:pPr indent="0" marL="0">
              <a:lnSpc>
                <a:spcPts val="1600"/>
              </a:lnSpc>
              <a:buNone/>
            </a:pPr>
            <a:r>
              <a:rPr lang="en-US" sz="1150" dirty="0">
                <a:solidFill>
                  <a:srgbClr val="A19786"/>
                </a:solidFill>
                <a:latin typeface="Arial" pitchFamily="34" charset="0"/>
                <a:ea typeface="Arial" pitchFamily="34" charset="-122"/>
                <a:cs typeface="Arial" pitchFamily="34" charset="-120"/>
              </a:rPr>
              <a:t>25210289</a:t>
            </a:r>
            <a:endParaRPr lang="en-US" sz="1150" dirty="0"/>
          </a:p>
          <a:p>
            <a:pPr indent="0" marL="0">
              <a:lnSpc>
                <a:spcPts val="1600"/>
              </a:lnSpc>
              <a:buNone/>
            </a:pPr>
            <a:r>
              <a:rPr lang="en-US" sz="1150" dirty="0">
                <a:solidFill>
                  <a:srgbClr val="A19786"/>
                </a:solidFill>
                <a:latin typeface="Arial" pitchFamily="34" charset="0"/>
                <a:ea typeface="Arial" pitchFamily="34" charset="-122"/>
                <a:cs typeface="Arial" pitchFamily="34" charset="-120"/>
              </a:rPr>
              <a:t>25210334</a:t>
            </a:r>
            <a:endParaRPr lang="en-US" sz="1150" dirty="0"/>
          </a:p>
          <a:p>
            <a:pPr indent="0" marL="0">
              <a:lnSpc>
                <a:spcPts val="1600"/>
              </a:lnSpc>
              <a:buNone/>
            </a:pPr>
            <a:r>
              <a:rPr lang="en-US" sz="1150" dirty="0">
                <a:solidFill>
                  <a:srgbClr val="A19786"/>
                </a:solidFill>
                <a:latin typeface="Arial" pitchFamily="34" charset="0"/>
                <a:ea typeface="Arial" pitchFamily="34" charset="-122"/>
                <a:cs typeface="Arial" pitchFamily="34" charset="-120"/>
              </a:rPr>
              <a:t>25210337</a:t>
            </a:r>
            <a:endParaRPr lang="en-US" sz="1150" dirty="0"/>
          </a:p>
          <a:p>
            <a:pPr indent="0" marL="0">
              <a:lnSpc>
                <a:spcPts val="1600"/>
              </a:lnSpc>
              <a:buNone/>
            </a:pPr>
            <a:r>
              <a:rPr lang="en-US" sz="1150" dirty="0">
                <a:solidFill>
                  <a:srgbClr val="A19786"/>
                </a:solidFill>
                <a:latin typeface="Arial" pitchFamily="34" charset="0"/>
                <a:ea typeface="Arial" pitchFamily="34" charset="-122"/>
                <a:cs typeface="Arial" pitchFamily="34" charset="-120"/>
              </a:rPr>
              <a:t>25210342</a:t>
            </a:r>
            <a:endParaRPr lang="en-US" sz="1150" dirty="0"/>
          </a:p>
          <a:p>
            <a:pPr indent="0" marL="0">
              <a:lnSpc>
                <a:spcPts val="1600"/>
              </a:lnSpc>
              <a:buNone/>
            </a:pPr>
            <a:r>
              <a:rPr lang="en-US" sz="1150" dirty="0">
                <a:solidFill>
                  <a:srgbClr val="A19786"/>
                </a:solidFill>
                <a:latin typeface="Arial" pitchFamily="34" charset="0"/>
                <a:ea typeface="Arial" pitchFamily="34" charset="-122"/>
                <a:cs typeface="Arial" pitchFamily="34" charset="-120"/>
              </a:rPr>
              <a:t>26410135</a:t>
            </a:r>
            <a:endParaRPr lang="en-US" sz="1150" dirty="0"/>
          </a:p>
          <a:p>
            <a:pPr indent="0" marL="0">
              <a:lnSpc>
                <a:spcPts val="1600"/>
              </a:lnSpc>
              <a:buNone/>
            </a:pPr>
            <a:r>
              <a:rPr lang="en-US" sz="1150" dirty="0">
                <a:solidFill>
                  <a:srgbClr val="A19786"/>
                </a:solidFill>
                <a:latin typeface="Arial" pitchFamily="34" charset="0"/>
                <a:ea typeface="Arial" pitchFamily="34" charset="-122"/>
                <a:cs typeface="Arial" pitchFamily="34" charset="-120"/>
              </a:rPr>
              <a:t>26410108</a:t>
            </a:r>
            <a:endParaRPr lang="en-US" sz="1150" dirty="0"/>
          </a:p>
          <a:p>
            <a:pPr indent="0" marL="0">
              <a:lnSpc>
                <a:spcPts val="1600"/>
              </a:lnSpc>
              <a:buNone/>
            </a:pPr>
            <a:r>
              <a:rPr lang="en-US" sz="1150" dirty="0">
                <a:solidFill>
                  <a:srgbClr val="A19786"/>
                </a:solidFill>
                <a:latin typeface="Arial" pitchFamily="34" charset="0"/>
                <a:ea typeface="Arial" pitchFamily="34" charset="-122"/>
                <a:cs typeface="Arial" pitchFamily="34" charset="-120"/>
              </a:rPr>
              <a:t>26410043</a:t>
            </a:r>
            <a:endParaRPr lang="en-US" sz="1150" dirty="0"/>
          </a:p>
        </p:txBody>
      </p:sp>
      <p:sp>
        <p:nvSpPr>
          <p:cNvPr id="13" name="Text 11"/>
          <p:cNvSpPr txBox="1"/>
          <p:nvPr/>
        </p:nvSpPr>
        <p:spPr>
          <a:xfrm>
            <a:off x="685800" y="6291072"/>
            <a:ext cx="5486400"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Thành phố Hồ Chí Minh, tháng 9 năm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NỘI DUNG</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Sáu phần</a:t>
            </a:r>
            <a:endParaRPr lang="en-US" sz="3000" dirty="0"/>
          </a:p>
        </p:txBody>
      </p:sp>
      <p:sp>
        <p:nvSpPr>
          <p:cNvPr id="4" name="Shape 2"/>
          <p:cNvSpPr/>
          <p:nvPr/>
        </p:nvSpPr>
        <p:spPr>
          <a:xfrm>
            <a:off x="685800" y="1591056"/>
            <a:ext cx="5282032" cy="1280160"/>
          </a:xfrm>
          <a:prstGeom prst="roundRect">
            <a:avLst>
              <a:gd name="adj" fmla="val 10000"/>
            </a:avLst>
          </a:prstGeom>
          <a:solidFill>
            <a:srgbClr val="FFF2EB"/>
          </a:solidFill>
          <a:ln w="12700">
            <a:solidFill>
              <a:srgbClr val="FFC6A5"/>
            </a:solidFill>
            <a:prstDash val="solid"/>
          </a:ln>
        </p:spPr>
      </p:sp>
      <p:sp>
        <p:nvSpPr>
          <p:cNvPr id="5" name="Shape 3"/>
          <p:cNvSpPr/>
          <p:nvPr/>
        </p:nvSpPr>
        <p:spPr>
          <a:xfrm>
            <a:off x="960120" y="1847088"/>
            <a:ext cx="475488" cy="475488"/>
          </a:xfrm>
          <a:prstGeom prst="ellipse">
            <a:avLst/>
          </a:prstGeom>
          <a:solidFill>
            <a:srgbClr val="C67139"/>
          </a:solidFill>
          <a:ln/>
        </p:spPr>
      </p:sp>
      <p:sp>
        <p:nvSpPr>
          <p:cNvPr id="6" name="Text 4"/>
          <p:cNvSpPr txBox="1"/>
          <p:nvPr/>
        </p:nvSpPr>
        <p:spPr>
          <a:xfrm>
            <a:off x="960120" y="1847088"/>
            <a:ext cx="475488" cy="475488"/>
          </a:xfrm>
          <a:prstGeom prst="rect">
            <a:avLst/>
          </a:prstGeom>
          <a:noFill/>
          <a:ln/>
        </p:spPr>
        <p:txBody>
          <a:bodyPr wrap="square" lIns="0" tIns="0" rIns="0" bIns="0" rtlCol="0" anchor="ctr"/>
          <a:lstStyle/>
          <a:p>
            <a:pPr algn="ctr" indent="0" marL="0">
              <a:buNone/>
            </a:pPr>
            <a:r>
              <a:rPr lang="en-US" sz="1600" b="1" dirty="0">
                <a:solidFill>
                  <a:srgbClr val="F5EAD8"/>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1600200" y="1828800"/>
            <a:ext cx="4221328" cy="310896"/>
          </a:xfrm>
          <a:prstGeom prst="rect">
            <a:avLst/>
          </a:prstGeom>
          <a:noFill/>
          <a:ln/>
        </p:spPr>
        <p:txBody>
          <a:bodyPr wrap="square" lIns="0" tIns="0" rIns="0" bIns="0" rtlCol="0" anchor="ctr"/>
          <a:lstStyle/>
          <a:p>
            <a:pPr indent="0" marL="0">
              <a:buNone/>
            </a:pPr>
            <a:r>
              <a:rPr lang="en-US" sz="1550" b="1" dirty="0">
                <a:solidFill>
                  <a:srgbClr val="201E1D"/>
                </a:solidFill>
                <a:latin typeface="Arial" pitchFamily="34" charset="0"/>
                <a:ea typeface="Arial" pitchFamily="34" charset="-122"/>
                <a:cs typeface="Arial" pitchFamily="34" charset="-120"/>
              </a:rPr>
              <a:t>Tổng quan</a:t>
            </a:r>
            <a:endParaRPr lang="en-US" sz="1550" dirty="0"/>
          </a:p>
        </p:txBody>
      </p:sp>
      <p:sp>
        <p:nvSpPr>
          <p:cNvPr id="8" name="Text 6"/>
          <p:cNvSpPr txBox="1"/>
          <p:nvPr/>
        </p:nvSpPr>
        <p:spPr>
          <a:xfrm>
            <a:off x="1600200" y="2167128"/>
            <a:ext cx="4221328" cy="54864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Bối cảnh · phát biểu bài toán Input → Output · đóng góp</a:t>
            </a:r>
            <a:endParaRPr lang="en-US" sz="1150" dirty="0"/>
          </a:p>
        </p:txBody>
      </p:sp>
      <p:sp>
        <p:nvSpPr>
          <p:cNvPr id="9" name="Shape 7"/>
          <p:cNvSpPr/>
          <p:nvPr/>
        </p:nvSpPr>
        <p:spPr>
          <a:xfrm>
            <a:off x="6223864" y="1591056"/>
            <a:ext cx="5282032" cy="1280160"/>
          </a:xfrm>
          <a:prstGeom prst="roundRect">
            <a:avLst>
              <a:gd name="adj" fmla="val 10000"/>
            </a:avLst>
          </a:prstGeom>
          <a:solidFill>
            <a:srgbClr val="FFF2EB"/>
          </a:solidFill>
          <a:ln w="12700">
            <a:solidFill>
              <a:srgbClr val="FFC6A5"/>
            </a:solidFill>
            <a:prstDash val="solid"/>
          </a:ln>
        </p:spPr>
      </p:sp>
      <p:sp>
        <p:nvSpPr>
          <p:cNvPr id="10" name="Shape 8"/>
          <p:cNvSpPr/>
          <p:nvPr/>
        </p:nvSpPr>
        <p:spPr>
          <a:xfrm>
            <a:off x="6498184" y="1847088"/>
            <a:ext cx="475488" cy="475488"/>
          </a:xfrm>
          <a:prstGeom prst="ellipse">
            <a:avLst/>
          </a:prstGeom>
          <a:solidFill>
            <a:srgbClr val="C67139"/>
          </a:solidFill>
          <a:ln/>
        </p:spPr>
      </p:sp>
      <p:sp>
        <p:nvSpPr>
          <p:cNvPr id="11" name="Text 9"/>
          <p:cNvSpPr txBox="1"/>
          <p:nvPr/>
        </p:nvSpPr>
        <p:spPr>
          <a:xfrm>
            <a:off x="6498184" y="1847088"/>
            <a:ext cx="475488" cy="475488"/>
          </a:xfrm>
          <a:prstGeom prst="rect">
            <a:avLst/>
          </a:prstGeom>
          <a:noFill/>
          <a:ln/>
        </p:spPr>
        <p:txBody>
          <a:bodyPr wrap="square" lIns="0" tIns="0" rIns="0" bIns="0" rtlCol="0" anchor="ctr"/>
          <a:lstStyle/>
          <a:p>
            <a:pPr algn="ctr" indent="0" marL="0">
              <a:buNone/>
            </a:pPr>
            <a:r>
              <a:rPr lang="en-US" sz="1600" b="1" dirty="0">
                <a:solidFill>
                  <a:srgbClr val="F5EAD8"/>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7138264" y="1828800"/>
            <a:ext cx="4221328" cy="310896"/>
          </a:xfrm>
          <a:prstGeom prst="rect">
            <a:avLst/>
          </a:prstGeom>
          <a:noFill/>
          <a:ln/>
        </p:spPr>
        <p:txBody>
          <a:bodyPr wrap="square" lIns="0" tIns="0" rIns="0" bIns="0" rtlCol="0" anchor="ctr"/>
          <a:lstStyle/>
          <a:p>
            <a:pPr indent="0" marL="0">
              <a:buNone/>
            </a:pPr>
            <a:r>
              <a:rPr lang="en-US" sz="1550" b="1" dirty="0">
                <a:solidFill>
                  <a:srgbClr val="201E1D"/>
                </a:solidFill>
                <a:latin typeface="Arial" pitchFamily="34" charset="0"/>
                <a:ea typeface="Arial" pitchFamily="34" charset="-122"/>
                <a:cs typeface="Arial" pitchFamily="34" charset="-120"/>
              </a:rPr>
              <a:t>Các công trình liên quan</a:t>
            </a:r>
            <a:endParaRPr lang="en-US" sz="1550" dirty="0"/>
          </a:p>
        </p:txBody>
      </p:sp>
      <p:sp>
        <p:nvSpPr>
          <p:cNvPr id="13" name="Text 11"/>
          <p:cNvSpPr txBox="1"/>
          <p:nvPr/>
        </p:nvSpPr>
        <p:spPr>
          <a:xfrm>
            <a:off x="7138264" y="2167128"/>
            <a:ext cx="4221328" cy="54864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Bốn hướng tiếp cận · bộ dữ liệu đã có · khoảng trống</a:t>
            </a:r>
            <a:endParaRPr lang="en-US" sz="1150" dirty="0"/>
          </a:p>
        </p:txBody>
      </p:sp>
      <p:sp>
        <p:nvSpPr>
          <p:cNvPr id="14" name="Shape 12"/>
          <p:cNvSpPr/>
          <p:nvPr/>
        </p:nvSpPr>
        <p:spPr>
          <a:xfrm>
            <a:off x="685800" y="3072384"/>
            <a:ext cx="5282032" cy="1280160"/>
          </a:xfrm>
          <a:prstGeom prst="roundRect">
            <a:avLst>
              <a:gd name="adj" fmla="val 10000"/>
            </a:avLst>
          </a:prstGeom>
          <a:solidFill>
            <a:srgbClr val="FFF2EB"/>
          </a:solidFill>
          <a:ln w="12700">
            <a:solidFill>
              <a:srgbClr val="FFC6A5"/>
            </a:solidFill>
            <a:prstDash val="solid"/>
          </a:ln>
        </p:spPr>
      </p:sp>
      <p:sp>
        <p:nvSpPr>
          <p:cNvPr id="15" name="Shape 13"/>
          <p:cNvSpPr/>
          <p:nvPr/>
        </p:nvSpPr>
        <p:spPr>
          <a:xfrm>
            <a:off x="960120" y="3328416"/>
            <a:ext cx="475488" cy="475488"/>
          </a:xfrm>
          <a:prstGeom prst="ellipse">
            <a:avLst/>
          </a:prstGeom>
          <a:solidFill>
            <a:srgbClr val="C67139"/>
          </a:solidFill>
          <a:ln/>
        </p:spPr>
      </p:sp>
      <p:sp>
        <p:nvSpPr>
          <p:cNvPr id="16" name="Text 14"/>
          <p:cNvSpPr txBox="1"/>
          <p:nvPr/>
        </p:nvSpPr>
        <p:spPr>
          <a:xfrm>
            <a:off x="960120" y="3328416"/>
            <a:ext cx="475488" cy="475488"/>
          </a:xfrm>
          <a:prstGeom prst="rect">
            <a:avLst/>
          </a:prstGeom>
          <a:noFill/>
          <a:ln/>
        </p:spPr>
        <p:txBody>
          <a:bodyPr wrap="square" lIns="0" tIns="0" rIns="0" bIns="0" rtlCol="0" anchor="ctr"/>
          <a:lstStyle/>
          <a:p>
            <a:pPr algn="ctr" indent="0" marL="0">
              <a:buNone/>
            </a:pPr>
            <a:r>
              <a:rPr lang="en-US" sz="1600" b="1" dirty="0">
                <a:solidFill>
                  <a:srgbClr val="F5EAD8"/>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1600200" y="3310128"/>
            <a:ext cx="4221328" cy="310896"/>
          </a:xfrm>
          <a:prstGeom prst="rect">
            <a:avLst/>
          </a:prstGeom>
          <a:noFill/>
          <a:ln/>
        </p:spPr>
        <p:txBody>
          <a:bodyPr wrap="square" lIns="0" tIns="0" rIns="0" bIns="0" rtlCol="0" anchor="ctr"/>
          <a:lstStyle/>
          <a:p>
            <a:pPr indent="0" marL="0">
              <a:buNone/>
            </a:pPr>
            <a:r>
              <a:rPr lang="en-US" sz="1550" b="1" dirty="0">
                <a:solidFill>
                  <a:srgbClr val="201E1D"/>
                </a:solidFill>
                <a:latin typeface="Arial" pitchFamily="34" charset="0"/>
                <a:ea typeface="Arial" pitchFamily="34" charset="-122"/>
                <a:cs typeface="Arial" pitchFamily="34" charset="-120"/>
              </a:rPr>
              <a:t>Xây dựng dữ liệu</a:t>
            </a:r>
            <a:endParaRPr lang="en-US" sz="1550" dirty="0"/>
          </a:p>
        </p:txBody>
      </p:sp>
      <p:sp>
        <p:nvSpPr>
          <p:cNvPr id="18" name="Text 16"/>
          <p:cNvSpPr txBox="1"/>
          <p:nvPr/>
        </p:nvSpPr>
        <p:spPr>
          <a:xfrm>
            <a:off x="1600200" y="3648456"/>
            <a:ext cx="4221328" cy="54864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Nguồn và cách lấy · thống kê phân bố độ dài, nhãn, chủ đề</a:t>
            </a:r>
            <a:endParaRPr lang="en-US" sz="1150" dirty="0"/>
          </a:p>
        </p:txBody>
      </p:sp>
      <p:sp>
        <p:nvSpPr>
          <p:cNvPr id="19" name="Shape 17"/>
          <p:cNvSpPr/>
          <p:nvPr/>
        </p:nvSpPr>
        <p:spPr>
          <a:xfrm>
            <a:off x="6223864" y="3072384"/>
            <a:ext cx="5282032" cy="1280160"/>
          </a:xfrm>
          <a:prstGeom prst="roundRect">
            <a:avLst>
              <a:gd name="adj" fmla="val 10000"/>
            </a:avLst>
          </a:prstGeom>
          <a:solidFill>
            <a:srgbClr val="F0FAE1"/>
          </a:solidFill>
          <a:ln w="12700">
            <a:solidFill>
              <a:srgbClr val="CCDBB2"/>
            </a:solidFill>
            <a:prstDash val="solid"/>
          </a:ln>
        </p:spPr>
      </p:sp>
      <p:sp>
        <p:nvSpPr>
          <p:cNvPr id="20" name="Shape 18"/>
          <p:cNvSpPr/>
          <p:nvPr/>
        </p:nvSpPr>
        <p:spPr>
          <a:xfrm>
            <a:off x="6498184" y="3328416"/>
            <a:ext cx="475488" cy="475488"/>
          </a:xfrm>
          <a:prstGeom prst="ellipse">
            <a:avLst/>
          </a:prstGeom>
          <a:solidFill>
            <a:srgbClr val="7A8A5E"/>
          </a:solidFill>
          <a:ln/>
        </p:spPr>
      </p:sp>
      <p:sp>
        <p:nvSpPr>
          <p:cNvPr id="21" name="Text 19"/>
          <p:cNvSpPr txBox="1"/>
          <p:nvPr/>
        </p:nvSpPr>
        <p:spPr>
          <a:xfrm>
            <a:off x="6498184" y="3328416"/>
            <a:ext cx="475488" cy="475488"/>
          </a:xfrm>
          <a:prstGeom prst="rect">
            <a:avLst/>
          </a:prstGeom>
          <a:noFill/>
          <a:ln/>
        </p:spPr>
        <p:txBody>
          <a:bodyPr wrap="square" lIns="0" tIns="0" rIns="0" bIns="0" rtlCol="0" anchor="ctr"/>
          <a:lstStyle/>
          <a:p>
            <a:pPr algn="ctr" indent="0" marL="0">
              <a:buNone/>
            </a:pPr>
            <a:r>
              <a:rPr lang="en-US" sz="1600" b="1" dirty="0">
                <a:solidFill>
                  <a:srgbClr val="F5EAD8"/>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7138264" y="3310128"/>
            <a:ext cx="4221328" cy="310896"/>
          </a:xfrm>
          <a:prstGeom prst="rect">
            <a:avLst/>
          </a:prstGeom>
          <a:noFill/>
          <a:ln/>
        </p:spPr>
        <p:txBody>
          <a:bodyPr wrap="square" lIns="0" tIns="0" rIns="0" bIns="0" rtlCol="0" anchor="ctr"/>
          <a:lstStyle/>
          <a:p>
            <a:pPr indent="0" marL="0">
              <a:buNone/>
            </a:pPr>
            <a:r>
              <a:rPr lang="en-US" sz="1550" b="1" dirty="0">
                <a:solidFill>
                  <a:srgbClr val="201E1D"/>
                </a:solidFill>
                <a:latin typeface="Arial" pitchFamily="34" charset="0"/>
                <a:ea typeface="Arial" pitchFamily="34" charset="-122"/>
                <a:cs typeface="Arial" pitchFamily="34" charset="-120"/>
              </a:rPr>
              <a:t>Phương pháp và thực nghiệm</a:t>
            </a:r>
            <a:endParaRPr lang="en-US" sz="1550" dirty="0"/>
          </a:p>
        </p:txBody>
      </p:sp>
      <p:sp>
        <p:nvSpPr>
          <p:cNvPr id="23" name="Text 21"/>
          <p:cNvSpPr txBox="1"/>
          <p:nvPr/>
        </p:nvSpPr>
        <p:spPr>
          <a:xfrm>
            <a:off x="7138264" y="3648456"/>
            <a:ext cx="4221328" cy="54864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Kiến trúc · thuật giải B1–B6 · hàm điểm · siêu tham số</a:t>
            </a:r>
            <a:endParaRPr lang="en-US" sz="1150" dirty="0"/>
          </a:p>
        </p:txBody>
      </p:sp>
      <p:sp>
        <p:nvSpPr>
          <p:cNvPr id="24" name="Shape 22"/>
          <p:cNvSpPr/>
          <p:nvPr/>
        </p:nvSpPr>
        <p:spPr>
          <a:xfrm>
            <a:off x="685800" y="4553712"/>
            <a:ext cx="5282032" cy="1280160"/>
          </a:xfrm>
          <a:prstGeom prst="roundRect">
            <a:avLst>
              <a:gd name="adj" fmla="val 10000"/>
            </a:avLst>
          </a:prstGeom>
          <a:solidFill>
            <a:srgbClr val="F0FAE1"/>
          </a:solidFill>
          <a:ln w="12700">
            <a:solidFill>
              <a:srgbClr val="CCDBB2"/>
            </a:solidFill>
            <a:prstDash val="solid"/>
          </a:ln>
        </p:spPr>
      </p:sp>
      <p:sp>
        <p:nvSpPr>
          <p:cNvPr id="25" name="Shape 23"/>
          <p:cNvSpPr/>
          <p:nvPr/>
        </p:nvSpPr>
        <p:spPr>
          <a:xfrm>
            <a:off x="960120" y="4809744"/>
            <a:ext cx="475488" cy="475488"/>
          </a:xfrm>
          <a:prstGeom prst="ellipse">
            <a:avLst/>
          </a:prstGeom>
          <a:solidFill>
            <a:srgbClr val="7A8A5E"/>
          </a:solidFill>
          <a:ln/>
        </p:spPr>
      </p:sp>
      <p:sp>
        <p:nvSpPr>
          <p:cNvPr id="26" name="Text 24"/>
          <p:cNvSpPr txBox="1"/>
          <p:nvPr/>
        </p:nvSpPr>
        <p:spPr>
          <a:xfrm>
            <a:off x="960120" y="4809744"/>
            <a:ext cx="475488" cy="475488"/>
          </a:xfrm>
          <a:prstGeom prst="rect">
            <a:avLst/>
          </a:prstGeom>
          <a:noFill/>
          <a:ln/>
        </p:spPr>
        <p:txBody>
          <a:bodyPr wrap="square" lIns="0" tIns="0" rIns="0" bIns="0" rtlCol="0" anchor="ctr"/>
          <a:lstStyle/>
          <a:p>
            <a:pPr algn="ctr" indent="0" marL="0">
              <a:buNone/>
            </a:pPr>
            <a:r>
              <a:rPr lang="en-US" sz="1600" b="1" dirty="0">
                <a:solidFill>
                  <a:srgbClr val="F5EAD8"/>
                </a:solidFill>
                <a:latin typeface="Arial" pitchFamily="34" charset="0"/>
                <a:ea typeface="Arial" pitchFamily="34" charset="-122"/>
                <a:cs typeface="Arial" pitchFamily="34" charset="-120"/>
              </a:rPr>
              <a:t>5</a:t>
            </a:r>
            <a:endParaRPr lang="en-US" sz="1600" dirty="0"/>
          </a:p>
        </p:txBody>
      </p:sp>
      <p:sp>
        <p:nvSpPr>
          <p:cNvPr id="27" name="Text 25"/>
          <p:cNvSpPr txBox="1"/>
          <p:nvPr/>
        </p:nvSpPr>
        <p:spPr>
          <a:xfrm>
            <a:off x="1600200" y="4791456"/>
            <a:ext cx="4221328" cy="310896"/>
          </a:xfrm>
          <a:prstGeom prst="rect">
            <a:avLst/>
          </a:prstGeom>
          <a:noFill/>
          <a:ln/>
        </p:spPr>
        <p:txBody>
          <a:bodyPr wrap="square" lIns="0" tIns="0" rIns="0" bIns="0" rtlCol="0" anchor="ctr"/>
          <a:lstStyle/>
          <a:p>
            <a:pPr indent="0" marL="0">
              <a:buNone/>
            </a:pPr>
            <a:r>
              <a:rPr lang="en-US" sz="1550" b="1" dirty="0">
                <a:solidFill>
                  <a:srgbClr val="201E1D"/>
                </a:solidFill>
                <a:latin typeface="Arial" pitchFamily="34" charset="0"/>
                <a:ea typeface="Arial" pitchFamily="34" charset="-122"/>
                <a:cs typeface="Arial" pitchFamily="34" charset="-120"/>
              </a:rPr>
              <a:t>Kết quả và phân tích</a:t>
            </a:r>
            <a:endParaRPr lang="en-US" sz="1550" dirty="0"/>
          </a:p>
        </p:txBody>
      </p:sp>
      <p:sp>
        <p:nvSpPr>
          <p:cNvPr id="28" name="Text 26"/>
          <p:cNvSpPr txBox="1"/>
          <p:nvPr/>
        </p:nvSpPr>
        <p:spPr>
          <a:xfrm>
            <a:off x="1600200" y="5129784"/>
            <a:ext cx="4221328" cy="54864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Chỉ số + kiểm định thống kê · ablation · phân tích lỗi sâu</a:t>
            </a:r>
            <a:endParaRPr lang="en-US" sz="1150" dirty="0"/>
          </a:p>
        </p:txBody>
      </p:sp>
      <p:sp>
        <p:nvSpPr>
          <p:cNvPr id="29" name="Shape 27"/>
          <p:cNvSpPr/>
          <p:nvPr/>
        </p:nvSpPr>
        <p:spPr>
          <a:xfrm>
            <a:off x="6223864" y="4553712"/>
            <a:ext cx="5282032" cy="1280160"/>
          </a:xfrm>
          <a:prstGeom prst="roundRect">
            <a:avLst>
              <a:gd name="adj" fmla="val 10000"/>
            </a:avLst>
          </a:prstGeom>
          <a:solidFill>
            <a:srgbClr val="F0FAE1"/>
          </a:solidFill>
          <a:ln w="12700">
            <a:solidFill>
              <a:srgbClr val="CCDBB2"/>
            </a:solidFill>
            <a:prstDash val="solid"/>
          </a:ln>
        </p:spPr>
      </p:sp>
      <p:sp>
        <p:nvSpPr>
          <p:cNvPr id="30" name="Shape 28"/>
          <p:cNvSpPr/>
          <p:nvPr/>
        </p:nvSpPr>
        <p:spPr>
          <a:xfrm>
            <a:off x="6498184" y="4809744"/>
            <a:ext cx="475488" cy="475488"/>
          </a:xfrm>
          <a:prstGeom prst="ellipse">
            <a:avLst/>
          </a:prstGeom>
          <a:solidFill>
            <a:srgbClr val="7A8A5E"/>
          </a:solidFill>
          <a:ln/>
        </p:spPr>
      </p:sp>
      <p:sp>
        <p:nvSpPr>
          <p:cNvPr id="31" name="Text 29"/>
          <p:cNvSpPr txBox="1"/>
          <p:nvPr/>
        </p:nvSpPr>
        <p:spPr>
          <a:xfrm>
            <a:off x="6498184" y="4809744"/>
            <a:ext cx="475488" cy="475488"/>
          </a:xfrm>
          <a:prstGeom prst="rect">
            <a:avLst/>
          </a:prstGeom>
          <a:noFill/>
          <a:ln/>
        </p:spPr>
        <p:txBody>
          <a:bodyPr wrap="square" lIns="0" tIns="0" rIns="0" bIns="0" rtlCol="0" anchor="ctr"/>
          <a:lstStyle/>
          <a:p>
            <a:pPr algn="ctr" indent="0" marL="0">
              <a:buNone/>
            </a:pPr>
            <a:r>
              <a:rPr lang="en-US" sz="1600" b="1" dirty="0">
                <a:solidFill>
                  <a:srgbClr val="F5EAD8"/>
                </a:solidFill>
                <a:latin typeface="Arial" pitchFamily="34" charset="0"/>
                <a:ea typeface="Arial" pitchFamily="34" charset="-122"/>
                <a:cs typeface="Arial" pitchFamily="34" charset="-120"/>
              </a:rPr>
              <a:t>6</a:t>
            </a:r>
            <a:endParaRPr lang="en-US" sz="1600" dirty="0"/>
          </a:p>
        </p:txBody>
      </p:sp>
      <p:sp>
        <p:nvSpPr>
          <p:cNvPr id="32" name="Text 30"/>
          <p:cNvSpPr txBox="1"/>
          <p:nvPr/>
        </p:nvSpPr>
        <p:spPr>
          <a:xfrm>
            <a:off x="7138264" y="4791456"/>
            <a:ext cx="4221328" cy="310896"/>
          </a:xfrm>
          <a:prstGeom prst="rect">
            <a:avLst/>
          </a:prstGeom>
          <a:noFill/>
          <a:ln/>
        </p:spPr>
        <p:txBody>
          <a:bodyPr wrap="square" lIns="0" tIns="0" rIns="0" bIns="0" rtlCol="0" anchor="ctr"/>
          <a:lstStyle/>
          <a:p>
            <a:pPr indent="0" marL="0">
              <a:buNone/>
            </a:pPr>
            <a:r>
              <a:rPr lang="en-US" sz="1550" b="1" dirty="0">
                <a:solidFill>
                  <a:srgbClr val="201E1D"/>
                </a:solidFill>
                <a:latin typeface="Arial" pitchFamily="34" charset="0"/>
                <a:ea typeface="Arial" pitchFamily="34" charset="-122"/>
                <a:cs typeface="Arial" pitchFamily="34" charset="-120"/>
              </a:rPr>
              <a:t>Ứng dụng, kết luận, hướng phát triển</a:t>
            </a:r>
            <a:endParaRPr lang="en-US" sz="1550" dirty="0"/>
          </a:p>
        </p:txBody>
      </p:sp>
      <p:sp>
        <p:nvSpPr>
          <p:cNvPr id="33" name="Text 31"/>
          <p:cNvSpPr txBox="1"/>
          <p:nvPr/>
        </p:nvSpPr>
        <p:spPr>
          <a:xfrm>
            <a:off x="7138264" y="5129784"/>
            <a:ext cx="4221328" cy="54864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Demo · hạn chế đã đo · việc còn lại</a:t>
            </a:r>
            <a:endParaRPr lang="en-US" sz="1150" dirty="0"/>
          </a:p>
        </p:txBody>
      </p:sp>
      <p:sp>
        <p:nvSpPr>
          <p:cNvPr id="34" name="Text 32"/>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Đề tài 4 · Hệ thống tra cứu kiến thức pháp luật giao thông đường bộ</a:t>
            </a:r>
            <a:endParaRPr lang="en-US" sz="1000" dirty="0"/>
          </a:p>
        </p:txBody>
      </p:sp>
      <p:sp>
        <p:nvSpPr>
          <p:cNvPr id="35" name="Text 33"/>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1 · TỔNG QUAN</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Luật thì có, câu trả lời thì không</a:t>
            </a:r>
            <a:endParaRPr lang="en-US" sz="3000" dirty="0"/>
          </a:p>
        </p:txBody>
      </p:sp>
      <p:sp>
        <p:nvSpPr>
          <p:cNvPr id="4" name="Shape 2"/>
          <p:cNvSpPr/>
          <p:nvPr/>
        </p:nvSpPr>
        <p:spPr>
          <a:xfrm>
            <a:off x="685800" y="1572768"/>
            <a:ext cx="3465576" cy="2011680"/>
          </a:xfrm>
          <a:prstGeom prst="roundRect">
            <a:avLst>
              <a:gd name="adj" fmla="val 6364"/>
            </a:avLst>
          </a:prstGeom>
          <a:solidFill>
            <a:srgbClr val="F9F4ED"/>
          </a:solidFill>
          <a:ln w="12700">
            <a:solidFill>
              <a:srgbClr val="DCD3C4"/>
            </a:solidFill>
            <a:prstDash val="solid"/>
          </a:ln>
        </p:spPr>
      </p:sp>
      <p:sp>
        <p:nvSpPr>
          <p:cNvPr id="5" name="Shape 3"/>
          <p:cNvSpPr/>
          <p:nvPr/>
        </p:nvSpPr>
        <p:spPr>
          <a:xfrm>
            <a:off x="978408" y="1865376"/>
            <a:ext cx="420624" cy="420624"/>
          </a:xfrm>
          <a:prstGeom prst="ellipse">
            <a:avLst/>
          </a:prstGeom>
          <a:solidFill>
            <a:srgbClr val="C67139"/>
          </a:solidFill>
          <a:ln/>
        </p:spPr>
      </p:sp>
      <p:sp>
        <p:nvSpPr>
          <p:cNvPr id="6" name="Text 4"/>
          <p:cNvSpPr txBox="1"/>
          <p:nvPr/>
        </p:nvSpPr>
        <p:spPr>
          <a:xfrm>
            <a:off x="978408" y="1865376"/>
            <a:ext cx="420624" cy="420624"/>
          </a:xfrm>
          <a:prstGeom prst="rect">
            <a:avLst/>
          </a:prstGeom>
          <a:noFill/>
          <a:ln/>
        </p:spPr>
        <p:txBody>
          <a:bodyPr wrap="square" lIns="0" tIns="0" rIns="0" bIns="0" rtlCol="0" anchor="ctr"/>
          <a:lstStyle/>
          <a:p>
            <a:pPr algn="ctr" indent="0" marL="0">
              <a:buNone/>
            </a:pPr>
            <a:r>
              <a:rPr lang="en-US" sz="1400" b="1" dirty="0">
                <a:solidFill>
                  <a:srgbClr val="F5EAD8"/>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978408" y="2414016"/>
            <a:ext cx="2880360" cy="310896"/>
          </a:xfrm>
          <a:prstGeom prst="rect">
            <a:avLst/>
          </a:prstGeom>
          <a:noFill/>
          <a:ln/>
        </p:spPr>
        <p:txBody>
          <a:bodyPr wrap="square" lIns="0" tIns="0" rIns="0" bIns="0" rtlCol="0" anchor="ctr"/>
          <a:lstStyle/>
          <a:p>
            <a:pPr indent="0" marL="0">
              <a:buNone/>
            </a:pPr>
            <a:r>
              <a:rPr lang="en-US" sz="1500" b="1" dirty="0">
                <a:solidFill>
                  <a:srgbClr val="201E1D"/>
                </a:solidFill>
                <a:latin typeface="Arial" pitchFamily="34" charset="0"/>
                <a:ea typeface="Arial" pitchFamily="34" charset="-122"/>
                <a:cs typeface="Arial" pitchFamily="34" charset="-120"/>
              </a:rPr>
              <a:t>Hành vi nằm ở Luật</a:t>
            </a:r>
            <a:endParaRPr lang="en-US" sz="1500" dirty="0"/>
          </a:p>
        </p:txBody>
      </p:sp>
      <p:sp>
        <p:nvSpPr>
          <p:cNvPr id="8" name="Text 6"/>
          <p:cNvSpPr txBox="1"/>
          <p:nvPr/>
        </p:nvSpPr>
        <p:spPr>
          <a:xfrm>
            <a:off x="978408" y="2743200"/>
            <a:ext cx="2880360" cy="73152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Luật 36/2024/QH15 quy định hành vi nào bị nghiêm cấm — nhưng không hề nói phạt bao nhiêu.</a:t>
            </a:r>
            <a:endParaRPr lang="en-US" sz="1150" dirty="0"/>
          </a:p>
        </p:txBody>
      </p:sp>
      <p:sp>
        <p:nvSpPr>
          <p:cNvPr id="9" name="Shape 7"/>
          <p:cNvSpPr/>
          <p:nvPr/>
        </p:nvSpPr>
        <p:spPr>
          <a:xfrm>
            <a:off x="4361688" y="1572768"/>
            <a:ext cx="3465576" cy="2011680"/>
          </a:xfrm>
          <a:prstGeom prst="roundRect">
            <a:avLst>
              <a:gd name="adj" fmla="val 6364"/>
            </a:avLst>
          </a:prstGeom>
          <a:solidFill>
            <a:srgbClr val="F9F4ED"/>
          </a:solidFill>
          <a:ln w="12700">
            <a:solidFill>
              <a:srgbClr val="DCD3C4"/>
            </a:solidFill>
            <a:prstDash val="solid"/>
          </a:ln>
        </p:spPr>
      </p:sp>
      <p:sp>
        <p:nvSpPr>
          <p:cNvPr id="10" name="Shape 8"/>
          <p:cNvSpPr/>
          <p:nvPr/>
        </p:nvSpPr>
        <p:spPr>
          <a:xfrm>
            <a:off x="4654296" y="1865376"/>
            <a:ext cx="420624" cy="420624"/>
          </a:xfrm>
          <a:prstGeom prst="ellipse">
            <a:avLst/>
          </a:prstGeom>
          <a:solidFill>
            <a:srgbClr val="C67139"/>
          </a:solidFill>
          <a:ln/>
        </p:spPr>
      </p:sp>
      <p:sp>
        <p:nvSpPr>
          <p:cNvPr id="11" name="Text 9"/>
          <p:cNvSpPr txBox="1"/>
          <p:nvPr/>
        </p:nvSpPr>
        <p:spPr>
          <a:xfrm>
            <a:off x="4654296" y="1865376"/>
            <a:ext cx="420624" cy="420624"/>
          </a:xfrm>
          <a:prstGeom prst="rect">
            <a:avLst/>
          </a:prstGeom>
          <a:noFill/>
          <a:ln/>
        </p:spPr>
        <p:txBody>
          <a:bodyPr wrap="square" lIns="0" tIns="0" rIns="0" bIns="0" rtlCol="0" anchor="ctr"/>
          <a:lstStyle/>
          <a:p>
            <a:pPr algn="ctr" indent="0" marL="0">
              <a:buNone/>
            </a:pPr>
            <a:r>
              <a:rPr lang="en-US" sz="1400" b="1" dirty="0">
                <a:solidFill>
                  <a:srgbClr val="F5EAD8"/>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654296" y="2414016"/>
            <a:ext cx="2880360" cy="310896"/>
          </a:xfrm>
          <a:prstGeom prst="rect">
            <a:avLst/>
          </a:prstGeom>
          <a:noFill/>
          <a:ln/>
        </p:spPr>
        <p:txBody>
          <a:bodyPr wrap="square" lIns="0" tIns="0" rIns="0" bIns="0" rtlCol="0" anchor="ctr"/>
          <a:lstStyle/>
          <a:p>
            <a:pPr indent="0" marL="0">
              <a:buNone/>
            </a:pPr>
            <a:r>
              <a:rPr lang="en-US" sz="1500" b="1" dirty="0">
                <a:solidFill>
                  <a:srgbClr val="201E1D"/>
                </a:solidFill>
                <a:latin typeface="Arial" pitchFamily="34" charset="0"/>
                <a:ea typeface="Arial" pitchFamily="34" charset="-122"/>
                <a:cs typeface="Arial" pitchFamily="34" charset="-120"/>
              </a:rPr>
              <a:t>Mức phạt nằm ở Nghị định</a:t>
            </a:r>
            <a:endParaRPr lang="en-US" sz="1500" dirty="0"/>
          </a:p>
        </p:txBody>
      </p:sp>
      <p:sp>
        <p:nvSpPr>
          <p:cNvPr id="13" name="Text 11"/>
          <p:cNvSpPr txBox="1"/>
          <p:nvPr/>
        </p:nvSpPr>
        <p:spPr>
          <a:xfrm>
            <a:off x="4654296" y="2743200"/>
            <a:ext cx="2880360" cy="73152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Toàn bộ chế tài — tiền phạt, trừ điểm GPLX — nằm ở Nghị định 168/2024/NĐ-CP.</a:t>
            </a:r>
            <a:endParaRPr lang="en-US" sz="1150" dirty="0"/>
          </a:p>
        </p:txBody>
      </p:sp>
      <p:sp>
        <p:nvSpPr>
          <p:cNvPr id="14" name="Shape 12"/>
          <p:cNvSpPr/>
          <p:nvPr/>
        </p:nvSpPr>
        <p:spPr>
          <a:xfrm>
            <a:off x="8037576" y="1572768"/>
            <a:ext cx="3465576" cy="2011680"/>
          </a:xfrm>
          <a:prstGeom prst="roundRect">
            <a:avLst>
              <a:gd name="adj" fmla="val 6364"/>
            </a:avLst>
          </a:prstGeom>
          <a:solidFill>
            <a:srgbClr val="F0FAE1"/>
          </a:solidFill>
          <a:ln w="12700">
            <a:solidFill>
              <a:srgbClr val="DCD3C4"/>
            </a:solidFill>
            <a:prstDash val="solid"/>
          </a:ln>
        </p:spPr>
      </p:sp>
      <p:sp>
        <p:nvSpPr>
          <p:cNvPr id="15" name="Shape 13"/>
          <p:cNvSpPr/>
          <p:nvPr/>
        </p:nvSpPr>
        <p:spPr>
          <a:xfrm>
            <a:off x="8330184" y="1865376"/>
            <a:ext cx="420624" cy="420624"/>
          </a:xfrm>
          <a:prstGeom prst="ellipse">
            <a:avLst/>
          </a:prstGeom>
          <a:solidFill>
            <a:srgbClr val="7A8A5E"/>
          </a:solidFill>
          <a:ln/>
        </p:spPr>
      </p:sp>
      <p:sp>
        <p:nvSpPr>
          <p:cNvPr id="16" name="Text 14"/>
          <p:cNvSpPr txBox="1"/>
          <p:nvPr/>
        </p:nvSpPr>
        <p:spPr>
          <a:xfrm>
            <a:off x="8330184" y="1865376"/>
            <a:ext cx="420624" cy="420624"/>
          </a:xfrm>
          <a:prstGeom prst="rect">
            <a:avLst/>
          </a:prstGeom>
          <a:noFill/>
          <a:ln/>
        </p:spPr>
        <p:txBody>
          <a:bodyPr wrap="square" lIns="0" tIns="0" rIns="0" bIns="0" rtlCol="0" anchor="ctr"/>
          <a:lstStyle/>
          <a:p>
            <a:pPr algn="ctr" indent="0" marL="0">
              <a:buNone/>
            </a:pPr>
            <a:r>
              <a:rPr lang="en-US" sz="1400" b="1" dirty="0">
                <a:solidFill>
                  <a:srgbClr val="F5EAD8"/>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30184" y="2414016"/>
            <a:ext cx="2880360" cy="310896"/>
          </a:xfrm>
          <a:prstGeom prst="rect">
            <a:avLst/>
          </a:prstGeom>
          <a:noFill/>
          <a:ln/>
        </p:spPr>
        <p:txBody>
          <a:bodyPr wrap="square" lIns="0" tIns="0" rIns="0" bIns="0" rtlCol="0" anchor="ctr"/>
          <a:lstStyle/>
          <a:p>
            <a:pPr indent="0" marL="0">
              <a:buNone/>
            </a:pPr>
            <a:r>
              <a:rPr lang="en-US" sz="1500" b="1" dirty="0">
                <a:solidFill>
                  <a:srgbClr val="56633F"/>
                </a:solidFill>
                <a:latin typeface="Arial" pitchFamily="34" charset="0"/>
                <a:ea typeface="Arial" pitchFamily="34" charset="-122"/>
                <a:cs typeface="Arial" pitchFamily="34" charset="-120"/>
              </a:rPr>
              <a:t>Và cả hai đều đã bị sửa</a:t>
            </a:r>
            <a:endParaRPr lang="en-US" sz="1500" dirty="0"/>
          </a:p>
        </p:txBody>
      </p:sp>
      <p:sp>
        <p:nvSpPr>
          <p:cNvPr id="18" name="Text 16"/>
          <p:cNvSpPr txBox="1"/>
          <p:nvPr/>
        </p:nvSpPr>
        <p:spPr>
          <a:xfrm>
            <a:off x="8330184" y="2743200"/>
            <a:ext cx="2880360" cy="731520"/>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Luật 118/2025 (01/7/2026) và NĐ 238/2026 (15/8/2026) sửa đổi cả hai văn bản trên.</a:t>
            </a:r>
            <a:endParaRPr lang="en-US" sz="1150" dirty="0"/>
          </a:p>
        </p:txBody>
      </p:sp>
      <p:sp>
        <p:nvSpPr>
          <p:cNvPr id="19" name="Shape 17"/>
          <p:cNvSpPr/>
          <p:nvPr/>
        </p:nvSpPr>
        <p:spPr>
          <a:xfrm>
            <a:off x="685800" y="3950208"/>
            <a:ext cx="10820095" cy="1371600"/>
          </a:xfrm>
          <a:prstGeom prst="roundRect">
            <a:avLst>
              <a:gd name="adj" fmla="val 9333"/>
            </a:avLst>
          </a:prstGeom>
          <a:solidFill>
            <a:srgbClr val="FFF2EB"/>
          </a:solidFill>
          <a:ln w="12700">
            <a:solidFill>
              <a:srgbClr val="FFC6A5"/>
            </a:solidFill>
            <a:prstDash val="solid"/>
          </a:ln>
        </p:spPr>
      </p:sp>
      <p:sp>
        <p:nvSpPr>
          <p:cNvPr id="20" name="Text 18"/>
          <p:cNvSpPr txBox="1"/>
          <p:nvPr/>
        </p:nvSpPr>
        <p:spPr>
          <a:xfrm>
            <a:off x="1069848" y="4151376"/>
            <a:ext cx="10051999" cy="402336"/>
          </a:xfrm>
          <a:prstGeom prst="rect">
            <a:avLst/>
          </a:prstGeom>
          <a:noFill/>
          <a:ln/>
        </p:spPr>
        <p:txBody>
          <a:bodyPr wrap="square" lIns="0" tIns="0" rIns="0" bIns="0" rtlCol="0" anchor="ctr"/>
          <a:lstStyle/>
          <a:p>
            <a:pPr indent="0" marL="0">
              <a:buNone/>
            </a:pPr>
            <a:r>
              <a:rPr lang="en-US" sz="2100" b="1" dirty="0">
                <a:solidFill>
                  <a:srgbClr val="8C491A"/>
                </a:solidFill>
                <a:latin typeface="Arial" pitchFamily="34" charset="0"/>
                <a:ea typeface="Arial" pitchFamily="34" charset="-122"/>
                <a:cs typeface="Arial" pitchFamily="34" charset="-120"/>
              </a:rPr>
              <a:t>“Vượt đèn đỏ xe máy phạt bao nhiêu?”</a:t>
            </a:r>
            <a:endParaRPr lang="en-US" sz="2100" dirty="0"/>
          </a:p>
        </p:txBody>
      </p:sp>
      <p:sp>
        <p:nvSpPr>
          <p:cNvPr id="21" name="Text 19"/>
          <p:cNvSpPr txBox="1"/>
          <p:nvPr/>
        </p:nvSpPr>
        <p:spPr>
          <a:xfrm>
            <a:off x="1069848" y="4590288"/>
            <a:ext cx="10051999" cy="640080"/>
          </a:xfrm>
          <a:prstGeom prst="rect">
            <a:avLst/>
          </a:prstGeom>
          <a:noFill/>
          <a:ln/>
        </p:spPr>
        <p:txBody>
          <a:bodyPr wrap="square" lIns="0" tIns="0" rIns="0" bIns="0" rtlCol="0" anchor="ctr"/>
          <a:lstStyle/>
          <a:p>
            <a:pPr indent="0" marL="0">
              <a:lnSpc>
                <a:spcPts val="1700"/>
              </a:lnSpc>
              <a:buNone/>
            </a:pPr>
            <a:r>
              <a:rPr lang="en-US" sz="1250" dirty="0">
                <a:solidFill>
                  <a:srgbClr val="645C50"/>
                </a:solidFill>
                <a:latin typeface="Arial" pitchFamily="34" charset="0"/>
                <a:ea typeface="Arial" pitchFamily="34" charset="-122"/>
                <a:cs typeface="Arial" pitchFamily="34" charset="-120"/>
              </a:rPr>
              <a:t>Câu hỏi phổ biến nhất của người dân — và không một văn bản đơn lẻ nào trả lời được. Phải đọc Luật để biết hành vi bị cấm, đọc Nghị định để biết mức phạt, rồi đối chiếu bản hợp nhất để chắc chắn đang đọc bản còn hiệu lực.</a:t>
            </a:r>
            <a:endParaRPr lang="en-US" sz="1250" dirty="0"/>
          </a:p>
        </p:txBody>
      </p:sp>
      <p:sp>
        <p:nvSpPr>
          <p:cNvPr id="22" name="Text 20"/>
          <p:cNvSpPr txBox="1"/>
          <p:nvPr/>
        </p:nvSpPr>
        <p:spPr>
          <a:xfrm>
            <a:off x="685800" y="5559552"/>
            <a:ext cx="10820095" cy="365760"/>
          </a:xfrm>
          <a:prstGeom prst="rect">
            <a:avLst/>
          </a:prstGeom>
          <a:noFill/>
          <a:ln/>
        </p:spPr>
        <p:txBody>
          <a:bodyPr wrap="square" lIns="0" tIns="0" rIns="0" bIns="0" rtlCol="0" anchor="ctr"/>
          <a:lstStyle/>
          <a:p>
            <a:pPr indent="0" marL="0">
              <a:buNone/>
            </a:pPr>
            <a:r>
              <a:rPr lang="en-US" sz="1400" b="1" dirty="0">
                <a:solidFill>
                  <a:srgbClr val="7A8A5E"/>
                </a:solidFill>
                <a:latin typeface="Arial" pitchFamily="34" charset="0"/>
                <a:ea typeface="Arial" pitchFamily="34" charset="-122"/>
                <a:cs typeface="Arial" pitchFamily="34" charset="-120"/>
              </a:rPr>
              <a:t>→  Mục tiêu: trả lời câu hỏi tiếng Việt tự nhiên, luôn kèm căn cứ điều – khoản – điểm truy nguyên được.</a:t>
            </a:r>
            <a:endParaRPr lang="en-US" sz="1400" dirty="0"/>
          </a:p>
        </p:txBody>
      </p:sp>
      <p:sp>
        <p:nvSpPr>
          <p:cNvPr id="23" name="Text 21"/>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Đề tài 4 · Nhóm 7</a:t>
            </a:r>
            <a:endParaRPr lang="en-US" sz="1000" dirty="0"/>
          </a:p>
        </p:txBody>
      </p:sp>
      <p:sp>
        <p:nvSpPr>
          <p:cNvPr id="24" name="Text 22"/>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1 · TỔNG QUAN</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Phát biểu bài toán: Input → Output</a:t>
            </a:r>
            <a:endParaRPr lang="en-US" sz="3000" dirty="0"/>
          </a:p>
        </p:txBody>
      </p:sp>
      <p:sp>
        <p:nvSpPr>
          <p:cNvPr id="4" name="Shape 2"/>
          <p:cNvSpPr/>
          <p:nvPr/>
        </p:nvSpPr>
        <p:spPr>
          <a:xfrm>
            <a:off x="685800" y="1554480"/>
            <a:ext cx="5394960" cy="2212848"/>
          </a:xfrm>
          <a:prstGeom prst="roundRect">
            <a:avLst>
              <a:gd name="adj" fmla="val 5785"/>
            </a:avLst>
          </a:prstGeom>
          <a:solidFill>
            <a:srgbClr val="FFF2EB"/>
          </a:solidFill>
          <a:ln w="12700">
            <a:solidFill>
              <a:srgbClr val="FFC6A5"/>
            </a:solidFill>
            <a:prstDash val="solid"/>
          </a:ln>
        </p:spPr>
      </p:sp>
      <p:sp>
        <p:nvSpPr>
          <p:cNvPr id="5" name="Shape 3"/>
          <p:cNvSpPr/>
          <p:nvPr/>
        </p:nvSpPr>
        <p:spPr>
          <a:xfrm>
            <a:off x="978408" y="1755648"/>
            <a:ext cx="713232" cy="274320"/>
          </a:xfrm>
          <a:prstGeom prst="roundRect">
            <a:avLst>
              <a:gd name="adj" fmla="val 50000"/>
            </a:avLst>
          </a:prstGeom>
          <a:solidFill>
            <a:srgbClr val="C67139"/>
          </a:solidFill>
          <a:ln/>
        </p:spPr>
      </p:sp>
      <p:sp>
        <p:nvSpPr>
          <p:cNvPr id="6" name="Text 4"/>
          <p:cNvSpPr txBox="1"/>
          <p:nvPr/>
        </p:nvSpPr>
        <p:spPr>
          <a:xfrm>
            <a:off x="978408" y="1755648"/>
            <a:ext cx="713232"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INPUT</a:t>
            </a:r>
            <a:endParaRPr lang="en-US" sz="1000" dirty="0"/>
          </a:p>
        </p:txBody>
      </p:sp>
      <p:sp>
        <p:nvSpPr>
          <p:cNvPr id="7" name="Text 5"/>
          <p:cNvSpPr txBox="1"/>
          <p:nvPr/>
        </p:nvSpPr>
        <p:spPr>
          <a:xfrm>
            <a:off x="978408" y="2157984"/>
            <a:ext cx="4846320" cy="274320"/>
          </a:xfrm>
          <a:prstGeom prst="rect">
            <a:avLst/>
          </a:prstGeom>
          <a:noFill/>
          <a:ln/>
        </p:spPr>
        <p:txBody>
          <a:bodyPr wrap="square" lIns="0" tIns="0" rIns="0" bIns="0" rtlCol="0" anchor="ctr"/>
          <a:lstStyle/>
          <a:p>
            <a:pPr indent="0" marL="0">
              <a:buNone/>
            </a:pPr>
            <a:r>
              <a:rPr lang="en-US" sz="1250" b="1" dirty="0">
                <a:solidFill>
                  <a:srgbClr val="201E1D"/>
                </a:solidFill>
                <a:latin typeface="Courier New" pitchFamily="34" charset="0"/>
                <a:ea typeface="Courier New" pitchFamily="34" charset="-122"/>
                <a:cs typeface="Courier New" pitchFamily="34" charset="-120"/>
              </a:rPr>
              <a:t>q  —  câu hỏi tiếng Việt tự nhiên</a:t>
            </a:r>
            <a:endParaRPr lang="en-US" sz="1250" dirty="0"/>
          </a:p>
        </p:txBody>
      </p:sp>
      <p:sp>
        <p:nvSpPr>
          <p:cNvPr id="8" name="Text 6"/>
          <p:cNvSpPr txBox="1"/>
          <p:nvPr/>
        </p:nvSpPr>
        <p:spPr>
          <a:xfrm>
            <a:off x="978408" y="2450592"/>
            <a:ext cx="4846320" cy="548640"/>
          </a:xfrm>
          <a:prstGeom prst="rect">
            <a:avLst/>
          </a:prstGeom>
          <a:noFill/>
          <a:ln/>
        </p:spPr>
        <p:txBody>
          <a:bodyPr wrap="square" lIns="0" tIns="0" rIns="0" bIns="0" rtlCol="0" anchor="ctr"/>
          <a:lstStyle/>
          <a:p>
            <a:pPr indent="0" marL="0">
              <a:lnSpc>
                <a:spcPts val="1500"/>
              </a:lnSpc>
              <a:buNone/>
            </a:pPr>
            <a:r>
              <a:rPr lang="en-US" sz="1150" dirty="0">
                <a:solidFill>
                  <a:srgbClr val="5A4032"/>
                </a:solidFill>
                <a:latin typeface="Arial" pitchFamily="34" charset="0"/>
                <a:ea typeface="Arial" pitchFamily="34" charset="-122"/>
                <a:cs typeface="Arial" pitchFamily="34" charset="-120"/>
              </a:rPr>
              <a:t>có dấu hoặc không dấu  ·  kèm tuỳ chọn mốc thời gian t (mặc định: hôm nay) và bộ lọc phương tiện</a:t>
            </a:r>
            <a:endParaRPr lang="en-US" sz="1150" dirty="0"/>
          </a:p>
        </p:txBody>
      </p:sp>
      <p:sp>
        <p:nvSpPr>
          <p:cNvPr id="9" name="Text 7"/>
          <p:cNvSpPr txBox="1"/>
          <p:nvPr/>
        </p:nvSpPr>
        <p:spPr>
          <a:xfrm>
            <a:off x="978408" y="3017520"/>
            <a:ext cx="4846320" cy="585216"/>
          </a:xfrm>
          <a:prstGeom prst="rect">
            <a:avLst/>
          </a:prstGeom>
          <a:noFill/>
          <a:ln/>
        </p:spPr>
        <p:txBody>
          <a:bodyPr wrap="square" lIns="0" tIns="0" rIns="0" bIns="0" rtlCol="0" anchor="ctr"/>
          <a:lstStyle/>
          <a:p>
            <a:pPr indent="0" marL="0">
              <a:lnSpc>
                <a:spcPts val="1500"/>
              </a:lnSpc>
              <a:buNone/>
            </a:pPr>
            <a:r>
              <a:rPr lang="en-US" sz="1150" i="1" dirty="0">
                <a:solidFill>
                  <a:srgbClr val="645C50"/>
                </a:solidFill>
                <a:latin typeface="Arial" pitchFamily="34" charset="0"/>
                <a:ea typeface="Arial" pitchFamily="34" charset="-122"/>
                <a:cs typeface="Arial" pitchFamily="34" charset="-120"/>
              </a:rPr>
              <a:t>Cơ sở tri thức  K = (C, R, Rules, F, Keyphrase)</a:t>
            </a:r>
            <a:endParaRPr lang="en-US" sz="1150" dirty="0"/>
          </a:p>
          <a:p>
            <a:pPr indent="0" marL="0">
              <a:lnSpc>
                <a:spcPts val="1500"/>
              </a:lnSpc>
              <a:buNone/>
            </a:pPr>
            <a:r>
              <a:rPr lang="en-US" sz="1150" i="1" dirty="0">
                <a:solidFill>
                  <a:srgbClr val="645C50"/>
                </a:solidFill>
                <a:latin typeface="Arial" pitchFamily="34" charset="0"/>
                <a:ea typeface="Arial" pitchFamily="34" charset="-122"/>
                <a:cs typeface="Arial" pitchFamily="34" charset="-120"/>
              </a:rPr>
              <a:t>mỗi x mang căn cứ cc(x) và khoảng hiệu lực hl(x)</a:t>
            </a:r>
            <a:endParaRPr lang="en-US" sz="1150" dirty="0"/>
          </a:p>
        </p:txBody>
      </p:sp>
      <p:sp>
        <p:nvSpPr>
          <p:cNvPr id="10" name="Text 8"/>
          <p:cNvSpPr txBox="1"/>
          <p:nvPr/>
        </p:nvSpPr>
        <p:spPr>
          <a:xfrm>
            <a:off x="6199632" y="2377440"/>
            <a:ext cx="548640" cy="548640"/>
          </a:xfrm>
          <a:prstGeom prst="rect">
            <a:avLst/>
          </a:prstGeom>
          <a:noFill/>
          <a:ln/>
        </p:spPr>
        <p:txBody>
          <a:bodyPr wrap="square" lIns="0" tIns="0" rIns="0" bIns="0" rtlCol="0" anchor="ctr"/>
          <a:lstStyle/>
          <a:p>
            <a:pPr algn="ctr" indent="0" marL="0">
              <a:buNone/>
            </a:pPr>
            <a:r>
              <a:rPr lang="en-US" sz="3000" b="1" dirty="0">
                <a:solidFill>
                  <a:srgbClr val="C67139"/>
                </a:solidFill>
                <a:latin typeface="Arial" pitchFamily="34" charset="0"/>
                <a:ea typeface="Arial" pitchFamily="34" charset="-122"/>
                <a:cs typeface="Arial" pitchFamily="34" charset="-120"/>
              </a:rPr>
              <a:t>→</a:t>
            </a:r>
            <a:endParaRPr lang="en-US" sz="3000" dirty="0"/>
          </a:p>
        </p:txBody>
      </p:sp>
      <p:sp>
        <p:nvSpPr>
          <p:cNvPr id="11" name="Shape 9"/>
          <p:cNvSpPr/>
          <p:nvPr/>
        </p:nvSpPr>
        <p:spPr>
          <a:xfrm>
            <a:off x="6812280" y="1554480"/>
            <a:ext cx="4693615" cy="2212848"/>
          </a:xfrm>
          <a:prstGeom prst="roundRect">
            <a:avLst>
              <a:gd name="adj" fmla="val 5785"/>
            </a:avLst>
          </a:prstGeom>
          <a:solidFill>
            <a:srgbClr val="F0FAE1"/>
          </a:solidFill>
          <a:ln w="12700">
            <a:solidFill>
              <a:srgbClr val="CCDBB2"/>
            </a:solidFill>
            <a:prstDash val="solid"/>
          </a:ln>
        </p:spPr>
      </p:sp>
      <p:sp>
        <p:nvSpPr>
          <p:cNvPr id="12" name="Shape 10"/>
          <p:cNvSpPr/>
          <p:nvPr/>
        </p:nvSpPr>
        <p:spPr>
          <a:xfrm>
            <a:off x="7104888" y="1755648"/>
            <a:ext cx="793699" cy="274320"/>
          </a:xfrm>
          <a:prstGeom prst="roundRect">
            <a:avLst>
              <a:gd name="adj" fmla="val 50000"/>
            </a:avLst>
          </a:prstGeom>
          <a:solidFill>
            <a:srgbClr val="7A8A5E"/>
          </a:solidFill>
          <a:ln/>
        </p:spPr>
      </p:sp>
      <p:sp>
        <p:nvSpPr>
          <p:cNvPr id="13" name="Text 11"/>
          <p:cNvSpPr txBox="1"/>
          <p:nvPr/>
        </p:nvSpPr>
        <p:spPr>
          <a:xfrm>
            <a:off x="7104888" y="1755648"/>
            <a:ext cx="793699"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OUTPUT</a:t>
            </a:r>
            <a:endParaRPr lang="en-US" sz="1000" dirty="0"/>
          </a:p>
        </p:txBody>
      </p:sp>
      <p:sp>
        <p:nvSpPr>
          <p:cNvPr id="14" name="Text 12"/>
          <p:cNvSpPr txBox="1"/>
          <p:nvPr/>
        </p:nvSpPr>
        <p:spPr>
          <a:xfrm>
            <a:off x="7104888" y="2157984"/>
            <a:ext cx="4114800" cy="274320"/>
          </a:xfrm>
          <a:prstGeom prst="rect">
            <a:avLst/>
          </a:prstGeom>
          <a:noFill/>
          <a:ln/>
        </p:spPr>
        <p:txBody>
          <a:bodyPr wrap="square" lIns="0" tIns="0" rIns="0" bIns="0" rtlCol="0" anchor="ctr"/>
          <a:lstStyle/>
          <a:p>
            <a:pPr indent="0" marL="0">
              <a:buNone/>
            </a:pPr>
            <a:r>
              <a:rPr lang="en-US" sz="1250" b="1" dirty="0">
                <a:solidFill>
                  <a:srgbClr val="201E1D"/>
                </a:solidFill>
                <a:latin typeface="Courier New" pitchFamily="34" charset="0"/>
                <a:ea typeface="Courier New" pitchFamily="34" charset="-122"/>
                <a:cs typeface="Courier New" pitchFamily="34" charset="-120"/>
              </a:rPr>
              <a:t>A(q, t)  =  ( p,  T,  E )</a:t>
            </a:r>
            <a:endParaRPr lang="en-US" sz="1250" dirty="0"/>
          </a:p>
        </p:txBody>
      </p:sp>
      <p:sp>
        <p:nvSpPr>
          <p:cNvPr id="15" name="Text 13"/>
          <p:cNvSpPr txBox="1"/>
          <p:nvPr/>
        </p:nvSpPr>
        <p:spPr>
          <a:xfrm>
            <a:off x="7104888" y="2468880"/>
            <a:ext cx="4114800" cy="1188720"/>
          </a:xfrm>
          <a:prstGeom prst="rect">
            <a:avLst/>
          </a:prstGeom>
          <a:noFill/>
          <a:ln/>
        </p:spPr>
        <p:txBody>
          <a:bodyPr wrap="square" lIns="0" tIns="0" rIns="0" bIns="0" rtlCol="0" anchor="ctr"/>
          <a:lstStyle/>
          <a:p>
            <a:pPr indent="0" marL="0">
              <a:lnSpc>
                <a:spcPts val="1500"/>
              </a:lnSpc>
              <a:buNone/>
            </a:pPr>
            <a:r>
              <a:rPr lang="en-US" sz="1150" b="1" dirty="0">
                <a:solidFill>
                  <a:srgbClr val="56633F"/>
                </a:solidFill>
                <a:latin typeface="Arial" pitchFamily="34" charset="0"/>
                <a:ea typeface="Arial" pitchFamily="34" charset="-122"/>
                <a:cs typeface="Arial" pitchFamily="34" charset="-120"/>
              </a:rPr>
              <a:t>p  </a:t>
            </a:r>
            <a:pPr indent="0" marL="0">
              <a:lnSpc>
                <a:spcPts val="1500"/>
              </a:lnSpc>
              <a:buNone/>
            </a:pPr>
            <a:r>
              <a:rPr lang="en-US" sz="1150" dirty="0">
                <a:solidFill>
                  <a:srgbClr val="3F4A2E"/>
                </a:solidFill>
                <a:latin typeface="Arial" pitchFamily="34" charset="0"/>
                <a:ea typeface="Arial" pitchFamily="34" charset="-122"/>
                <a:cs typeface="Arial" pitchFamily="34" charset="-120"/>
              </a:rPr>
              <a:t>lớp bài toán ∈ {P1 … P7}
</a:t>
            </a:r>
            <a:endParaRPr lang="en-US" sz="1150" dirty="0"/>
          </a:p>
          <a:p>
            <a:pPr indent="0" marL="0">
              <a:lnSpc>
                <a:spcPts val="1500"/>
              </a:lnSpc>
              <a:buNone/>
            </a:pPr>
            <a:r>
              <a:rPr lang="en-US" sz="1150" b="1" dirty="0">
                <a:solidFill>
                  <a:srgbClr val="56633F"/>
                </a:solidFill>
                <a:latin typeface="Arial" pitchFamily="34" charset="0"/>
                <a:ea typeface="Arial" pitchFamily="34" charset="-122"/>
                <a:cs typeface="Arial" pitchFamily="34" charset="-120"/>
              </a:rPr>
              <a:t>T  </a:t>
            </a:r>
            <a:pPr indent="0" marL="0">
              <a:lnSpc>
                <a:spcPts val="1500"/>
              </a:lnSpc>
              <a:buNone/>
            </a:pPr>
            <a:r>
              <a:rPr lang="en-US" sz="1150" dirty="0">
                <a:solidFill>
                  <a:srgbClr val="3F4A2E"/>
                </a:solidFill>
                <a:latin typeface="Arial" pitchFamily="34" charset="0"/>
                <a:ea typeface="Arial" pitchFamily="34" charset="-122"/>
                <a:cs typeface="Arial" pitchFamily="34" charset="-120"/>
              </a:rPr>
              <a:t>tối đa k = 5 mẩu tri thức đã xếp hạng, mọi x ∈ T đều còn hiệu lực tại t
</a:t>
            </a:r>
            <a:endParaRPr lang="en-US" sz="1150" dirty="0"/>
          </a:p>
          <a:p>
            <a:pPr indent="0" marL="0">
              <a:lnSpc>
                <a:spcPts val="1500"/>
              </a:lnSpc>
              <a:buNone/>
            </a:pPr>
            <a:r>
              <a:rPr lang="en-US" sz="1150" b="1" dirty="0">
                <a:solidFill>
                  <a:srgbClr val="56633F"/>
                </a:solidFill>
                <a:latin typeface="Arial" pitchFamily="34" charset="0"/>
                <a:ea typeface="Arial" pitchFamily="34" charset="-122"/>
                <a:cs typeface="Arial" pitchFamily="34" charset="-120"/>
              </a:rPr>
              <a:t>E  </a:t>
            </a:r>
            <a:pPr indent="0" marL="0">
              <a:lnSpc>
                <a:spcPts val="1500"/>
              </a:lnSpc>
              <a:buNone/>
            </a:pPr>
            <a:r>
              <a:rPr lang="en-US" sz="1150" dirty="0">
                <a:solidFill>
                  <a:srgbClr val="3F4A2E"/>
                </a:solidFill>
                <a:latin typeface="Arial" pitchFamily="34" charset="0"/>
                <a:ea typeface="Arial" pitchFamily="34" charset="-122"/>
                <a:cs typeface="Arial" pitchFamily="34" charset="-120"/>
              </a:rPr>
              <a:t>nguyên văn điều khoản + căn cứ cc(x) của từng x</a:t>
            </a:r>
            <a:endParaRPr lang="en-US" sz="1150" dirty="0"/>
          </a:p>
        </p:txBody>
      </p:sp>
      <p:sp>
        <p:nvSpPr>
          <p:cNvPr id="16" name="Shape 14"/>
          <p:cNvSpPr/>
          <p:nvPr/>
        </p:nvSpPr>
        <p:spPr>
          <a:xfrm>
            <a:off x="685800" y="3931920"/>
            <a:ext cx="10820095" cy="749808"/>
          </a:xfrm>
          <a:prstGeom prst="roundRect">
            <a:avLst>
              <a:gd name="adj" fmla="val 17073"/>
            </a:avLst>
          </a:prstGeom>
          <a:solidFill>
            <a:srgbClr val="EBDDC5"/>
          </a:solidFill>
          <a:ln/>
        </p:spPr>
      </p:sp>
      <p:sp>
        <p:nvSpPr>
          <p:cNvPr id="17" name="Text 15"/>
          <p:cNvSpPr txBox="1"/>
          <p:nvPr/>
        </p:nvSpPr>
        <p:spPr>
          <a:xfrm>
            <a:off x="996696" y="4114800"/>
            <a:ext cx="10198303" cy="420624"/>
          </a:xfrm>
          <a:prstGeom prst="rect">
            <a:avLst/>
          </a:prstGeom>
          <a:noFill/>
          <a:ln/>
        </p:spPr>
        <p:txBody>
          <a:bodyPr wrap="square" lIns="0" tIns="0" rIns="0" bIns="0" rtlCol="0" anchor="ctr"/>
          <a:lstStyle/>
          <a:p>
            <a:pPr indent="0" marL="0">
              <a:lnSpc>
                <a:spcPts val="1600"/>
              </a:lnSpc>
              <a:buNone/>
            </a:pPr>
            <a:r>
              <a:rPr lang="en-US" sz="1250" b="1" dirty="0">
                <a:solidFill>
                  <a:srgbClr val="8C491A"/>
                </a:solidFill>
                <a:latin typeface="Arial" pitchFamily="34" charset="0"/>
                <a:ea typeface="Arial" pitchFamily="34" charset="-122"/>
                <a:cs typeface="Arial" pitchFamily="34" charset="-120"/>
              </a:rPr>
              <a:t>Ràng buộc:  </a:t>
            </a:r>
            <a:pPr indent="0" marL="0">
              <a:lnSpc>
                <a:spcPts val="1600"/>
              </a:lnSpc>
              <a:buNone/>
            </a:pPr>
            <a:r>
              <a:rPr lang="en-US" sz="1250" dirty="0">
                <a:solidFill>
                  <a:srgbClr val="645C50"/>
                </a:solidFill>
                <a:latin typeface="Arial" pitchFamily="34" charset="0"/>
                <a:ea typeface="Arial" pitchFamily="34" charset="-122"/>
                <a:cs typeface="Arial" pitchFamily="34" charset="-120"/>
              </a:rPr>
              <a:t>hệ KHÔNG sinh ngôn ngữ tự nhiên — mọi câu chữ trong E là trích nguyên văn. Không có x nào thoả thì trả tập rỗng kèm lý do, không suy đoán.</a:t>
            </a:r>
            <a:endParaRPr lang="en-US" sz="1250" dirty="0"/>
          </a:p>
        </p:txBody>
      </p:sp>
      <p:sp>
        <p:nvSpPr>
          <p:cNvPr id="18" name="Shape 16"/>
          <p:cNvSpPr/>
          <p:nvPr/>
        </p:nvSpPr>
        <p:spPr>
          <a:xfrm>
            <a:off x="685800" y="4901184"/>
            <a:ext cx="1678838" cy="274320"/>
          </a:xfrm>
          <a:prstGeom prst="roundRect">
            <a:avLst>
              <a:gd name="adj" fmla="val 50000"/>
            </a:avLst>
          </a:prstGeom>
          <a:solidFill>
            <a:srgbClr val="C67139"/>
          </a:solidFill>
          <a:ln/>
        </p:spPr>
      </p:sp>
      <p:sp>
        <p:nvSpPr>
          <p:cNvPr id="19" name="Text 17"/>
          <p:cNvSpPr txBox="1"/>
          <p:nvPr/>
        </p:nvSpPr>
        <p:spPr>
          <a:xfrm>
            <a:off x="685800" y="4901184"/>
            <a:ext cx="1678838"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ĐÓNG GÓP CỦA NHÓM</a:t>
            </a:r>
            <a:endParaRPr lang="en-US" sz="1000" dirty="0"/>
          </a:p>
        </p:txBody>
      </p:sp>
      <p:sp>
        <p:nvSpPr>
          <p:cNvPr id="20" name="Shape 18"/>
          <p:cNvSpPr/>
          <p:nvPr/>
        </p:nvSpPr>
        <p:spPr>
          <a:xfrm>
            <a:off x="685800" y="5266944"/>
            <a:ext cx="2558720" cy="859536"/>
          </a:xfrm>
          <a:prstGeom prst="roundRect">
            <a:avLst>
              <a:gd name="adj" fmla="val 14894"/>
            </a:avLst>
          </a:prstGeom>
          <a:solidFill>
            <a:srgbClr val="F9F4ED"/>
          </a:solidFill>
          <a:ln w="12700">
            <a:solidFill>
              <a:srgbClr val="DCD3C4"/>
            </a:solidFill>
            <a:prstDash val="solid"/>
          </a:ln>
        </p:spPr>
      </p:sp>
      <p:sp>
        <p:nvSpPr>
          <p:cNvPr id="21" name="Text 19"/>
          <p:cNvSpPr txBox="1"/>
          <p:nvPr/>
        </p:nvSpPr>
        <p:spPr>
          <a:xfrm>
            <a:off x="868680" y="5394960"/>
            <a:ext cx="2247824" cy="256032"/>
          </a:xfrm>
          <a:prstGeom prst="rect">
            <a:avLst/>
          </a:prstGeom>
          <a:noFill/>
          <a:ln/>
        </p:spPr>
        <p:txBody>
          <a:bodyPr wrap="square" lIns="0" tIns="0" rIns="0" bIns="0" rtlCol="0" anchor="ctr"/>
          <a:lstStyle/>
          <a:p>
            <a:pPr indent="0" marL="0">
              <a:buNone/>
            </a:pPr>
            <a:r>
              <a:rPr lang="en-US" sz="1250" b="1" dirty="0">
                <a:solidFill>
                  <a:srgbClr val="8C491A"/>
                </a:solidFill>
                <a:latin typeface="Arial" pitchFamily="34" charset="0"/>
                <a:ea typeface="Arial" pitchFamily="34" charset="-122"/>
                <a:cs typeface="Arial" pitchFamily="34" charset="-120"/>
              </a:rPr>
              <a:t>Cơ sở tri thức mở</a:t>
            </a:r>
            <a:endParaRPr lang="en-US" sz="1250" dirty="0"/>
          </a:p>
        </p:txBody>
      </p:sp>
      <p:sp>
        <p:nvSpPr>
          <p:cNvPr id="22" name="Text 20"/>
          <p:cNvSpPr txBox="1"/>
          <p:nvPr/>
        </p:nvSpPr>
        <p:spPr>
          <a:xfrm>
            <a:off x="868680" y="5632704"/>
            <a:ext cx="2247824" cy="457200"/>
          </a:xfrm>
          <a:prstGeom prst="rect">
            <a:avLst/>
          </a:prstGeom>
          <a:noFill/>
          <a:ln/>
        </p:spPr>
        <p:txBody>
          <a:bodyPr wrap="square" lIns="0" tIns="0" rIns="0" bIns="0" rtlCol="0" anchor="t"/>
          <a:lstStyle/>
          <a:p>
            <a:pPr indent="0" marL="0">
              <a:lnSpc>
                <a:spcPts val="1300"/>
              </a:lnSpc>
              <a:buNone/>
            </a:pPr>
            <a:r>
              <a:rPr lang="en-US" sz="1000" dirty="0">
                <a:solidFill>
                  <a:srgbClr val="645C50"/>
                </a:solidFill>
                <a:latin typeface="Arial" pitchFamily="34" charset="0"/>
                <a:ea typeface="Arial" pitchFamily="34" charset="-122"/>
                <a:cs typeface="Arial" pitchFamily="34" charset="-120"/>
              </a:rPr>
              <a:t>73 khái niệm · 109 quy tắc · 345 hành vi, 100% có căn cứ</a:t>
            </a:r>
            <a:endParaRPr lang="en-US" sz="1000" dirty="0"/>
          </a:p>
        </p:txBody>
      </p:sp>
      <p:sp>
        <p:nvSpPr>
          <p:cNvPr id="23" name="Shape 21"/>
          <p:cNvSpPr/>
          <p:nvPr/>
        </p:nvSpPr>
        <p:spPr>
          <a:xfrm>
            <a:off x="3409112" y="5266944"/>
            <a:ext cx="2558720" cy="859536"/>
          </a:xfrm>
          <a:prstGeom prst="roundRect">
            <a:avLst>
              <a:gd name="adj" fmla="val 14894"/>
            </a:avLst>
          </a:prstGeom>
          <a:solidFill>
            <a:srgbClr val="F9F4ED"/>
          </a:solidFill>
          <a:ln w="12700">
            <a:solidFill>
              <a:srgbClr val="DCD3C4"/>
            </a:solidFill>
            <a:prstDash val="solid"/>
          </a:ln>
        </p:spPr>
      </p:sp>
      <p:sp>
        <p:nvSpPr>
          <p:cNvPr id="24" name="Text 22"/>
          <p:cNvSpPr txBox="1"/>
          <p:nvPr/>
        </p:nvSpPr>
        <p:spPr>
          <a:xfrm>
            <a:off x="3591992" y="5394960"/>
            <a:ext cx="2247824" cy="256032"/>
          </a:xfrm>
          <a:prstGeom prst="rect">
            <a:avLst/>
          </a:prstGeom>
          <a:noFill/>
          <a:ln/>
        </p:spPr>
        <p:txBody>
          <a:bodyPr wrap="square" lIns="0" tIns="0" rIns="0" bIns="0" rtlCol="0" anchor="ctr"/>
          <a:lstStyle/>
          <a:p>
            <a:pPr indent="0" marL="0">
              <a:buNone/>
            </a:pPr>
            <a:r>
              <a:rPr lang="en-US" sz="1250" b="1" dirty="0">
                <a:solidFill>
                  <a:srgbClr val="8C491A"/>
                </a:solidFill>
                <a:latin typeface="Arial" pitchFamily="34" charset="0"/>
                <a:ea typeface="Arial" pitchFamily="34" charset="-122"/>
                <a:cs typeface="Arial" pitchFamily="34" charset="-120"/>
              </a:rPr>
              <a:t>Hiệu lực theo thời gian</a:t>
            </a:r>
            <a:endParaRPr lang="en-US" sz="1250" dirty="0"/>
          </a:p>
        </p:txBody>
      </p:sp>
      <p:sp>
        <p:nvSpPr>
          <p:cNvPr id="25" name="Text 23"/>
          <p:cNvSpPr txBox="1"/>
          <p:nvPr/>
        </p:nvSpPr>
        <p:spPr>
          <a:xfrm>
            <a:off x="3591992" y="5632704"/>
            <a:ext cx="2247824" cy="457200"/>
          </a:xfrm>
          <a:prstGeom prst="rect">
            <a:avLst/>
          </a:prstGeom>
          <a:noFill/>
          <a:ln/>
        </p:spPr>
        <p:txBody>
          <a:bodyPr wrap="square" lIns="0" tIns="0" rIns="0" bIns="0" rtlCol="0" anchor="t"/>
          <a:lstStyle/>
          <a:p>
            <a:pPr indent="0" marL="0">
              <a:lnSpc>
                <a:spcPts val="1300"/>
              </a:lnSpc>
              <a:buNone/>
            </a:pPr>
            <a:r>
              <a:rPr lang="en-US" sz="1000" dirty="0">
                <a:solidFill>
                  <a:srgbClr val="645C50"/>
                </a:solidFill>
                <a:latin typeface="Arial" pitchFamily="34" charset="0"/>
                <a:ea typeface="Arial" pitchFamily="34" charset="-122"/>
                <a:cs typeface="Arial" pitchFamily="34" charset="-120"/>
              </a:rPr>
              <a:t>63 bản ghi sửa đổi lưu như DỮ LIỆU, truy vấn được theo mốc t</a:t>
            </a:r>
            <a:endParaRPr lang="en-US" sz="1000" dirty="0"/>
          </a:p>
        </p:txBody>
      </p:sp>
      <p:sp>
        <p:nvSpPr>
          <p:cNvPr id="26" name="Shape 24"/>
          <p:cNvSpPr/>
          <p:nvPr/>
        </p:nvSpPr>
        <p:spPr>
          <a:xfrm>
            <a:off x="6132424" y="5266944"/>
            <a:ext cx="2558720" cy="859536"/>
          </a:xfrm>
          <a:prstGeom prst="roundRect">
            <a:avLst>
              <a:gd name="adj" fmla="val 14894"/>
            </a:avLst>
          </a:prstGeom>
          <a:solidFill>
            <a:srgbClr val="F9F4ED"/>
          </a:solidFill>
          <a:ln w="12700">
            <a:solidFill>
              <a:srgbClr val="DCD3C4"/>
            </a:solidFill>
            <a:prstDash val="solid"/>
          </a:ln>
        </p:spPr>
      </p:sp>
      <p:sp>
        <p:nvSpPr>
          <p:cNvPr id="27" name="Text 25"/>
          <p:cNvSpPr txBox="1"/>
          <p:nvPr/>
        </p:nvSpPr>
        <p:spPr>
          <a:xfrm>
            <a:off x="6315304" y="5394960"/>
            <a:ext cx="2247824" cy="256032"/>
          </a:xfrm>
          <a:prstGeom prst="rect">
            <a:avLst/>
          </a:prstGeom>
          <a:noFill/>
          <a:ln/>
        </p:spPr>
        <p:txBody>
          <a:bodyPr wrap="square" lIns="0" tIns="0" rIns="0" bIns="0" rtlCol="0" anchor="ctr"/>
          <a:lstStyle/>
          <a:p>
            <a:pPr indent="0" marL="0">
              <a:buNone/>
            </a:pPr>
            <a:r>
              <a:rPr lang="en-US" sz="1250" b="1" dirty="0">
                <a:solidFill>
                  <a:srgbClr val="8C491A"/>
                </a:solidFill>
                <a:latin typeface="Arial" pitchFamily="34" charset="0"/>
                <a:ea typeface="Arial" pitchFamily="34" charset="-122"/>
                <a:cs typeface="Arial" pitchFamily="34" charset="-120"/>
              </a:rPr>
              <a:t>Suy diễn số học</a:t>
            </a:r>
            <a:endParaRPr lang="en-US" sz="1250" dirty="0"/>
          </a:p>
        </p:txBody>
      </p:sp>
      <p:sp>
        <p:nvSpPr>
          <p:cNvPr id="28" name="Text 26"/>
          <p:cNvSpPr txBox="1"/>
          <p:nvPr/>
        </p:nvSpPr>
        <p:spPr>
          <a:xfrm>
            <a:off x="6315304" y="5632704"/>
            <a:ext cx="2247824" cy="457200"/>
          </a:xfrm>
          <a:prstGeom prst="rect">
            <a:avLst/>
          </a:prstGeom>
          <a:noFill/>
          <a:ln/>
        </p:spPr>
        <p:txBody>
          <a:bodyPr wrap="square" lIns="0" tIns="0" rIns="0" bIns="0" rtlCol="0" anchor="t"/>
          <a:lstStyle/>
          <a:p>
            <a:pPr indent="0" marL="0">
              <a:lnSpc>
                <a:spcPts val="1300"/>
              </a:lnSpc>
              <a:buNone/>
            </a:pPr>
            <a:r>
              <a:rPr lang="en-US" sz="1000" dirty="0">
                <a:solidFill>
                  <a:srgbClr val="645C50"/>
                </a:solidFill>
                <a:latin typeface="Arial" pitchFamily="34" charset="0"/>
                <a:ea typeface="Arial" pitchFamily="34" charset="-122"/>
                <a:cs typeface="Arial" pitchFamily="34" charset="-120"/>
              </a:rPr>
              <a:t>Tính đúng khung phạt theo ngưỡng — không chỉ so khớp văn bản</a:t>
            </a:r>
            <a:endParaRPr lang="en-US" sz="1000" dirty="0"/>
          </a:p>
        </p:txBody>
      </p:sp>
      <p:sp>
        <p:nvSpPr>
          <p:cNvPr id="29" name="Shape 27"/>
          <p:cNvSpPr/>
          <p:nvPr/>
        </p:nvSpPr>
        <p:spPr>
          <a:xfrm>
            <a:off x="8855735" y="5266944"/>
            <a:ext cx="2558720" cy="859536"/>
          </a:xfrm>
          <a:prstGeom prst="roundRect">
            <a:avLst>
              <a:gd name="adj" fmla="val 14894"/>
            </a:avLst>
          </a:prstGeom>
          <a:solidFill>
            <a:srgbClr val="F9F4ED"/>
          </a:solidFill>
          <a:ln w="12700">
            <a:solidFill>
              <a:srgbClr val="DCD3C4"/>
            </a:solidFill>
            <a:prstDash val="solid"/>
          </a:ln>
        </p:spPr>
      </p:sp>
      <p:sp>
        <p:nvSpPr>
          <p:cNvPr id="30" name="Text 28"/>
          <p:cNvSpPr txBox="1"/>
          <p:nvPr/>
        </p:nvSpPr>
        <p:spPr>
          <a:xfrm>
            <a:off x="9038615" y="5394960"/>
            <a:ext cx="2247824" cy="256032"/>
          </a:xfrm>
          <a:prstGeom prst="rect">
            <a:avLst/>
          </a:prstGeom>
          <a:noFill/>
          <a:ln/>
        </p:spPr>
        <p:txBody>
          <a:bodyPr wrap="square" lIns="0" tIns="0" rIns="0" bIns="0" rtlCol="0" anchor="ctr"/>
          <a:lstStyle/>
          <a:p>
            <a:pPr indent="0" marL="0">
              <a:buNone/>
            </a:pPr>
            <a:r>
              <a:rPr lang="en-US" sz="1250" b="1" dirty="0">
                <a:solidFill>
                  <a:srgbClr val="8C491A"/>
                </a:solidFill>
                <a:latin typeface="Arial" pitchFamily="34" charset="0"/>
                <a:ea typeface="Arial" pitchFamily="34" charset="-122"/>
                <a:cs typeface="Arial" pitchFamily="34" charset="-120"/>
              </a:rPr>
              <a:t>Bộ dữ liệu + số đo</a:t>
            </a:r>
            <a:endParaRPr lang="en-US" sz="1250" dirty="0"/>
          </a:p>
        </p:txBody>
      </p:sp>
      <p:sp>
        <p:nvSpPr>
          <p:cNvPr id="31" name="Text 29"/>
          <p:cNvSpPr txBox="1"/>
          <p:nvPr/>
        </p:nvSpPr>
        <p:spPr>
          <a:xfrm>
            <a:off x="9038615" y="5632704"/>
            <a:ext cx="2247824" cy="457200"/>
          </a:xfrm>
          <a:prstGeom prst="rect">
            <a:avLst/>
          </a:prstGeom>
          <a:noFill/>
          <a:ln/>
        </p:spPr>
        <p:txBody>
          <a:bodyPr wrap="square" lIns="0" tIns="0" rIns="0" bIns="0" rtlCol="0" anchor="t"/>
          <a:lstStyle/>
          <a:p>
            <a:pPr indent="0" marL="0">
              <a:lnSpc>
                <a:spcPts val="1300"/>
              </a:lnSpc>
              <a:buNone/>
            </a:pPr>
            <a:r>
              <a:rPr lang="en-US" sz="1000" dirty="0">
                <a:solidFill>
                  <a:srgbClr val="645C50"/>
                </a:solidFill>
                <a:latin typeface="Arial" pitchFamily="34" charset="0"/>
                <a:ea typeface="Arial" pitchFamily="34" charset="-122"/>
                <a:cs typeface="Arial" pitchFamily="34" charset="-120"/>
              </a:rPr>
              <a:t>120 câu hỏi gán tới ĐỊNH DANH tri thức, tái lập bằng một lệnh</a:t>
            </a:r>
            <a:endParaRPr lang="en-US" sz="1000" dirty="0"/>
          </a:p>
        </p:txBody>
      </p:sp>
      <p:sp>
        <p:nvSpPr>
          <p:cNvPr id="32" name="Text 30"/>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Tách bạch hai việc thường bị gộp: TÌM ĐÚNG mẩu tri thức (T) và GIẢI TRÌNH được vì sao (E)</a:t>
            </a:r>
            <a:endParaRPr lang="en-US" sz="1000" dirty="0"/>
          </a:p>
        </p:txBody>
      </p:sp>
      <p:sp>
        <p:nvSpPr>
          <p:cNvPr id="33" name="Text 31"/>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2 · CÔNG TRÌNH LIÊN QUAN</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Bốn hướng — khác nhau ở chỗ tri thức nằm ở đâu</a:t>
            </a:r>
            <a:endParaRPr lang="en-US" sz="3000" dirty="0"/>
          </a:p>
        </p:txBody>
      </p:sp>
      <p:sp>
        <p:nvSpPr>
          <p:cNvPr id="4" name="Shape 2"/>
          <p:cNvSpPr/>
          <p:nvPr/>
        </p:nvSpPr>
        <p:spPr>
          <a:xfrm>
            <a:off x="685800" y="1554480"/>
            <a:ext cx="2743200" cy="3017520"/>
          </a:xfrm>
          <a:prstGeom prst="roundRect">
            <a:avLst>
              <a:gd name="adj" fmla="val 4667"/>
            </a:avLst>
          </a:prstGeom>
          <a:solidFill>
            <a:srgbClr val="F9F4ED"/>
          </a:solidFill>
          <a:ln w="12700">
            <a:solidFill>
              <a:srgbClr val="DCD3C4"/>
            </a:solidFill>
            <a:prstDash val="solid"/>
          </a:ln>
        </p:spPr>
      </p:sp>
      <p:sp>
        <p:nvSpPr>
          <p:cNvPr id="5" name="Shape 3"/>
          <p:cNvSpPr/>
          <p:nvPr/>
        </p:nvSpPr>
        <p:spPr>
          <a:xfrm>
            <a:off x="685800" y="1554480"/>
            <a:ext cx="2743200" cy="64008"/>
          </a:xfrm>
          <a:prstGeom prst="rect">
            <a:avLst/>
          </a:prstGeom>
          <a:solidFill>
            <a:srgbClr val="82796A"/>
          </a:solidFill>
          <a:ln/>
        </p:spPr>
      </p:sp>
      <p:sp>
        <p:nvSpPr>
          <p:cNvPr id="6" name="Text 4"/>
          <p:cNvSpPr txBox="1"/>
          <p:nvPr/>
        </p:nvSpPr>
        <p:spPr>
          <a:xfrm>
            <a:off x="905256" y="1755648"/>
            <a:ext cx="2304288" cy="603504"/>
          </a:xfrm>
          <a:prstGeom prst="rect">
            <a:avLst/>
          </a:prstGeom>
          <a:noFill/>
          <a:ln/>
        </p:spPr>
        <p:txBody>
          <a:bodyPr wrap="square" lIns="0" tIns="0" rIns="0" bIns="0" rtlCol="0" anchor="ctr"/>
          <a:lstStyle/>
          <a:p>
            <a:pPr indent="0" marL="0">
              <a:lnSpc>
                <a:spcPts val="1700"/>
              </a:lnSpc>
              <a:buNone/>
            </a:pPr>
            <a:r>
              <a:rPr lang="en-US" sz="1400" b="1" dirty="0">
                <a:solidFill>
                  <a:srgbClr val="201E1D"/>
                </a:solidFill>
                <a:latin typeface="Arial" pitchFamily="34" charset="0"/>
                <a:ea typeface="Arial" pitchFamily="34" charset="-122"/>
                <a:cs typeface="Arial" pitchFamily="34" charset="-120"/>
              </a:rPr>
              <a:t>Truy hồi ngữ nghĩa</a:t>
            </a:r>
            <a:endParaRPr lang="en-US" sz="1400" dirty="0"/>
          </a:p>
          <a:p>
            <a:pPr indent="0" marL="0">
              <a:lnSpc>
                <a:spcPts val="1700"/>
              </a:lnSpc>
              <a:buNone/>
            </a:pPr>
            <a:r>
              <a:rPr lang="en-US" sz="1400" b="1" dirty="0">
                <a:solidFill>
                  <a:srgbClr val="201E1D"/>
                </a:solidFill>
                <a:latin typeface="Arial" pitchFamily="34" charset="0"/>
                <a:ea typeface="Arial" pitchFamily="34" charset="-122"/>
                <a:cs typeface="Arial" pitchFamily="34" charset="-120"/>
              </a:rPr>
              <a:t>bằng mạng nơ-ron</a:t>
            </a:r>
            <a:endParaRPr lang="en-US" sz="1400" dirty="0"/>
          </a:p>
        </p:txBody>
      </p:sp>
      <p:sp>
        <p:nvSpPr>
          <p:cNvPr id="7" name="Text 5"/>
          <p:cNvSpPr txBox="1"/>
          <p:nvPr/>
        </p:nvSpPr>
        <p:spPr>
          <a:xfrm>
            <a:off x="905256" y="2395728"/>
            <a:ext cx="2304288" cy="457200"/>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Tri thức nằm trong THAM SỐ mô hình</a:t>
            </a:r>
            <a:endParaRPr lang="en-US" sz="1100" dirty="0"/>
          </a:p>
        </p:txBody>
      </p:sp>
      <p:sp>
        <p:nvSpPr>
          <p:cNvPr id="8" name="Text 6"/>
          <p:cNvSpPr txBox="1"/>
          <p:nvPr/>
        </p:nvSpPr>
        <p:spPr>
          <a:xfrm>
            <a:off x="905256" y="2871216"/>
            <a:ext cx="2304288" cy="658368"/>
          </a:xfrm>
          <a:prstGeom prst="rect">
            <a:avLst/>
          </a:prstGeom>
          <a:noFill/>
          <a:ln/>
        </p:spPr>
        <p:txBody>
          <a:bodyPr wrap="square" lIns="0" tIns="0" rIns="0" bIns="0" rtlCol="0" anchor="ctr"/>
          <a:lstStyle/>
          <a:p>
            <a:pPr indent="0" marL="0">
              <a:lnSpc>
                <a:spcPts val="1400"/>
              </a:lnSpc>
              <a:buNone/>
            </a:pPr>
            <a:r>
              <a:rPr lang="en-US" sz="1050" i="1" dirty="0">
                <a:solidFill>
                  <a:srgbClr val="82796A"/>
                </a:solidFill>
                <a:latin typeface="Arial" pitchFamily="34" charset="0"/>
                <a:ea typeface="Arial" pitchFamily="34" charset="-122"/>
                <a:cs typeface="Arial" pitchFamily="34" charset="-120"/>
              </a:rPr>
              <a:t>PhoBERT · multi-stage IR · LEGAL-BERT · COLIEE</a:t>
            </a:r>
            <a:endParaRPr lang="en-US" sz="1050" dirty="0"/>
          </a:p>
        </p:txBody>
      </p:sp>
      <p:sp>
        <p:nvSpPr>
          <p:cNvPr id="9" name="Shape 7"/>
          <p:cNvSpPr/>
          <p:nvPr/>
        </p:nvSpPr>
        <p:spPr>
          <a:xfrm>
            <a:off x="905256" y="3584448"/>
            <a:ext cx="2304288" cy="10973"/>
          </a:xfrm>
          <a:prstGeom prst="rect">
            <a:avLst/>
          </a:prstGeom>
          <a:solidFill>
            <a:srgbClr val="DCD3C4"/>
          </a:solidFill>
          <a:ln/>
        </p:spPr>
      </p:sp>
      <p:sp>
        <p:nvSpPr>
          <p:cNvPr id="10" name="Text 8"/>
          <p:cNvSpPr txBox="1"/>
          <p:nvPr/>
        </p:nvSpPr>
        <p:spPr>
          <a:xfrm>
            <a:off x="905256" y="3675888"/>
            <a:ext cx="2304288" cy="731520"/>
          </a:xfrm>
          <a:prstGeom prst="rect">
            <a:avLst/>
          </a:prstGeom>
          <a:noFill/>
          <a:ln/>
        </p:spPr>
        <p:txBody>
          <a:bodyPr wrap="square" lIns="0" tIns="0" rIns="0" bIns="0" rtlCol="0" anchor="ctr"/>
          <a:lstStyle/>
          <a:p>
            <a:pPr indent="0" marL="0">
              <a:lnSpc>
                <a:spcPts val="1400"/>
              </a:lnSpc>
              <a:buNone/>
            </a:pPr>
            <a:r>
              <a:rPr lang="en-US" sz="1050" dirty="0">
                <a:solidFill>
                  <a:srgbClr val="8C491A"/>
                </a:solidFill>
                <a:latin typeface="Arial" pitchFamily="34" charset="0"/>
                <a:ea typeface="Arial" pitchFamily="34" charset="-122"/>
                <a:cs typeface="Arial" pitchFamily="34" charset="-120"/>
              </a:rPr>
              <a:t>Trả về đoạn văn bản, không giải trình được</a:t>
            </a:r>
            <a:endParaRPr lang="en-US" sz="1050" dirty="0"/>
          </a:p>
        </p:txBody>
      </p:sp>
      <p:sp>
        <p:nvSpPr>
          <p:cNvPr id="11" name="Shape 9"/>
          <p:cNvSpPr/>
          <p:nvPr/>
        </p:nvSpPr>
        <p:spPr>
          <a:xfrm>
            <a:off x="3602736" y="1554480"/>
            <a:ext cx="2743200" cy="3017520"/>
          </a:xfrm>
          <a:prstGeom prst="roundRect">
            <a:avLst>
              <a:gd name="adj" fmla="val 4667"/>
            </a:avLst>
          </a:prstGeom>
          <a:solidFill>
            <a:srgbClr val="F9F4ED"/>
          </a:solidFill>
          <a:ln w="12700">
            <a:solidFill>
              <a:srgbClr val="DCD3C4"/>
            </a:solidFill>
            <a:prstDash val="solid"/>
          </a:ln>
        </p:spPr>
      </p:sp>
      <p:sp>
        <p:nvSpPr>
          <p:cNvPr id="12" name="Shape 10"/>
          <p:cNvSpPr/>
          <p:nvPr/>
        </p:nvSpPr>
        <p:spPr>
          <a:xfrm>
            <a:off x="3602736" y="1554480"/>
            <a:ext cx="2743200" cy="64008"/>
          </a:xfrm>
          <a:prstGeom prst="rect">
            <a:avLst/>
          </a:prstGeom>
          <a:solidFill>
            <a:srgbClr val="7A8A5E"/>
          </a:solidFill>
          <a:ln/>
        </p:spPr>
      </p:sp>
      <p:sp>
        <p:nvSpPr>
          <p:cNvPr id="13" name="Text 11"/>
          <p:cNvSpPr txBox="1"/>
          <p:nvPr/>
        </p:nvSpPr>
        <p:spPr>
          <a:xfrm>
            <a:off x="3822192" y="1755648"/>
            <a:ext cx="2304288" cy="603504"/>
          </a:xfrm>
          <a:prstGeom prst="rect">
            <a:avLst/>
          </a:prstGeom>
          <a:noFill/>
          <a:ln/>
        </p:spPr>
        <p:txBody>
          <a:bodyPr wrap="square" lIns="0" tIns="0" rIns="0" bIns="0" rtlCol="0" anchor="ctr"/>
          <a:lstStyle/>
          <a:p>
            <a:pPr indent="0" marL="0">
              <a:lnSpc>
                <a:spcPts val="1700"/>
              </a:lnSpc>
              <a:buNone/>
            </a:pPr>
            <a:r>
              <a:rPr lang="en-US" sz="1400" b="1" dirty="0">
                <a:solidFill>
                  <a:srgbClr val="201E1D"/>
                </a:solidFill>
                <a:latin typeface="Arial" pitchFamily="34" charset="0"/>
                <a:ea typeface="Arial" pitchFamily="34" charset="-122"/>
                <a:cs typeface="Arial" pitchFamily="34" charset="-120"/>
              </a:rPr>
              <a:t>Ontology &amp;</a:t>
            </a:r>
            <a:endParaRPr lang="en-US" sz="1400" dirty="0"/>
          </a:p>
          <a:p>
            <a:pPr indent="0" marL="0">
              <a:lnSpc>
                <a:spcPts val="1700"/>
              </a:lnSpc>
              <a:buNone/>
            </a:pPr>
            <a:r>
              <a:rPr lang="en-US" sz="1400" b="1" dirty="0">
                <a:solidFill>
                  <a:srgbClr val="201E1D"/>
                </a:solidFill>
                <a:latin typeface="Arial" pitchFamily="34" charset="0"/>
                <a:ea typeface="Arial" pitchFamily="34" charset="-122"/>
                <a:cs typeface="Arial" pitchFamily="34" charset="-120"/>
              </a:rPr>
              <a:t>đồ thị tri thức</a:t>
            </a:r>
            <a:endParaRPr lang="en-US" sz="1400" dirty="0"/>
          </a:p>
        </p:txBody>
      </p:sp>
      <p:sp>
        <p:nvSpPr>
          <p:cNvPr id="14" name="Text 12"/>
          <p:cNvSpPr txBox="1"/>
          <p:nvPr/>
        </p:nvSpPr>
        <p:spPr>
          <a:xfrm>
            <a:off x="3822192" y="2395728"/>
            <a:ext cx="2304288" cy="457200"/>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Tri thức được mô hình hoá TƯỜNG MINH</a:t>
            </a:r>
            <a:endParaRPr lang="en-US" sz="1100" dirty="0"/>
          </a:p>
        </p:txBody>
      </p:sp>
      <p:sp>
        <p:nvSpPr>
          <p:cNvPr id="15" name="Text 13"/>
          <p:cNvSpPr txBox="1"/>
          <p:nvPr/>
        </p:nvSpPr>
        <p:spPr>
          <a:xfrm>
            <a:off x="3822192" y="2871216"/>
            <a:ext cx="2304288" cy="658368"/>
          </a:xfrm>
          <a:prstGeom prst="rect">
            <a:avLst/>
          </a:prstGeom>
          <a:noFill/>
          <a:ln/>
        </p:spPr>
        <p:txBody>
          <a:bodyPr wrap="square" lIns="0" tIns="0" rIns="0" bIns="0" rtlCol="0" anchor="ctr"/>
          <a:lstStyle/>
          <a:p>
            <a:pPr indent="0" marL="0">
              <a:lnSpc>
                <a:spcPts val="1400"/>
              </a:lnSpc>
              <a:buNone/>
            </a:pPr>
            <a:r>
              <a:rPr lang="en-US" sz="1050" i="1" dirty="0">
                <a:solidFill>
                  <a:srgbClr val="82796A"/>
                </a:solidFill>
                <a:latin typeface="Arial" pitchFamily="34" charset="0"/>
                <a:ea typeface="Arial" pitchFamily="34" charset="-122"/>
                <a:cs typeface="Arial" pitchFamily="34" charset="-120"/>
              </a:rPr>
              <a:t>Legal-Onto · Rela-model · COKB · KG luật lao động</a:t>
            </a:r>
            <a:endParaRPr lang="en-US" sz="1050" dirty="0"/>
          </a:p>
        </p:txBody>
      </p:sp>
      <p:sp>
        <p:nvSpPr>
          <p:cNvPr id="16" name="Shape 14"/>
          <p:cNvSpPr/>
          <p:nvPr/>
        </p:nvSpPr>
        <p:spPr>
          <a:xfrm>
            <a:off x="3822192" y="3584448"/>
            <a:ext cx="2304288" cy="10973"/>
          </a:xfrm>
          <a:prstGeom prst="rect">
            <a:avLst/>
          </a:prstGeom>
          <a:solidFill>
            <a:srgbClr val="DCD3C4"/>
          </a:solidFill>
          <a:ln/>
        </p:spPr>
      </p:sp>
      <p:sp>
        <p:nvSpPr>
          <p:cNvPr id="17" name="Text 15"/>
          <p:cNvSpPr txBox="1"/>
          <p:nvPr/>
        </p:nvSpPr>
        <p:spPr>
          <a:xfrm>
            <a:off x="3822192" y="3675888"/>
            <a:ext cx="2304288" cy="731520"/>
          </a:xfrm>
          <a:prstGeom prst="rect">
            <a:avLst/>
          </a:prstGeom>
          <a:noFill/>
          <a:ln/>
        </p:spPr>
        <p:txBody>
          <a:bodyPr wrap="square" lIns="0" tIns="0" rIns="0" bIns="0" rtlCol="0" anchor="ctr"/>
          <a:lstStyle/>
          <a:p>
            <a:pPr indent="0" marL="0">
              <a:lnSpc>
                <a:spcPts val="1400"/>
              </a:lnSpc>
              <a:buNone/>
            </a:pPr>
            <a:r>
              <a:rPr lang="en-US" sz="1050" dirty="0">
                <a:solidFill>
                  <a:srgbClr val="8C491A"/>
                </a:solidFill>
                <a:latin typeface="Arial" pitchFamily="34" charset="0"/>
                <a:ea typeface="Arial" pitchFamily="34" charset="-122"/>
                <a:cs typeface="Arial" pitchFamily="34" charset="-120"/>
              </a:rPr>
              <a:t>Chưa có suy diễn số học, chưa phủ GTĐB 2024–2026</a:t>
            </a:r>
            <a:endParaRPr lang="en-US" sz="1050" dirty="0"/>
          </a:p>
        </p:txBody>
      </p:sp>
      <p:sp>
        <p:nvSpPr>
          <p:cNvPr id="18" name="Shape 16"/>
          <p:cNvSpPr/>
          <p:nvPr/>
        </p:nvSpPr>
        <p:spPr>
          <a:xfrm>
            <a:off x="6519672" y="1554480"/>
            <a:ext cx="2743200" cy="3017520"/>
          </a:xfrm>
          <a:prstGeom prst="roundRect">
            <a:avLst>
              <a:gd name="adj" fmla="val 4667"/>
            </a:avLst>
          </a:prstGeom>
          <a:solidFill>
            <a:srgbClr val="F9F4ED"/>
          </a:solidFill>
          <a:ln w="12700">
            <a:solidFill>
              <a:srgbClr val="DCD3C4"/>
            </a:solidFill>
            <a:prstDash val="solid"/>
          </a:ln>
        </p:spPr>
      </p:sp>
      <p:sp>
        <p:nvSpPr>
          <p:cNvPr id="19" name="Shape 17"/>
          <p:cNvSpPr/>
          <p:nvPr/>
        </p:nvSpPr>
        <p:spPr>
          <a:xfrm>
            <a:off x="6519672" y="1554480"/>
            <a:ext cx="2743200" cy="64008"/>
          </a:xfrm>
          <a:prstGeom prst="rect">
            <a:avLst/>
          </a:prstGeom>
          <a:solidFill>
            <a:srgbClr val="C67139"/>
          </a:solidFill>
          <a:ln/>
        </p:spPr>
      </p:sp>
      <p:sp>
        <p:nvSpPr>
          <p:cNvPr id="20" name="Text 18"/>
          <p:cNvSpPr txBox="1"/>
          <p:nvPr/>
        </p:nvSpPr>
        <p:spPr>
          <a:xfrm>
            <a:off x="6739128" y="1755648"/>
            <a:ext cx="2304288" cy="603504"/>
          </a:xfrm>
          <a:prstGeom prst="rect">
            <a:avLst/>
          </a:prstGeom>
          <a:noFill/>
          <a:ln/>
        </p:spPr>
        <p:txBody>
          <a:bodyPr wrap="square" lIns="0" tIns="0" rIns="0" bIns="0" rtlCol="0" anchor="ctr"/>
          <a:lstStyle/>
          <a:p>
            <a:pPr indent="0" marL="0">
              <a:lnSpc>
                <a:spcPts val="1700"/>
              </a:lnSpc>
              <a:buNone/>
            </a:pPr>
            <a:r>
              <a:rPr lang="en-US" sz="1400" b="1" dirty="0">
                <a:solidFill>
                  <a:srgbClr val="201E1D"/>
                </a:solidFill>
                <a:latin typeface="Arial" pitchFamily="34" charset="0"/>
                <a:ea typeface="Arial" pitchFamily="34" charset="-122"/>
                <a:cs typeface="Arial" pitchFamily="34" charset="-120"/>
              </a:rPr>
              <a:t>RAG &amp;</a:t>
            </a:r>
            <a:endParaRPr lang="en-US" sz="1400" dirty="0"/>
          </a:p>
          <a:p>
            <a:pPr indent="0" marL="0">
              <a:lnSpc>
                <a:spcPts val="1700"/>
              </a:lnSpc>
              <a:buNone/>
            </a:pPr>
            <a:r>
              <a:rPr lang="en-US" sz="1400" b="1" dirty="0">
                <a:solidFill>
                  <a:srgbClr val="201E1D"/>
                </a:solidFill>
                <a:latin typeface="Arial" pitchFamily="34" charset="0"/>
                <a:ea typeface="Arial" pitchFamily="34" charset="-122"/>
                <a:cs typeface="Arial" pitchFamily="34" charset="-120"/>
              </a:rPr>
              <a:t>mô hình ngôn ngữ lớn</a:t>
            </a:r>
            <a:endParaRPr lang="en-US" sz="1400" dirty="0"/>
          </a:p>
        </p:txBody>
      </p:sp>
      <p:sp>
        <p:nvSpPr>
          <p:cNvPr id="21" name="Text 19"/>
          <p:cNvSpPr txBox="1"/>
          <p:nvPr/>
        </p:nvSpPr>
        <p:spPr>
          <a:xfrm>
            <a:off x="6739128" y="2395728"/>
            <a:ext cx="2304288" cy="457200"/>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Tri thức lấy từ truy hồi, câu chữ do MÔ HÌNH SINH</a:t>
            </a:r>
            <a:endParaRPr lang="en-US" sz="1100" dirty="0"/>
          </a:p>
        </p:txBody>
      </p:sp>
      <p:sp>
        <p:nvSpPr>
          <p:cNvPr id="22" name="Text 20"/>
          <p:cNvSpPr txBox="1"/>
          <p:nvPr/>
        </p:nvSpPr>
        <p:spPr>
          <a:xfrm>
            <a:off x="6739128" y="2871216"/>
            <a:ext cx="2304288" cy="658368"/>
          </a:xfrm>
          <a:prstGeom prst="rect">
            <a:avLst/>
          </a:prstGeom>
          <a:noFill/>
          <a:ln/>
        </p:spPr>
        <p:txBody>
          <a:bodyPr wrap="square" lIns="0" tIns="0" rIns="0" bIns="0" rtlCol="0" anchor="ctr"/>
          <a:lstStyle/>
          <a:p>
            <a:pPr indent="0" marL="0">
              <a:lnSpc>
                <a:spcPts val="1400"/>
              </a:lnSpc>
              <a:buNone/>
            </a:pPr>
            <a:r>
              <a:rPr lang="en-US" sz="1050" i="1" dirty="0">
                <a:solidFill>
                  <a:srgbClr val="82796A"/>
                </a:solidFill>
                <a:latin typeface="Arial" pitchFamily="34" charset="0"/>
                <a:ea typeface="Arial" pitchFamily="34" charset="-122"/>
                <a:cs typeface="Arial" pitchFamily="34" charset="-120"/>
              </a:rPr>
              <a:t>KG+RAG luật VN · agent ReAct pháp lý</a:t>
            </a:r>
            <a:endParaRPr lang="en-US" sz="1050" dirty="0"/>
          </a:p>
        </p:txBody>
      </p:sp>
      <p:sp>
        <p:nvSpPr>
          <p:cNvPr id="23" name="Shape 21"/>
          <p:cNvSpPr/>
          <p:nvPr/>
        </p:nvSpPr>
        <p:spPr>
          <a:xfrm>
            <a:off x="6739128" y="3584448"/>
            <a:ext cx="2304288" cy="10973"/>
          </a:xfrm>
          <a:prstGeom prst="rect">
            <a:avLst/>
          </a:prstGeom>
          <a:solidFill>
            <a:srgbClr val="DCD3C4"/>
          </a:solidFill>
          <a:ln/>
        </p:spPr>
      </p:sp>
      <p:sp>
        <p:nvSpPr>
          <p:cNvPr id="24" name="Text 22"/>
          <p:cNvSpPr txBox="1"/>
          <p:nvPr/>
        </p:nvSpPr>
        <p:spPr>
          <a:xfrm>
            <a:off x="6739128" y="3675888"/>
            <a:ext cx="2304288" cy="731520"/>
          </a:xfrm>
          <a:prstGeom prst="rect">
            <a:avLst/>
          </a:prstGeom>
          <a:noFill/>
          <a:ln/>
        </p:spPr>
        <p:txBody>
          <a:bodyPr wrap="square" lIns="0" tIns="0" rIns="0" bIns="0" rtlCol="0" anchor="ctr"/>
          <a:lstStyle/>
          <a:p>
            <a:pPr indent="0" marL="0">
              <a:lnSpc>
                <a:spcPts val="1400"/>
              </a:lnSpc>
              <a:buNone/>
            </a:pPr>
            <a:r>
              <a:rPr lang="en-US" sz="1050" dirty="0">
                <a:solidFill>
                  <a:srgbClr val="8C491A"/>
                </a:solidFill>
                <a:latin typeface="Arial" pitchFamily="34" charset="0"/>
                <a:ea typeface="Arial" pitchFamily="34" charset="-122"/>
                <a:cs typeface="Arial" pitchFamily="34" charset="-120"/>
              </a:rPr>
              <a:t>Công cụ thương mại vẫn ảo giác 17–33%</a:t>
            </a:r>
            <a:endParaRPr lang="en-US" sz="1050" dirty="0"/>
          </a:p>
        </p:txBody>
      </p:sp>
      <p:sp>
        <p:nvSpPr>
          <p:cNvPr id="25" name="Shape 23"/>
          <p:cNvSpPr/>
          <p:nvPr/>
        </p:nvSpPr>
        <p:spPr>
          <a:xfrm>
            <a:off x="9436608" y="1554480"/>
            <a:ext cx="2743200" cy="3017520"/>
          </a:xfrm>
          <a:prstGeom prst="roundRect">
            <a:avLst>
              <a:gd name="adj" fmla="val 4667"/>
            </a:avLst>
          </a:prstGeom>
          <a:solidFill>
            <a:srgbClr val="F9F4ED"/>
          </a:solidFill>
          <a:ln w="12700">
            <a:solidFill>
              <a:srgbClr val="DCD3C4"/>
            </a:solidFill>
            <a:prstDash val="solid"/>
          </a:ln>
        </p:spPr>
      </p:sp>
      <p:sp>
        <p:nvSpPr>
          <p:cNvPr id="26" name="Shape 24"/>
          <p:cNvSpPr/>
          <p:nvPr/>
        </p:nvSpPr>
        <p:spPr>
          <a:xfrm>
            <a:off x="9436608" y="1554480"/>
            <a:ext cx="2743200" cy="64008"/>
          </a:xfrm>
          <a:prstGeom prst="rect">
            <a:avLst/>
          </a:prstGeom>
          <a:solidFill>
            <a:srgbClr val="7A8A5E"/>
          </a:solidFill>
          <a:ln/>
        </p:spPr>
      </p:sp>
      <p:sp>
        <p:nvSpPr>
          <p:cNvPr id="27" name="Text 25"/>
          <p:cNvSpPr txBox="1"/>
          <p:nvPr/>
        </p:nvSpPr>
        <p:spPr>
          <a:xfrm>
            <a:off x="9656064" y="1755648"/>
            <a:ext cx="2304288" cy="603504"/>
          </a:xfrm>
          <a:prstGeom prst="rect">
            <a:avLst/>
          </a:prstGeom>
          <a:noFill/>
          <a:ln/>
        </p:spPr>
        <p:txBody>
          <a:bodyPr wrap="square" lIns="0" tIns="0" rIns="0" bIns="0" rtlCol="0" anchor="ctr"/>
          <a:lstStyle/>
          <a:p>
            <a:pPr indent="0" marL="0">
              <a:lnSpc>
                <a:spcPts val="1700"/>
              </a:lnSpc>
              <a:buNone/>
            </a:pPr>
            <a:r>
              <a:rPr lang="en-US" sz="1400" b="1" dirty="0">
                <a:solidFill>
                  <a:srgbClr val="201E1D"/>
                </a:solidFill>
                <a:latin typeface="Arial" pitchFamily="34" charset="0"/>
                <a:ea typeface="Arial" pitchFamily="34" charset="-122"/>
                <a:cs typeface="Arial" pitchFamily="34" charset="-120"/>
              </a:rPr>
              <a:t>Hiệu lực theo</a:t>
            </a:r>
            <a:endParaRPr lang="en-US" sz="1400" dirty="0"/>
          </a:p>
          <a:p>
            <a:pPr indent="0" marL="0">
              <a:lnSpc>
                <a:spcPts val="1700"/>
              </a:lnSpc>
              <a:buNone/>
            </a:pPr>
            <a:r>
              <a:rPr lang="en-US" sz="1400" b="1" dirty="0">
                <a:solidFill>
                  <a:srgbClr val="201E1D"/>
                </a:solidFill>
                <a:latin typeface="Arial" pitchFamily="34" charset="0"/>
                <a:ea typeface="Arial" pitchFamily="34" charset="-122"/>
                <a:cs typeface="Arial" pitchFamily="34" charset="-120"/>
              </a:rPr>
              <a:t>thời gian</a:t>
            </a:r>
            <a:endParaRPr lang="en-US" sz="1400" dirty="0"/>
          </a:p>
        </p:txBody>
      </p:sp>
      <p:sp>
        <p:nvSpPr>
          <p:cNvPr id="28" name="Text 26"/>
          <p:cNvSpPr txBox="1"/>
          <p:nvPr/>
        </p:nvSpPr>
        <p:spPr>
          <a:xfrm>
            <a:off x="9656064" y="2395728"/>
            <a:ext cx="2304288" cy="457200"/>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Tri thức có CHIỀU THỜI GIAN</a:t>
            </a:r>
            <a:endParaRPr lang="en-US" sz="1100" dirty="0"/>
          </a:p>
        </p:txBody>
      </p:sp>
      <p:sp>
        <p:nvSpPr>
          <p:cNvPr id="29" name="Text 27"/>
          <p:cNvSpPr txBox="1"/>
          <p:nvPr/>
        </p:nvSpPr>
        <p:spPr>
          <a:xfrm>
            <a:off x="9656064" y="2871216"/>
            <a:ext cx="2304288" cy="658368"/>
          </a:xfrm>
          <a:prstGeom prst="rect">
            <a:avLst/>
          </a:prstGeom>
          <a:noFill/>
          <a:ln/>
        </p:spPr>
        <p:txBody>
          <a:bodyPr wrap="square" lIns="0" tIns="0" rIns="0" bIns="0" rtlCol="0" anchor="ctr"/>
          <a:lstStyle/>
          <a:p>
            <a:pPr indent="0" marL="0">
              <a:lnSpc>
                <a:spcPts val="1400"/>
              </a:lnSpc>
              <a:buNone/>
            </a:pPr>
            <a:r>
              <a:rPr lang="en-US" sz="1050" i="1" dirty="0">
                <a:solidFill>
                  <a:srgbClr val="82796A"/>
                </a:solidFill>
                <a:latin typeface="Arial" pitchFamily="34" charset="0"/>
                <a:ea typeface="Arial" pitchFamily="34" charset="-122"/>
                <a:cs typeface="Arial" pitchFamily="34" charset="-120"/>
              </a:rPr>
              <a:t>Logic khả bác · LegalRuleML · SAT-Graph RAG</a:t>
            </a:r>
            <a:endParaRPr lang="en-US" sz="1050" dirty="0"/>
          </a:p>
        </p:txBody>
      </p:sp>
      <p:sp>
        <p:nvSpPr>
          <p:cNvPr id="30" name="Shape 28"/>
          <p:cNvSpPr/>
          <p:nvPr/>
        </p:nvSpPr>
        <p:spPr>
          <a:xfrm>
            <a:off x="9656064" y="3584448"/>
            <a:ext cx="2304288" cy="10973"/>
          </a:xfrm>
          <a:prstGeom prst="rect">
            <a:avLst/>
          </a:prstGeom>
          <a:solidFill>
            <a:srgbClr val="DCD3C4"/>
          </a:solidFill>
          <a:ln/>
        </p:spPr>
      </p:sp>
      <p:sp>
        <p:nvSpPr>
          <p:cNvPr id="31" name="Text 29"/>
          <p:cNvSpPr txBox="1"/>
          <p:nvPr/>
        </p:nvSpPr>
        <p:spPr>
          <a:xfrm>
            <a:off x="9656064" y="3675888"/>
            <a:ext cx="2304288" cy="731520"/>
          </a:xfrm>
          <a:prstGeom prst="rect">
            <a:avLst/>
          </a:prstGeom>
          <a:noFill/>
          <a:ln/>
        </p:spPr>
        <p:txBody>
          <a:bodyPr wrap="square" lIns="0" tIns="0" rIns="0" bIns="0" rtlCol="0" anchor="ctr"/>
          <a:lstStyle/>
          <a:p>
            <a:pPr indent="0" marL="0">
              <a:lnSpc>
                <a:spcPts val="1400"/>
              </a:lnSpc>
              <a:buNone/>
            </a:pPr>
            <a:r>
              <a:rPr lang="en-US" sz="1050" dirty="0">
                <a:solidFill>
                  <a:srgbClr val="8C491A"/>
                </a:solidFill>
                <a:latin typeface="Arial" pitchFamily="34" charset="0"/>
                <a:ea typeface="Arial" pitchFamily="34" charset="-122"/>
                <a:cs typeface="Arial" pitchFamily="34" charset="-120"/>
              </a:rPr>
              <a:t>Phía VN mới dừng ở đối sánh hai phiên bản luật</a:t>
            </a:r>
            <a:endParaRPr lang="en-US" sz="1050" dirty="0"/>
          </a:p>
        </p:txBody>
      </p:sp>
      <p:sp>
        <p:nvSpPr>
          <p:cNvPr id="32" name="Shape 30"/>
          <p:cNvSpPr/>
          <p:nvPr/>
        </p:nvSpPr>
        <p:spPr>
          <a:xfrm>
            <a:off x="685800" y="4773168"/>
            <a:ext cx="1920240" cy="274320"/>
          </a:xfrm>
          <a:prstGeom prst="roundRect">
            <a:avLst>
              <a:gd name="adj" fmla="val 50000"/>
            </a:avLst>
          </a:prstGeom>
          <a:solidFill>
            <a:srgbClr val="C67139"/>
          </a:solidFill>
          <a:ln/>
        </p:spPr>
      </p:sp>
      <p:sp>
        <p:nvSpPr>
          <p:cNvPr id="33" name="Text 31"/>
          <p:cNvSpPr txBox="1"/>
          <p:nvPr/>
        </p:nvSpPr>
        <p:spPr>
          <a:xfrm>
            <a:off x="685800" y="4773168"/>
            <a:ext cx="1920240"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CÁC BỘ DỮ LIỆU ĐÃ CÓ</a:t>
            </a:r>
            <a:endParaRPr lang="en-US" sz="1000" dirty="0"/>
          </a:p>
        </p:txBody>
      </p:sp>
      <p:sp>
        <p:nvSpPr>
          <p:cNvPr id="34" name="Text 32"/>
          <p:cNvSpPr txBox="1"/>
          <p:nvPr/>
        </p:nvSpPr>
        <p:spPr>
          <a:xfrm>
            <a:off x="685800" y="5120640"/>
            <a:ext cx="274320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VLQA / DRILL</a:t>
            </a:r>
            <a:endParaRPr lang="en-US" sz="1150" dirty="0"/>
          </a:p>
        </p:txBody>
      </p:sp>
      <p:sp>
        <p:nvSpPr>
          <p:cNvPr id="35" name="Text 33"/>
          <p:cNvSpPr txBox="1"/>
          <p:nvPr/>
        </p:nvSpPr>
        <p:spPr>
          <a:xfrm>
            <a:off x="3474720" y="5120640"/>
            <a:ext cx="42062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3.129 câu hỏi · 59.636 điều luật · 27 lĩnh vực</a:t>
            </a:r>
            <a:endParaRPr lang="en-US" sz="1150" dirty="0"/>
          </a:p>
        </p:txBody>
      </p:sp>
      <p:sp>
        <p:nvSpPr>
          <p:cNvPr id="36" name="Text 34"/>
          <p:cNvSpPr txBox="1"/>
          <p:nvPr/>
        </p:nvSpPr>
        <p:spPr>
          <a:xfrm>
            <a:off x="7772400" y="5120640"/>
            <a:ext cx="3749040" cy="274320"/>
          </a:xfrm>
          <a:prstGeom prst="rect">
            <a:avLst/>
          </a:prstGeom>
          <a:noFill/>
          <a:ln/>
        </p:spPr>
        <p:txBody>
          <a:bodyPr wrap="square" lIns="0" tIns="0" rIns="0" bIns="0" rtlCol="0" anchor="ctr"/>
          <a:lstStyle/>
          <a:p>
            <a:pPr indent="0" marL="0">
              <a:buNone/>
            </a:pPr>
            <a:r>
              <a:rPr lang="en-US" sz="1150" i="1" dirty="0">
                <a:solidFill>
                  <a:srgbClr val="82796A"/>
                </a:solidFill>
                <a:latin typeface="Arial" pitchFamily="34" charset="0"/>
                <a:ea typeface="Arial" pitchFamily="34" charset="-122"/>
                <a:cs typeface="Arial" pitchFamily="34" charset="-120"/>
              </a:rPr>
              <a:t>gán nhãn ở mức ĐIỀU</a:t>
            </a:r>
            <a:endParaRPr lang="en-US" sz="1150" dirty="0"/>
          </a:p>
        </p:txBody>
      </p:sp>
      <p:sp>
        <p:nvSpPr>
          <p:cNvPr id="37" name="Text 35"/>
          <p:cNvSpPr txBox="1"/>
          <p:nvPr/>
        </p:nvSpPr>
        <p:spPr>
          <a:xfrm>
            <a:off x="685800" y="5413248"/>
            <a:ext cx="274320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MLQA-TSR (VLSP 2025)</a:t>
            </a:r>
            <a:endParaRPr lang="en-US" sz="1150" dirty="0"/>
          </a:p>
        </p:txBody>
      </p:sp>
      <p:sp>
        <p:nvSpPr>
          <p:cNvPr id="38" name="Text 36"/>
          <p:cNvSpPr txBox="1"/>
          <p:nvPr/>
        </p:nvSpPr>
        <p:spPr>
          <a:xfrm>
            <a:off x="3474720" y="5413248"/>
            <a:ext cx="42062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776 câu hỏi · 402 điều · 498 ảnh biển báo</a:t>
            </a:r>
            <a:endParaRPr lang="en-US" sz="1150" dirty="0"/>
          </a:p>
        </p:txBody>
      </p:sp>
      <p:sp>
        <p:nvSpPr>
          <p:cNvPr id="39" name="Text 37"/>
          <p:cNvSpPr txBox="1"/>
          <p:nvPr/>
        </p:nvSpPr>
        <p:spPr>
          <a:xfrm>
            <a:off x="7772400" y="5413248"/>
            <a:ext cx="3749040" cy="274320"/>
          </a:xfrm>
          <a:prstGeom prst="rect">
            <a:avLst/>
          </a:prstGeom>
          <a:noFill/>
          <a:ln/>
        </p:spPr>
        <p:txBody>
          <a:bodyPr wrap="square" lIns="0" tIns="0" rIns="0" bIns="0" rtlCol="0" anchor="ctr"/>
          <a:lstStyle/>
          <a:p>
            <a:pPr indent="0" marL="0">
              <a:buNone/>
            </a:pPr>
            <a:r>
              <a:rPr lang="en-US" sz="1150" i="1" dirty="0">
                <a:solidFill>
                  <a:srgbClr val="82796A"/>
                </a:solidFill>
                <a:latin typeface="Arial" pitchFamily="34" charset="0"/>
                <a:ea typeface="Arial" pitchFamily="34" charset="-122"/>
                <a:cs typeface="Arial" pitchFamily="34" charset="-120"/>
              </a:rPr>
              <a:t>đa phương thức ảnh – văn bản</a:t>
            </a:r>
            <a:endParaRPr lang="en-US" sz="1150" dirty="0"/>
          </a:p>
        </p:txBody>
      </p:sp>
      <p:sp>
        <p:nvSpPr>
          <p:cNvPr id="40" name="Text 38"/>
          <p:cNvSpPr txBox="1"/>
          <p:nvPr/>
        </p:nvSpPr>
        <p:spPr>
          <a:xfrm>
            <a:off x="685800" y="5705856"/>
            <a:ext cx="274320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COLIEE (Task 3–4)</a:t>
            </a:r>
            <a:endParaRPr lang="en-US" sz="1150" dirty="0"/>
          </a:p>
        </p:txBody>
      </p:sp>
      <p:sp>
        <p:nvSpPr>
          <p:cNvPr id="41" name="Text 39"/>
          <p:cNvSpPr txBox="1"/>
          <p:nvPr/>
        </p:nvSpPr>
        <p:spPr>
          <a:xfrm>
            <a:off x="3474720" y="5705856"/>
            <a:ext cx="42062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768 điều Bộ luật Dân sự Nhật</a:t>
            </a:r>
            <a:endParaRPr lang="en-US" sz="1150" dirty="0"/>
          </a:p>
        </p:txBody>
      </p:sp>
      <p:sp>
        <p:nvSpPr>
          <p:cNvPr id="42" name="Text 40"/>
          <p:cNvSpPr txBox="1"/>
          <p:nvPr/>
        </p:nvSpPr>
        <p:spPr>
          <a:xfrm>
            <a:off x="7772400" y="5705856"/>
            <a:ext cx="3749040" cy="274320"/>
          </a:xfrm>
          <a:prstGeom prst="rect">
            <a:avLst/>
          </a:prstGeom>
          <a:noFill/>
          <a:ln/>
        </p:spPr>
        <p:txBody>
          <a:bodyPr wrap="square" lIns="0" tIns="0" rIns="0" bIns="0" rtlCol="0" anchor="ctr"/>
          <a:lstStyle/>
          <a:p>
            <a:pPr indent="0" marL="0">
              <a:buNone/>
            </a:pPr>
            <a:r>
              <a:rPr lang="en-US" sz="1150" i="1" dirty="0">
                <a:solidFill>
                  <a:srgbClr val="82796A"/>
                </a:solidFill>
                <a:latin typeface="Arial" pitchFamily="34" charset="0"/>
                <a:ea typeface="Arial" pitchFamily="34" charset="-122"/>
                <a:cs typeface="Arial" pitchFamily="34" charset="-120"/>
              </a:rPr>
              <a:t>khác hệ thống pháp luật</a:t>
            </a:r>
            <a:endParaRPr lang="en-US" sz="1150" dirty="0"/>
          </a:p>
        </p:txBody>
      </p:sp>
      <p:sp>
        <p:nvSpPr>
          <p:cNvPr id="43" name="Text 41"/>
          <p:cNvSpPr txBox="1"/>
          <p:nvPr/>
        </p:nvSpPr>
        <p:spPr>
          <a:xfrm>
            <a:off x="685800" y="5998464"/>
            <a:ext cx="2743200" cy="274320"/>
          </a:xfrm>
          <a:prstGeom prst="rect">
            <a:avLst/>
          </a:prstGeom>
          <a:noFill/>
          <a:ln/>
        </p:spPr>
        <p:txBody>
          <a:bodyPr wrap="square" lIns="0" tIns="0" rIns="0" bIns="0" rtlCol="0" anchor="ctr"/>
          <a:lstStyle/>
          <a:p>
            <a:pPr indent="0" marL="0">
              <a:buNone/>
            </a:pPr>
            <a:r>
              <a:rPr lang="en-US" sz="1150" b="1" dirty="0">
                <a:solidFill>
                  <a:srgbClr val="8C491A"/>
                </a:solidFill>
                <a:latin typeface="Arial" pitchFamily="34" charset="0"/>
                <a:ea typeface="Arial" pitchFamily="34" charset="-122"/>
                <a:cs typeface="Arial" pitchFamily="34" charset="-120"/>
              </a:rPr>
              <a:t>Bộ dữ liệu của nhóm</a:t>
            </a:r>
            <a:endParaRPr lang="en-US" sz="1150" dirty="0"/>
          </a:p>
        </p:txBody>
      </p:sp>
      <p:sp>
        <p:nvSpPr>
          <p:cNvPr id="44" name="Text 42"/>
          <p:cNvSpPr txBox="1"/>
          <p:nvPr/>
        </p:nvSpPr>
        <p:spPr>
          <a:xfrm>
            <a:off x="3474720" y="5998464"/>
            <a:ext cx="42062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120 câu hỏi · GTĐB 2024–2026</a:t>
            </a:r>
            <a:endParaRPr lang="en-US" sz="1150" dirty="0"/>
          </a:p>
        </p:txBody>
      </p:sp>
      <p:sp>
        <p:nvSpPr>
          <p:cNvPr id="45" name="Text 43"/>
          <p:cNvSpPr txBox="1"/>
          <p:nvPr/>
        </p:nvSpPr>
        <p:spPr>
          <a:xfrm>
            <a:off x="7772400" y="5998464"/>
            <a:ext cx="3749040" cy="274320"/>
          </a:xfrm>
          <a:prstGeom prst="rect">
            <a:avLst/>
          </a:prstGeom>
          <a:noFill/>
          <a:ln/>
        </p:spPr>
        <p:txBody>
          <a:bodyPr wrap="square" lIns="0" tIns="0" rIns="0" bIns="0" rtlCol="0" anchor="ctr"/>
          <a:lstStyle/>
          <a:p>
            <a:pPr indent="0" marL="0">
              <a:buNone/>
            </a:pPr>
            <a:r>
              <a:rPr lang="en-US" sz="1150" i="1" dirty="0">
                <a:solidFill>
                  <a:srgbClr val="7A8A5E"/>
                </a:solidFill>
                <a:latin typeface="Arial" pitchFamily="34" charset="0"/>
                <a:ea typeface="Arial" pitchFamily="34" charset="-122"/>
                <a:cs typeface="Arial" pitchFamily="34" charset="-120"/>
              </a:rPr>
              <a:t>gán tới ĐỊNH DANH tri thức</a:t>
            </a:r>
            <a:endParaRPr lang="en-US" sz="1150" dirty="0"/>
          </a:p>
        </p:txBody>
      </p:sp>
      <p:sp>
        <p:nvSpPr>
          <p:cNvPr id="46" name="Text 44"/>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Chỉ ghi con số kiểm chứng được từ nguồn chính thức — ALQAC và Zalo 2021 để trống thay vì điền số ước đoán</a:t>
            </a:r>
            <a:endParaRPr lang="en-US" sz="1000" dirty="0"/>
          </a:p>
        </p:txBody>
      </p:sp>
      <p:sp>
        <p:nvSpPr>
          <p:cNvPr id="47" name="Text 45"/>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2 · CÔNG TRÌNH LIÊN QUAN</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Khoảng trống — và chỗ nhóm đứng vào</a:t>
            </a:r>
            <a:endParaRPr lang="en-US" sz="3000" dirty="0"/>
          </a:p>
        </p:txBody>
      </p:sp>
      <p:sp>
        <p:nvSpPr>
          <p:cNvPr id="4" name="Shape 2"/>
          <p:cNvSpPr/>
          <p:nvPr/>
        </p:nvSpPr>
        <p:spPr>
          <a:xfrm>
            <a:off x="685800" y="1536192"/>
            <a:ext cx="10820095" cy="694944"/>
          </a:xfrm>
          <a:prstGeom prst="roundRect">
            <a:avLst>
              <a:gd name="adj" fmla="val 18421"/>
            </a:avLst>
          </a:prstGeom>
          <a:solidFill>
            <a:srgbClr val="F9F4ED"/>
          </a:solidFill>
          <a:ln w="12700">
            <a:solidFill>
              <a:srgbClr val="DCD3C4"/>
            </a:solidFill>
            <a:prstDash val="solid"/>
          </a:ln>
        </p:spPr>
      </p:sp>
      <p:sp>
        <p:nvSpPr>
          <p:cNvPr id="5" name="Shape 3"/>
          <p:cNvSpPr/>
          <p:nvPr/>
        </p:nvSpPr>
        <p:spPr>
          <a:xfrm>
            <a:off x="905256" y="1746504"/>
            <a:ext cx="1188720" cy="274320"/>
          </a:xfrm>
          <a:prstGeom prst="roundRect">
            <a:avLst>
              <a:gd name="adj" fmla="val 50000"/>
            </a:avLst>
          </a:prstGeom>
          <a:solidFill>
            <a:srgbClr val="C67139"/>
          </a:solidFill>
          <a:ln/>
        </p:spPr>
      </p:sp>
      <p:sp>
        <p:nvSpPr>
          <p:cNvPr id="6" name="Text 4"/>
          <p:cNvSpPr txBox="1"/>
          <p:nvPr/>
        </p:nvSpPr>
        <p:spPr>
          <a:xfrm>
            <a:off x="905256" y="1746504"/>
            <a:ext cx="118872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MIỀN</a:t>
            </a:r>
            <a:endParaRPr lang="en-US" sz="900" dirty="0"/>
          </a:p>
        </p:txBody>
      </p:sp>
      <p:sp>
        <p:nvSpPr>
          <p:cNvPr id="7" name="Text 5"/>
          <p:cNvSpPr txBox="1"/>
          <p:nvPr/>
        </p:nvSpPr>
        <p:spPr>
          <a:xfrm>
            <a:off x="2258568" y="1627632"/>
            <a:ext cx="5760720" cy="274320"/>
          </a:xfrm>
          <a:prstGeom prst="rect">
            <a:avLst/>
          </a:prstGeom>
          <a:noFill/>
          <a:ln/>
        </p:spPr>
        <p:txBody>
          <a:bodyPr wrap="square" lIns="0" tIns="0" rIns="0" bIns="0" rtlCol="0" anchor="ctr"/>
          <a:lstStyle/>
          <a:p>
            <a:pPr indent="0" marL="0">
              <a:buNone/>
            </a:pPr>
            <a:r>
              <a:rPr lang="en-US" sz="1250" b="1" dirty="0">
                <a:solidFill>
                  <a:srgbClr val="201E1D"/>
                </a:solidFill>
                <a:latin typeface="Arial" pitchFamily="34" charset="0"/>
                <a:ea typeface="Arial" pitchFamily="34" charset="-122"/>
                <a:cs typeface="Arial" pitchFamily="34" charset="-120"/>
              </a:rPr>
              <a:t>Chưa có hệ tra cứu tri thức cho GTĐB Việt Nam theo khung 2024–2026</a:t>
            </a:r>
            <a:endParaRPr lang="en-US" sz="1250" dirty="0"/>
          </a:p>
        </p:txBody>
      </p:sp>
      <p:sp>
        <p:nvSpPr>
          <p:cNvPr id="8" name="Text 6"/>
          <p:cNvSpPr txBox="1"/>
          <p:nvPr/>
        </p:nvSpPr>
        <p:spPr>
          <a:xfrm>
            <a:off x="2258568" y="1901952"/>
            <a:ext cx="5760720" cy="274320"/>
          </a:xfrm>
          <a:prstGeom prst="rect">
            <a:avLst/>
          </a:prstGeom>
          <a:noFill/>
          <a:ln/>
        </p:spPr>
        <p:txBody>
          <a:bodyPr wrap="square" lIns="0" tIns="0" rIns="0" bIns="0" rtlCol="0" anchor="ctr"/>
          <a:lstStyle/>
          <a:p>
            <a:pPr indent="0" marL="0">
              <a:buNone/>
            </a:pPr>
            <a:r>
              <a:rPr lang="en-US" sz="1100" dirty="0">
                <a:solidFill>
                  <a:srgbClr val="645C50"/>
                </a:solidFill>
                <a:latin typeface="Arial" pitchFamily="34" charset="0"/>
                <a:ea typeface="Arial" pitchFamily="34" charset="-122"/>
                <a:cs typeface="Arial" pitchFamily="34" charset="-120"/>
              </a:rPr>
              <a:t>Công trình KG cùng miền gần nhất dựa trên Luật 23/2008 đã hết hiệu lực</a:t>
            </a:r>
            <a:endParaRPr lang="en-US" sz="1100" dirty="0"/>
          </a:p>
        </p:txBody>
      </p:sp>
      <p:sp>
        <p:nvSpPr>
          <p:cNvPr id="9" name="Text 7"/>
          <p:cNvSpPr txBox="1"/>
          <p:nvPr/>
        </p:nvSpPr>
        <p:spPr>
          <a:xfrm>
            <a:off x="8183880" y="1691640"/>
            <a:ext cx="3102559" cy="420624"/>
          </a:xfrm>
          <a:prstGeom prst="rect">
            <a:avLst/>
          </a:prstGeom>
          <a:noFill/>
          <a:ln/>
        </p:spPr>
        <p:txBody>
          <a:bodyPr wrap="square" lIns="0" tIns="0" rIns="0" bIns="0" rtlCol="0" anchor="ctr"/>
          <a:lstStyle/>
          <a:p>
            <a:pPr indent="0" marL="0">
              <a:lnSpc>
                <a:spcPts val="1400"/>
              </a:lnSpc>
              <a:buNone/>
            </a:pPr>
            <a:r>
              <a:rPr lang="en-US" sz="1100" dirty="0">
                <a:solidFill>
                  <a:srgbClr val="8C491A"/>
                </a:solidFill>
                <a:latin typeface="Arial" pitchFamily="34" charset="0"/>
                <a:ea typeface="Arial" pitchFamily="34" charset="-122"/>
                <a:cs typeface="Arial" pitchFamily="34" charset="-120"/>
              </a:rPr>
              <a:t>→  Nhóm xây trên Luật 36/2024 + NĐ 168/2024 + hai văn bản sửa đổi</a:t>
            </a:r>
            <a:endParaRPr lang="en-US" sz="1100" dirty="0"/>
          </a:p>
        </p:txBody>
      </p:sp>
      <p:sp>
        <p:nvSpPr>
          <p:cNvPr id="10" name="Shape 8"/>
          <p:cNvSpPr/>
          <p:nvPr/>
        </p:nvSpPr>
        <p:spPr>
          <a:xfrm>
            <a:off x="685800" y="2322576"/>
            <a:ext cx="10820095" cy="694944"/>
          </a:xfrm>
          <a:prstGeom prst="roundRect">
            <a:avLst>
              <a:gd name="adj" fmla="val 18421"/>
            </a:avLst>
          </a:prstGeom>
          <a:solidFill>
            <a:srgbClr val="F9F4ED"/>
          </a:solidFill>
          <a:ln w="12700">
            <a:solidFill>
              <a:srgbClr val="DCD3C4"/>
            </a:solidFill>
            <a:prstDash val="solid"/>
          </a:ln>
        </p:spPr>
      </p:sp>
      <p:sp>
        <p:nvSpPr>
          <p:cNvPr id="11" name="Shape 9"/>
          <p:cNvSpPr/>
          <p:nvPr/>
        </p:nvSpPr>
        <p:spPr>
          <a:xfrm>
            <a:off x="905256" y="2532888"/>
            <a:ext cx="1188720" cy="274320"/>
          </a:xfrm>
          <a:prstGeom prst="roundRect">
            <a:avLst>
              <a:gd name="adj" fmla="val 50000"/>
            </a:avLst>
          </a:prstGeom>
          <a:solidFill>
            <a:srgbClr val="C67139"/>
          </a:solidFill>
          <a:ln/>
        </p:spPr>
      </p:sp>
      <p:sp>
        <p:nvSpPr>
          <p:cNvPr id="12" name="Text 10"/>
          <p:cNvSpPr txBox="1"/>
          <p:nvPr/>
        </p:nvSpPr>
        <p:spPr>
          <a:xfrm>
            <a:off x="905256" y="2532888"/>
            <a:ext cx="118872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ĐẦU RA</a:t>
            </a:r>
            <a:endParaRPr lang="en-US" sz="900" dirty="0"/>
          </a:p>
        </p:txBody>
      </p:sp>
      <p:sp>
        <p:nvSpPr>
          <p:cNvPr id="13" name="Text 11"/>
          <p:cNvSpPr txBox="1"/>
          <p:nvPr/>
        </p:nvSpPr>
        <p:spPr>
          <a:xfrm>
            <a:off x="2258568" y="2414016"/>
            <a:ext cx="5760720" cy="274320"/>
          </a:xfrm>
          <a:prstGeom prst="rect">
            <a:avLst/>
          </a:prstGeom>
          <a:noFill/>
          <a:ln/>
        </p:spPr>
        <p:txBody>
          <a:bodyPr wrap="square" lIns="0" tIns="0" rIns="0" bIns="0" rtlCol="0" anchor="ctr"/>
          <a:lstStyle/>
          <a:p>
            <a:pPr indent="0" marL="0">
              <a:buNone/>
            </a:pPr>
            <a:r>
              <a:rPr lang="en-US" sz="1250" b="1" dirty="0">
                <a:solidFill>
                  <a:srgbClr val="201E1D"/>
                </a:solidFill>
                <a:latin typeface="Arial" pitchFamily="34" charset="0"/>
                <a:ea typeface="Arial" pitchFamily="34" charset="-122"/>
                <a:cs typeface="Arial" pitchFamily="34" charset="-120"/>
              </a:rPr>
              <a:t>Các hệ hiện có trả về ĐOẠN VĂN BẢN, không phải tri thức có cấu trúc</a:t>
            </a:r>
            <a:endParaRPr lang="en-US" sz="1250" dirty="0"/>
          </a:p>
        </p:txBody>
      </p:sp>
      <p:sp>
        <p:nvSpPr>
          <p:cNvPr id="14" name="Text 12"/>
          <p:cNvSpPr txBox="1"/>
          <p:nvPr/>
        </p:nvSpPr>
        <p:spPr>
          <a:xfrm>
            <a:off x="2258568" y="2688336"/>
            <a:ext cx="5760720" cy="274320"/>
          </a:xfrm>
          <a:prstGeom prst="rect">
            <a:avLst/>
          </a:prstGeom>
          <a:noFill/>
          <a:ln/>
        </p:spPr>
        <p:txBody>
          <a:bodyPr wrap="square" lIns="0" tIns="0" rIns="0" bIns="0" rtlCol="0" anchor="ctr"/>
          <a:lstStyle/>
          <a:p>
            <a:pPr indent="0" marL="0">
              <a:buNone/>
            </a:pPr>
            <a:r>
              <a:rPr lang="en-US" sz="1100" dirty="0">
                <a:solidFill>
                  <a:srgbClr val="645C50"/>
                </a:solidFill>
                <a:latin typeface="Arial" pitchFamily="34" charset="0"/>
                <a:ea typeface="Arial" pitchFamily="34" charset="-122"/>
                <a:cs typeface="Arial" pitchFamily="34" charset="-120"/>
              </a:rPr>
              <a:t>Chấm ở mức “xếp hạng điều luật đúng” — không đo được khả năng giải trình</a:t>
            </a:r>
            <a:endParaRPr lang="en-US" sz="1100" dirty="0"/>
          </a:p>
        </p:txBody>
      </p:sp>
      <p:sp>
        <p:nvSpPr>
          <p:cNvPr id="15" name="Text 13"/>
          <p:cNvSpPr txBox="1"/>
          <p:nvPr/>
        </p:nvSpPr>
        <p:spPr>
          <a:xfrm>
            <a:off x="8183880" y="2478024"/>
            <a:ext cx="3102559" cy="420624"/>
          </a:xfrm>
          <a:prstGeom prst="rect">
            <a:avLst/>
          </a:prstGeom>
          <a:noFill/>
          <a:ln/>
        </p:spPr>
        <p:txBody>
          <a:bodyPr wrap="square" lIns="0" tIns="0" rIns="0" bIns="0" rtlCol="0" anchor="ctr"/>
          <a:lstStyle/>
          <a:p>
            <a:pPr indent="0" marL="0">
              <a:lnSpc>
                <a:spcPts val="1400"/>
              </a:lnSpc>
              <a:buNone/>
            </a:pPr>
            <a:r>
              <a:rPr lang="en-US" sz="1100" dirty="0">
                <a:solidFill>
                  <a:srgbClr val="8C491A"/>
                </a:solidFill>
                <a:latin typeface="Arial" pitchFamily="34" charset="0"/>
                <a:ea typeface="Arial" pitchFamily="34" charset="-122"/>
                <a:cs typeface="Arial" pitchFamily="34" charset="-120"/>
              </a:rPr>
              <a:t>→  Nhóm trả về khái niệm, quy tắc, hành vi + căn cứ điều–khoản–điểm</a:t>
            </a:r>
            <a:endParaRPr lang="en-US" sz="1100" dirty="0"/>
          </a:p>
        </p:txBody>
      </p:sp>
      <p:sp>
        <p:nvSpPr>
          <p:cNvPr id="16" name="Shape 14"/>
          <p:cNvSpPr/>
          <p:nvPr/>
        </p:nvSpPr>
        <p:spPr>
          <a:xfrm>
            <a:off x="685800" y="3108960"/>
            <a:ext cx="10820095" cy="694944"/>
          </a:xfrm>
          <a:prstGeom prst="roundRect">
            <a:avLst>
              <a:gd name="adj" fmla="val 18421"/>
            </a:avLst>
          </a:prstGeom>
          <a:solidFill>
            <a:srgbClr val="F9F4ED"/>
          </a:solidFill>
          <a:ln w="12700">
            <a:solidFill>
              <a:srgbClr val="DCD3C4"/>
            </a:solidFill>
            <a:prstDash val="solid"/>
          </a:ln>
        </p:spPr>
      </p:sp>
      <p:sp>
        <p:nvSpPr>
          <p:cNvPr id="17" name="Shape 15"/>
          <p:cNvSpPr/>
          <p:nvPr/>
        </p:nvSpPr>
        <p:spPr>
          <a:xfrm>
            <a:off x="905256" y="3319272"/>
            <a:ext cx="1188720" cy="274320"/>
          </a:xfrm>
          <a:prstGeom prst="roundRect">
            <a:avLst>
              <a:gd name="adj" fmla="val 50000"/>
            </a:avLst>
          </a:prstGeom>
          <a:solidFill>
            <a:srgbClr val="C67139"/>
          </a:solidFill>
          <a:ln/>
        </p:spPr>
      </p:sp>
      <p:sp>
        <p:nvSpPr>
          <p:cNvPr id="18" name="Text 16"/>
          <p:cNvSpPr txBox="1"/>
          <p:nvPr/>
        </p:nvSpPr>
        <p:spPr>
          <a:xfrm>
            <a:off x="905256" y="3319272"/>
            <a:ext cx="118872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SUY DIỄN</a:t>
            </a:r>
            <a:endParaRPr lang="en-US" sz="900" dirty="0"/>
          </a:p>
        </p:txBody>
      </p:sp>
      <p:sp>
        <p:nvSpPr>
          <p:cNvPr id="19" name="Text 17"/>
          <p:cNvSpPr txBox="1"/>
          <p:nvPr/>
        </p:nvSpPr>
        <p:spPr>
          <a:xfrm>
            <a:off x="2258568" y="3200400"/>
            <a:ext cx="5760720" cy="274320"/>
          </a:xfrm>
          <a:prstGeom prst="rect">
            <a:avLst/>
          </a:prstGeom>
          <a:noFill/>
          <a:ln/>
        </p:spPr>
        <p:txBody>
          <a:bodyPr wrap="square" lIns="0" tIns="0" rIns="0" bIns="0" rtlCol="0" anchor="ctr"/>
          <a:lstStyle/>
          <a:p>
            <a:pPr indent="0" marL="0">
              <a:buNone/>
            </a:pPr>
            <a:r>
              <a:rPr lang="en-US" sz="1250" b="1" dirty="0">
                <a:solidFill>
                  <a:srgbClr val="201E1D"/>
                </a:solidFill>
                <a:latin typeface="Arial" pitchFamily="34" charset="0"/>
                <a:ea typeface="Arial" pitchFamily="34" charset="-122"/>
                <a:cs typeface="Arial" pitchFamily="34" charset="-120"/>
              </a:rPr>
              <a:t>Chưa có công trình tiếng Việt ghép mô hình tri thức với suy diễn SỐ HỌC</a:t>
            </a:r>
            <a:endParaRPr lang="en-US" sz="1250" dirty="0"/>
          </a:p>
        </p:txBody>
      </p:sp>
      <p:sp>
        <p:nvSpPr>
          <p:cNvPr id="20" name="Text 18"/>
          <p:cNvSpPr txBox="1"/>
          <p:nvPr/>
        </p:nvSpPr>
        <p:spPr>
          <a:xfrm>
            <a:off x="2258568" y="3474720"/>
            <a:ext cx="5760720" cy="274320"/>
          </a:xfrm>
          <a:prstGeom prst="rect">
            <a:avLst/>
          </a:prstGeom>
          <a:noFill/>
          <a:ln/>
        </p:spPr>
        <p:txBody>
          <a:bodyPr wrap="square" lIns="0" tIns="0" rIns="0" bIns="0" rtlCol="0" anchor="ctr"/>
          <a:lstStyle/>
          <a:p>
            <a:pPr indent="0" marL="0">
              <a:buNone/>
            </a:pPr>
            <a:r>
              <a:rPr lang="en-US" sz="1100" dirty="0">
                <a:solidFill>
                  <a:srgbClr val="645C50"/>
                </a:solidFill>
                <a:latin typeface="Arial" pitchFamily="34" charset="0"/>
                <a:ea typeface="Arial" pitchFamily="34" charset="-122"/>
                <a:cs typeface="Arial" pitchFamily="34" charset="-120"/>
              </a:rPr>
              <a:t>GTĐB đòi hỏi tính mức phạt, thời hạn tước GPLX, điểm trừ theo điều kiện</a:t>
            </a:r>
            <a:endParaRPr lang="en-US" sz="1100" dirty="0"/>
          </a:p>
        </p:txBody>
      </p:sp>
      <p:sp>
        <p:nvSpPr>
          <p:cNvPr id="21" name="Text 19"/>
          <p:cNvSpPr txBox="1"/>
          <p:nvPr/>
        </p:nvSpPr>
        <p:spPr>
          <a:xfrm>
            <a:off x="8183880" y="3264408"/>
            <a:ext cx="3102559" cy="420624"/>
          </a:xfrm>
          <a:prstGeom prst="rect">
            <a:avLst/>
          </a:prstGeom>
          <a:noFill/>
          <a:ln/>
        </p:spPr>
        <p:txBody>
          <a:bodyPr wrap="square" lIns="0" tIns="0" rIns="0" bIns="0" rtlCol="0" anchor="ctr"/>
          <a:lstStyle/>
          <a:p>
            <a:pPr indent="0" marL="0">
              <a:lnSpc>
                <a:spcPts val="1400"/>
              </a:lnSpc>
              <a:buNone/>
            </a:pPr>
            <a:r>
              <a:rPr lang="en-US" sz="1100" dirty="0">
                <a:solidFill>
                  <a:srgbClr val="8C491A"/>
                </a:solidFill>
                <a:latin typeface="Arial" pitchFamily="34" charset="0"/>
                <a:ea typeface="Arial" pitchFamily="34" charset="-122"/>
                <a:cs typeface="Arial" pitchFamily="34" charset="-120"/>
              </a:rPr>
              <a:t>→  Nhóm có NumericReasoner rút ngưỡng từ chính nguyên văn điều khoản</a:t>
            </a:r>
            <a:endParaRPr lang="en-US" sz="1100" dirty="0"/>
          </a:p>
        </p:txBody>
      </p:sp>
      <p:sp>
        <p:nvSpPr>
          <p:cNvPr id="22" name="Shape 20"/>
          <p:cNvSpPr/>
          <p:nvPr/>
        </p:nvSpPr>
        <p:spPr>
          <a:xfrm>
            <a:off x="685800" y="3895344"/>
            <a:ext cx="10820095" cy="694944"/>
          </a:xfrm>
          <a:prstGeom prst="roundRect">
            <a:avLst>
              <a:gd name="adj" fmla="val 18421"/>
            </a:avLst>
          </a:prstGeom>
          <a:solidFill>
            <a:srgbClr val="F9F4ED"/>
          </a:solidFill>
          <a:ln w="12700">
            <a:solidFill>
              <a:srgbClr val="DCD3C4"/>
            </a:solidFill>
            <a:prstDash val="solid"/>
          </a:ln>
        </p:spPr>
      </p:sp>
      <p:sp>
        <p:nvSpPr>
          <p:cNvPr id="23" name="Shape 21"/>
          <p:cNvSpPr/>
          <p:nvPr/>
        </p:nvSpPr>
        <p:spPr>
          <a:xfrm>
            <a:off x="905256" y="4105656"/>
            <a:ext cx="1188720" cy="274320"/>
          </a:xfrm>
          <a:prstGeom prst="roundRect">
            <a:avLst>
              <a:gd name="adj" fmla="val 50000"/>
            </a:avLst>
          </a:prstGeom>
          <a:solidFill>
            <a:srgbClr val="C67139"/>
          </a:solidFill>
          <a:ln/>
        </p:spPr>
      </p:sp>
      <p:sp>
        <p:nvSpPr>
          <p:cNvPr id="24" name="Text 22"/>
          <p:cNvSpPr txBox="1"/>
          <p:nvPr/>
        </p:nvSpPr>
        <p:spPr>
          <a:xfrm>
            <a:off x="905256" y="4105656"/>
            <a:ext cx="118872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THỜI GIAN</a:t>
            </a:r>
            <a:endParaRPr lang="en-US" sz="900" dirty="0"/>
          </a:p>
        </p:txBody>
      </p:sp>
      <p:sp>
        <p:nvSpPr>
          <p:cNvPr id="25" name="Text 23"/>
          <p:cNvSpPr txBox="1"/>
          <p:nvPr/>
        </p:nvSpPr>
        <p:spPr>
          <a:xfrm>
            <a:off x="2258568" y="3986784"/>
            <a:ext cx="5760720" cy="274320"/>
          </a:xfrm>
          <a:prstGeom prst="rect">
            <a:avLst/>
          </a:prstGeom>
          <a:noFill/>
          <a:ln/>
        </p:spPr>
        <p:txBody>
          <a:bodyPr wrap="square" lIns="0" tIns="0" rIns="0" bIns="0" rtlCol="0" anchor="ctr"/>
          <a:lstStyle/>
          <a:p>
            <a:pPr indent="0" marL="0">
              <a:buNone/>
            </a:pPr>
            <a:r>
              <a:rPr lang="en-US" sz="1250" b="1" dirty="0">
                <a:solidFill>
                  <a:srgbClr val="201E1D"/>
                </a:solidFill>
                <a:latin typeface="Arial" pitchFamily="34" charset="0"/>
                <a:ea typeface="Arial" pitchFamily="34" charset="-122"/>
                <a:cs typeface="Arial" pitchFamily="34" charset="-120"/>
              </a:rPr>
              <a:t>Chưa mô hình hoá hiệu lực theo thời gian cho pháp luật Việt Nam</a:t>
            </a:r>
            <a:endParaRPr lang="en-US" sz="1250" dirty="0"/>
          </a:p>
        </p:txBody>
      </p:sp>
      <p:sp>
        <p:nvSpPr>
          <p:cNvPr id="26" name="Text 24"/>
          <p:cNvSpPr txBox="1"/>
          <p:nvPr/>
        </p:nvSpPr>
        <p:spPr>
          <a:xfrm>
            <a:off x="2258568" y="4261104"/>
            <a:ext cx="5760720" cy="274320"/>
          </a:xfrm>
          <a:prstGeom prst="rect">
            <a:avLst/>
          </a:prstGeom>
          <a:noFill/>
          <a:ln/>
        </p:spPr>
        <p:txBody>
          <a:bodyPr wrap="square" lIns="0" tIns="0" rIns="0" bIns="0" rtlCol="0" anchor="ctr"/>
          <a:lstStyle/>
          <a:p>
            <a:pPr indent="0" marL="0">
              <a:buNone/>
            </a:pPr>
            <a:r>
              <a:rPr lang="en-US" sz="1100" dirty="0">
                <a:solidFill>
                  <a:srgbClr val="645C50"/>
                </a:solidFill>
                <a:latin typeface="Arial" pitchFamily="34" charset="0"/>
                <a:ea typeface="Arial" pitchFamily="34" charset="-122"/>
                <a:cs typeface="Arial" pitchFamily="34" charset="-120"/>
              </a:rPr>
              <a:t>Lý thuyết đã có ở quốc tế; phía VN mới dừng ở phát hiện thay đổi giữa hai bản</a:t>
            </a:r>
            <a:endParaRPr lang="en-US" sz="1100" dirty="0"/>
          </a:p>
        </p:txBody>
      </p:sp>
      <p:sp>
        <p:nvSpPr>
          <p:cNvPr id="27" name="Text 25"/>
          <p:cNvSpPr txBox="1"/>
          <p:nvPr/>
        </p:nvSpPr>
        <p:spPr>
          <a:xfrm>
            <a:off x="8183880" y="4050792"/>
            <a:ext cx="3102559" cy="420624"/>
          </a:xfrm>
          <a:prstGeom prst="rect">
            <a:avLst/>
          </a:prstGeom>
          <a:noFill/>
          <a:ln/>
        </p:spPr>
        <p:txBody>
          <a:bodyPr wrap="square" lIns="0" tIns="0" rIns="0" bIns="0" rtlCol="0" anchor="ctr"/>
          <a:lstStyle/>
          <a:p>
            <a:pPr indent="0" marL="0">
              <a:lnSpc>
                <a:spcPts val="1400"/>
              </a:lnSpc>
              <a:buNone/>
            </a:pPr>
            <a:r>
              <a:rPr lang="en-US" sz="1100" dirty="0">
                <a:solidFill>
                  <a:srgbClr val="8C491A"/>
                </a:solidFill>
                <a:latin typeface="Arial" pitchFamily="34" charset="0"/>
                <a:ea typeface="Arial" pitchFamily="34" charset="-122"/>
                <a:cs typeface="Arial" pitchFamily="34" charset="-120"/>
              </a:rPr>
              <a:t>→  Nhóm gắn khoảng hiệu lực hl(x) cho từng mẩu tri thức</a:t>
            </a:r>
            <a:endParaRPr lang="en-US" sz="1100" dirty="0"/>
          </a:p>
        </p:txBody>
      </p:sp>
      <p:sp>
        <p:nvSpPr>
          <p:cNvPr id="28" name="Shape 26"/>
          <p:cNvSpPr/>
          <p:nvPr/>
        </p:nvSpPr>
        <p:spPr>
          <a:xfrm>
            <a:off x="685800" y="4681728"/>
            <a:ext cx="10820095" cy="694944"/>
          </a:xfrm>
          <a:prstGeom prst="roundRect">
            <a:avLst>
              <a:gd name="adj" fmla="val 18421"/>
            </a:avLst>
          </a:prstGeom>
          <a:solidFill>
            <a:srgbClr val="F0FAE1"/>
          </a:solidFill>
          <a:ln w="12700">
            <a:solidFill>
              <a:srgbClr val="CCDBB2"/>
            </a:solidFill>
            <a:prstDash val="solid"/>
          </a:ln>
        </p:spPr>
      </p:sp>
      <p:sp>
        <p:nvSpPr>
          <p:cNvPr id="29" name="Shape 27"/>
          <p:cNvSpPr/>
          <p:nvPr/>
        </p:nvSpPr>
        <p:spPr>
          <a:xfrm>
            <a:off x="905256" y="4892040"/>
            <a:ext cx="1188720" cy="274320"/>
          </a:xfrm>
          <a:prstGeom prst="roundRect">
            <a:avLst>
              <a:gd name="adj" fmla="val 50000"/>
            </a:avLst>
          </a:prstGeom>
          <a:solidFill>
            <a:srgbClr val="7A8A5E"/>
          </a:solidFill>
          <a:ln/>
        </p:spPr>
      </p:sp>
      <p:sp>
        <p:nvSpPr>
          <p:cNvPr id="30" name="Text 28"/>
          <p:cNvSpPr txBox="1"/>
          <p:nvPr/>
        </p:nvSpPr>
        <p:spPr>
          <a:xfrm>
            <a:off x="905256" y="4892040"/>
            <a:ext cx="118872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TIN CẬY</a:t>
            </a:r>
            <a:endParaRPr lang="en-US" sz="900" dirty="0"/>
          </a:p>
        </p:txBody>
      </p:sp>
      <p:sp>
        <p:nvSpPr>
          <p:cNvPr id="31" name="Text 29"/>
          <p:cNvSpPr txBox="1"/>
          <p:nvPr/>
        </p:nvSpPr>
        <p:spPr>
          <a:xfrm>
            <a:off x="2258568" y="4773168"/>
            <a:ext cx="5760720" cy="274320"/>
          </a:xfrm>
          <a:prstGeom prst="rect">
            <a:avLst/>
          </a:prstGeom>
          <a:noFill/>
          <a:ln/>
        </p:spPr>
        <p:txBody>
          <a:bodyPr wrap="square" lIns="0" tIns="0" rIns="0" bIns="0" rtlCol="0" anchor="ctr"/>
          <a:lstStyle/>
          <a:p>
            <a:pPr indent="0" marL="0">
              <a:buNone/>
            </a:pPr>
            <a:r>
              <a:rPr lang="en-US" sz="1250" b="1" dirty="0">
                <a:solidFill>
                  <a:srgbClr val="201E1D"/>
                </a:solidFill>
                <a:latin typeface="Arial" pitchFamily="34" charset="0"/>
                <a:ea typeface="Arial" pitchFamily="34" charset="-122"/>
                <a:cs typeface="Arial" pitchFamily="34" charset="-120"/>
              </a:rPr>
              <a:t>RAG/LLM chưa đảm bảo trung thực căn cứ ở mức chấp nhận được</a:t>
            </a:r>
            <a:endParaRPr lang="en-US" sz="1250" dirty="0"/>
          </a:p>
        </p:txBody>
      </p:sp>
      <p:sp>
        <p:nvSpPr>
          <p:cNvPr id="32" name="Text 30"/>
          <p:cNvSpPr txBox="1"/>
          <p:nvPr/>
        </p:nvSpPr>
        <p:spPr>
          <a:xfrm>
            <a:off x="2258568" y="5047488"/>
            <a:ext cx="5760720" cy="274320"/>
          </a:xfrm>
          <a:prstGeom prst="rect">
            <a:avLst/>
          </a:prstGeom>
          <a:noFill/>
          <a:ln/>
        </p:spPr>
        <p:txBody>
          <a:bodyPr wrap="square" lIns="0" tIns="0" rIns="0" bIns="0" rtlCol="0" anchor="ctr"/>
          <a:lstStyle/>
          <a:p>
            <a:pPr indent="0" marL="0">
              <a:buNone/>
            </a:pPr>
            <a:r>
              <a:rPr lang="en-US" sz="1100" dirty="0">
                <a:solidFill>
                  <a:srgbClr val="645C50"/>
                </a:solidFill>
                <a:latin typeface="Arial" pitchFamily="34" charset="0"/>
                <a:ea typeface="Arial" pitchFamily="34" charset="-122"/>
                <a:cs typeface="Arial" pitchFamily="34" charset="-120"/>
              </a:rPr>
              <a:t>Nhóm loại bỏ hoàn toàn khâu sinh — đổi độ “mượt” lấy truy vết 100% căn cứ</a:t>
            </a:r>
            <a:endParaRPr lang="en-US" sz="1100" dirty="0"/>
          </a:p>
        </p:txBody>
      </p:sp>
      <p:sp>
        <p:nvSpPr>
          <p:cNvPr id="33" name="Text 31"/>
          <p:cNvSpPr txBox="1"/>
          <p:nvPr/>
        </p:nvSpPr>
        <p:spPr>
          <a:xfrm>
            <a:off x="8183880" y="4837176"/>
            <a:ext cx="3102559" cy="420624"/>
          </a:xfrm>
          <a:prstGeom prst="rect">
            <a:avLst/>
          </a:prstGeom>
          <a:noFill/>
          <a:ln/>
        </p:spPr>
        <p:txBody>
          <a:bodyPr wrap="square" lIns="0" tIns="0" rIns="0" bIns="0" rtlCol="0" anchor="ctr"/>
          <a:lstStyle/>
          <a:p>
            <a:pPr indent="0" marL="0">
              <a:lnSpc>
                <a:spcPts val="1400"/>
              </a:lnSpc>
              <a:buNone/>
            </a:pPr>
            <a:r>
              <a:rPr lang="en-US" sz="1100" dirty="0">
                <a:solidFill>
                  <a:srgbClr val="56633F"/>
                </a:solidFill>
                <a:latin typeface="Arial" pitchFamily="34" charset="0"/>
                <a:ea typeface="Arial" pitchFamily="34" charset="-122"/>
                <a:cs typeface="Arial" pitchFamily="34" charset="-120"/>
              </a:rPr>
              <a:t>→  Nhóm chỉ ghép nguyên văn điều khoản, không diễn giải lại</a:t>
            </a:r>
            <a:endParaRPr lang="en-US" sz="1100" dirty="0"/>
          </a:p>
        </p:txBody>
      </p:sp>
      <p:sp>
        <p:nvSpPr>
          <p:cNvPr id="34" name="Text 32"/>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Năm khoảng trống — ba cái đầu là đóng góp về tài nguyên, hai cái sau là đóng góp về phương pháp</a:t>
            </a:r>
            <a:endParaRPr lang="en-US" sz="1000" dirty="0"/>
          </a:p>
        </p:txBody>
      </p:sp>
      <p:sp>
        <p:nvSpPr>
          <p:cNvPr id="35" name="Text 33"/>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3 · XÂY DỰNG DỮ LIỆU</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K = (C, R, Rules, F, Keyphrase)</a:t>
            </a:r>
            <a:endParaRPr lang="en-US" sz="3000" dirty="0"/>
          </a:p>
        </p:txBody>
      </p:sp>
      <p:sp>
        <p:nvSpPr>
          <p:cNvPr id="4" name="Shape 2"/>
          <p:cNvSpPr/>
          <p:nvPr/>
        </p:nvSpPr>
        <p:spPr>
          <a:xfrm>
            <a:off x="685800" y="1627632"/>
            <a:ext cx="1984248" cy="1572768"/>
          </a:xfrm>
          <a:prstGeom prst="roundRect">
            <a:avLst>
              <a:gd name="adj" fmla="val 8140"/>
            </a:avLst>
          </a:prstGeom>
          <a:solidFill>
            <a:srgbClr val="FFF2EB"/>
          </a:solidFill>
          <a:ln w="12700">
            <a:solidFill>
              <a:srgbClr val="FFC6A5"/>
            </a:solidFill>
            <a:prstDash val="solid"/>
          </a:ln>
        </p:spPr>
      </p:sp>
      <p:sp>
        <p:nvSpPr>
          <p:cNvPr id="5" name="Text 3"/>
          <p:cNvSpPr txBox="1"/>
          <p:nvPr/>
        </p:nvSpPr>
        <p:spPr>
          <a:xfrm>
            <a:off x="685800" y="1773936"/>
            <a:ext cx="1984248" cy="621792"/>
          </a:xfrm>
          <a:prstGeom prst="rect">
            <a:avLst/>
          </a:prstGeom>
          <a:noFill/>
          <a:ln/>
        </p:spPr>
        <p:txBody>
          <a:bodyPr wrap="square" lIns="0" tIns="0" rIns="0" bIns="0" rtlCol="0" anchor="ctr"/>
          <a:lstStyle/>
          <a:p>
            <a:pPr algn="ctr" indent="0" marL="0">
              <a:buNone/>
            </a:pPr>
            <a:r>
              <a:rPr lang="en-US" sz="3400" b="1" dirty="0">
                <a:solidFill>
                  <a:srgbClr val="C67139"/>
                </a:solidFill>
                <a:latin typeface="Arial" pitchFamily="34" charset="0"/>
                <a:ea typeface="Arial" pitchFamily="34" charset="-122"/>
                <a:cs typeface="Arial" pitchFamily="34" charset="-120"/>
              </a:rPr>
              <a:t>73</a:t>
            </a:r>
            <a:endParaRPr lang="en-US" sz="3400" dirty="0"/>
          </a:p>
        </p:txBody>
      </p:sp>
      <p:sp>
        <p:nvSpPr>
          <p:cNvPr id="6" name="Text 4"/>
          <p:cNvSpPr txBox="1"/>
          <p:nvPr/>
        </p:nvSpPr>
        <p:spPr>
          <a:xfrm>
            <a:off x="758952" y="2395728"/>
            <a:ext cx="1837944" cy="731520"/>
          </a:xfrm>
          <a:prstGeom prst="rect">
            <a:avLst/>
          </a:prstGeom>
          <a:noFill/>
          <a:ln/>
        </p:spPr>
        <p:txBody>
          <a:bodyPr wrap="square" lIns="0" tIns="0" rIns="0" bIns="0" rtlCol="0" anchor="ctr"/>
          <a:lstStyle/>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Khái niệm  C</a:t>
            </a:r>
            <a:endParaRPr lang="en-US" sz="1100" dirty="0"/>
          </a:p>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định nghĩa pháp lý</a:t>
            </a:r>
            <a:endParaRPr lang="en-US" sz="1100" dirty="0"/>
          </a:p>
        </p:txBody>
      </p:sp>
      <p:sp>
        <p:nvSpPr>
          <p:cNvPr id="7" name="Shape 5"/>
          <p:cNvSpPr/>
          <p:nvPr/>
        </p:nvSpPr>
        <p:spPr>
          <a:xfrm>
            <a:off x="2894076" y="1627632"/>
            <a:ext cx="1984248" cy="1572768"/>
          </a:xfrm>
          <a:prstGeom prst="roundRect">
            <a:avLst>
              <a:gd name="adj" fmla="val 8140"/>
            </a:avLst>
          </a:prstGeom>
          <a:solidFill>
            <a:srgbClr val="FFF2EB"/>
          </a:solidFill>
          <a:ln w="12700">
            <a:solidFill>
              <a:srgbClr val="FFC6A5"/>
            </a:solidFill>
            <a:prstDash val="solid"/>
          </a:ln>
        </p:spPr>
      </p:sp>
      <p:sp>
        <p:nvSpPr>
          <p:cNvPr id="8" name="Text 6"/>
          <p:cNvSpPr txBox="1"/>
          <p:nvPr/>
        </p:nvSpPr>
        <p:spPr>
          <a:xfrm>
            <a:off x="2894076" y="1773936"/>
            <a:ext cx="1984248" cy="621792"/>
          </a:xfrm>
          <a:prstGeom prst="rect">
            <a:avLst/>
          </a:prstGeom>
          <a:noFill/>
          <a:ln/>
        </p:spPr>
        <p:txBody>
          <a:bodyPr wrap="square" lIns="0" tIns="0" rIns="0" bIns="0" rtlCol="0" anchor="ctr"/>
          <a:lstStyle/>
          <a:p>
            <a:pPr algn="ctr" indent="0" marL="0">
              <a:buNone/>
            </a:pPr>
            <a:r>
              <a:rPr lang="en-US" sz="3400" b="1" dirty="0">
                <a:solidFill>
                  <a:srgbClr val="C67139"/>
                </a:solidFill>
                <a:latin typeface="Arial" pitchFamily="34" charset="0"/>
                <a:ea typeface="Arial" pitchFamily="34" charset="-122"/>
                <a:cs typeface="Arial" pitchFamily="34" charset="-120"/>
              </a:rPr>
              <a:t>482</a:t>
            </a:r>
            <a:endParaRPr lang="en-US" sz="3400" dirty="0"/>
          </a:p>
        </p:txBody>
      </p:sp>
      <p:sp>
        <p:nvSpPr>
          <p:cNvPr id="9" name="Text 7"/>
          <p:cNvSpPr txBox="1"/>
          <p:nvPr/>
        </p:nvSpPr>
        <p:spPr>
          <a:xfrm>
            <a:off x="2967228" y="2395728"/>
            <a:ext cx="1837944" cy="731520"/>
          </a:xfrm>
          <a:prstGeom prst="rect">
            <a:avLst/>
          </a:prstGeom>
          <a:noFill/>
          <a:ln/>
        </p:spPr>
        <p:txBody>
          <a:bodyPr wrap="square" lIns="0" tIns="0" rIns="0" bIns="0" rtlCol="0" anchor="ctr"/>
          <a:lstStyle/>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Quan hệ  R</a:t>
            </a:r>
            <a:endParaRPr lang="en-US" sz="1100" dirty="0"/>
          </a:p>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đồ thị nối tri thức</a:t>
            </a:r>
            <a:endParaRPr lang="en-US" sz="1100" dirty="0"/>
          </a:p>
        </p:txBody>
      </p:sp>
      <p:sp>
        <p:nvSpPr>
          <p:cNvPr id="10" name="Shape 8"/>
          <p:cNvSpPr/>
          <p:nvPr/>
        </p:nvSpPr>
        <p:spPr>
          <a:xfrm>
            <a:off x="5102352" y="1627632"/>
            <a:ext cx="1984248" cy="1572768"/>
          </a:xfrm>
          <a:prstGeom prst="roundRect">
            <a:avLst>
              <a:gd name="adj" fmla="val 8140"/>
            </a:avLst>
          </a:prstGeom>
          <a:solidFill>
            <a:srgbClr val="FFF2EB"/>
          </a:solidFill>
          <a:ln w="12700">
            <a:solidFill>
              <a:srgbClr val="FFC6A5"/>
            </a:solidFill>
            <a:prstDash val="solid"/>
          </a:ln>
        </p:spPr>
      </p:sp>
      <p:sp>
        <p:nvSpPr>
          <p:cNvPr id="11" name="Text 9"/>
          <p:cNvSpPr txBox="1"/>
          <p:nvPr/>
        </p:nvSpPr>
        <p:spPr>
          <a:xfrm>
            <a:off x="5102352" y="1773936"/>
            <a:ext cx="1984248" cy="621792"/>
          </a:xfrm>
          <a:prstGeom prst="rect">
            <a:avLst/>
          </a:prstGeom>
          <a:noFill/>
          <a:ln/>
        </p:spPr>
        <p:txBody>
          <a:bodyPr wrap="square" lIns="0" tIns="0" rIns="0" bIns="0" rtlCol="0" anchor="ctr"/>
          <a:lstStyle/>
          <a:p>
            <a:pPr algn="ctr" indent="0" marL="0">
              <a:buNone/>
            </a:pPr>
            <a:r>
              <a:rPr lang="en-US" sz="3400" b="1" dirty="0">
                <a:solidFill>
                  <a:srgbClr val="C67139"/>
                </a:solidFill>
                <a:latin typeface="Arial" pitchFamily="34" charset="0"/>
                <a:ea typeface="Arial" pitchFamily="34" charset="-122"/>
                <a:cs typeface="Arial" pitchFamily="34" charset="-120"/>
              </a:rPr>
              <a:t>109</a:t>
            </a:r>
            <a:endParaRPr lang="en-US" sz="3400" dirty="0"/>
          </a:p>
        </p:txBody>
      </p:sp>
      <p:sp>
        <p:nvSpPr>
          <p:cNvPr id="12" name="Text 10"/>
          <p:cNvSpPr txBox="1"/>
          <p:nvPr/>
        </p:nvSpPr>
        <p:spPr>
          <a:xfrm>
            <a:off x="5175504" y="2395728"/>
            <a:ext cx="1837944" cy="731520"/>
          </a:xfrm>
          <a:prstGeom prst="rect">
            <a:avLst/>
          </a:prstGeom>
          <a:noFill/>
          <a:ln/>
        </p:spPr>
        <p:txBody>
          <a:bodyPr wrap="square" lIns="0" tIns="0" rIns="0" bIns="0" rtlCol="0" anchor="ctr"/>
          <a:lstStyle/>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Quy tắc  Rules</a:t>
            </a:r>
            <a:endParaRPr lang="en-US" sz="1100" dirty="0"/>
          </a:p>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phải / không được làm</a:t>
            </a:r>
            <a:endParaRPr lang="en-US" sz="1100" dirty="0"/>
          </a:p>
        </p:txBody>
      </p:sp>
      <p:sp>
        <p:nvSpPr>
          <p:cNvPr id="13" name="Shape 11"/>
          <p:cNvSpPr/>
          <p:nvPr/>
        </p:nvSpPr>
        <p:spPr>
          <a:xfrm>
            <a:off x="7310628" y="1627632"/>
            <a:ext cx="1984248" cy="1572768"/>
          </a:xfrm>
          <a:prstGeom prst="roundRect">
            <a:avLst>
              <a:gd name="adj" fmla="val 8140"/>
            </a:avLst>
          </a:prstGeom>
          <a:solidFill>
            <a:srgbClr val="F0FAE1"/>
          </a:solidFill>
          <a:ln w="12700">
            <a:solidFill>
              <a:srgbClr val="CCDBB2"/>
            </a:solidFill>
            <a:prstDash val="solid"/>
          </a:ln>
        </p:spPr>
      </p:sp>
      <p:sp>
        <p:nvSpPr>
          <p:cNvPr id="14" name="Text 12"/>
          <p:cNvSpPr txBox="1"/>
          <p:nvPr/>
        </p:nvSpPr>
        <p:spPr>
          <a:xfrm>
            <a:off x="7310628" y="1773936"/>
            <a:ext cx="1984248" cy="621792"/>
          </a:xfrm>
          <a:prstGeom prst="rect">
            <a:avLst/>
          </a:prstGeom>
          <a:noFill/>
          <a:ln/>
        </p:spPr>
        <p:txBody>
          <a:bodyPr wrap="square" lIns="0" tIns="0" rIns="0" bIns="0" rtlCol="0" anchor="ctr"/>
          <a:lstStyle/>
          <a:p>
            <a:pPr algn="ctr" indent="0" marL="0">
              <a:buNone/>
            </a:pPr>
            <a:r>
              <a:rPr lang="en-US" sz="3400" b="1" dirty="0">
                <a:solidFill>
                  <a:srgbClr val="7A8A5E"/>
                </a:solidFill>
                <a:latin typeface="Arial" pitchFamily="34" charset="0"/>
                <a:ea typeface="Arial" pitchFamily="34" charset="-122"/>
                <a:cs typeface="Arial" pitchFamily="34" charset="-120"/>
              </a:rPr>
              <a:t>345</a:t>
            </a:r>
            <a:endParaRPr lang="en-US" sz="3400" dirty="0"/>
          </a:p>
        </p:txBody>
      </p:sp>
      <p:sp>
        <p:nvSpPr>
          <p:cNvPr id="15" name="Text 13"/>
          <p:cNvSpPr txBox="1"/>
          <p:nvPr/>
        </p:nvSpPr>
        <p:spPr>
          <a:xfrm>
            <a:off x="7383780" y="2395728"/>
            <a:ext cx="1837944" cy="731520"/>
          </a:xfrm>
          <a:prstGeom prst="rect">
            <a:avLst/>
          </a:prstGeom>
          <a:noFill/>
          <a:ln/>
        </p:spPr>
        <p:txBody>
          <a:bodyPr wrap="square" lIns="0" tIns="0" rIns="0" bIns="0" rtlCol="0" anchor="ctr"/>
          <a:lstStyle/>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Hành vi vi phạm  F</a:t>
            </a:r>
            <a:endParaRPr lang="en-US" sz="1100" dirty="0"/>
          </a:p>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kèm chế tài có kiểu</a:t>
            </a:r>
            <a:endParaRPr lang="en-US" sz="1100" dirty="0"/>
          </a:p>
        </p:txBody>
      </p:sp>
      <p:sp>
        <p:nvSpPr>
          <p:cNvPr id="16" name="Shape 14"/>
          <p:cNvSpPr/>
          <p:nvPr/>
        </p:nvSpPr>
        <p:spPr>
          <a:xfrm>
            <a:off x="9518904" y="1627632"/>
            <a:ext cx="1984248" cy="1572768"/>
          </a:xfrm>
          <a:prstGeom prst="roundRect">
            <a:avLst>
              <a:gd name="adj" fmla="val 8140"/>
            </a:avLst>
          </a:prstGeom>
          <a:solidFill>
            <a:srgbClr val="F0FAE1"/>
          </a:solidFill>
          <a:ln w="12700">
            <a:solidFill>
              <a:srgbClr val="CCDBB2"/>
            </a:solidFill>
            <a:prstDash val="solid"/>
          </a:ln>
        </p:spPr>
      </p:sp>
      <p:sp>
        <p:nvSpPr>
          <p:cNvPr id="17" name="Text 15"/>
          <p:cNvSpPr txBox="1"/>
          <p:nvPr/>
        </p:nvSpPr>
        <p:spPr>
          <a:xfrm>
            <a:off x="9518904" y="1773936"/>
            <a:ext cx="1984248" cy="621792"/>
          </a:xfrm>
          <a:prstGeom prst="rect">
            <a:avLst/>
          </a:prstGeom>
          <a:noFill/>
          <a:ln/>
        </p:spPr>
        <p:txBody>
          <a:bodyPr wrap="square" lIns="0" tIns="0" rIns="0" bIns="0" rtlCol="0" anchor="ctr"/>
          <a:lstStyle/>
          <a:p>
            <a:pPr algn="ctr" indent="0" marL="0">
              <a:buNone/>
            </a:pPr>
            <a:r>
              <a:rPr lang="en-US" sz="3400" b="1" dirty="0">
                <a:solidFill>
                  <a:srgbClr val="7A8A5E"/>
                </a:solidFill>
                <a:latin typeface="Arial" pitchFamily="34" charset="0"/>
                <a:ea typeface="Arial" pitchFamily="34" charset="-122"/>
                <a:cs typeface="Arial" pitchFamily="34" charset="-120"/>
              </a:rPr>
              <a:t>1.674</a:t>
            </a:r>
            <a:endParaRPr lang="en-US" sz="3400" dirty="0"/>
          </a:p>
        </p:txBody>
      </p:sp>
      <p:sp>
        <p:nvSpPr>
          <p:cNvPr id="18" name="Text 16"/>
          <p:cNvSpPr txBox="1"/>
          <p:nvPr/>
        </p:nvSpPr>
        <p:spPr>
          <a:xfrm>
            <a:off x="9592056" y="2395728"/>
            <a:ext cx="1837944" cy="731520"/>
          </a:xfrm>
          <a:prstGeom prst="rect">
            <a:avLst/>
          </a:prstGeom>
          <a:noFill/>
          <a:ln/>
        </p:spPr>
        <p:txBody>
          <a:bodyPr wrap="square" lIns="0" tIns="0" rIns="0" bIns="0" rtlCol="0" anchor="ctr"/>
          <a:lstStyle/>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Cụm từ khoá</a:t>
            </a:r>
            <a:endParaRPr lang="en-US" sz="1100" dirty="0"/>
          </a:p>
          <a:p>
            <a:pPr algn="ctr" indent="0" marL="0">
              <a:lnSpc>
                <a:spcPts val="1400"/>
              </a:lnSpc>
              <a:buNone/>
            </a:pPr>
            <a:r>
              <a:rPr lang="en-US" sz="1100" dirty="0">
                <a:solidFill>
                  <a:srgbClr val="645C50"/>
                </a:solidFill>
                <a:latin typeface="Arial" pitchFamily="34" charset="0"/>
                <a:ea typeface="Arial" pitchFamily="34" charset="-122"/>
                <a:cs typeface="Arial" pitchFamily="34" charset="-120"/>
              </a:rPr>
              <a:t>cầu nối ngôn ngữ người dùng</a:t>
            </a:r>
            <a:endParaRPr lang="en-US" sz="1100" dirty="0"/>
          </a:p>
        </p:txBody>
      </p:sp>
      <p:sp>
        <p:nvSpPr>
          <p:cNvPr id="19" name="Text 17"/>
          <p:cNvSpPr txBox="1"/>
          <p:nvPr/>
        </p:nvSpPr>
        <p:spPr>
          <a:xfrm>
            <a:off x="685800" y="3364992"/>
            <a:ext cx="10820095" cy="310896"/>
          </a:xfrm>
          <a:prstGeom prst="rect">
            <a:avLst/>
          </a:prstGeom>
          <a:noFill/>
          <a:ln/>
        </p:spPr>
        <p:txBody>
          <a:bodyPr wrap="square" lIns="0" tIns="0" rIns="0" bIns="0" rtlCol="0" anchor="ctr"/>
          <a:lstStyle/>
          <a:p>
            <a:pPr indent="0" marL="0">
              <a:buNone/>
            </a:pPr>
            <a:r>
              <a:rPr lang="en-US" sz="1300" i="1" dirty="0">
                <a:solidFill>
                  <a:srgbClr val="645C50"/>
                </a:solidFill>
                <a:latin typeface="Arial" pitchFamily="34" charset="0"/>
                <a:ea typeface="Arial" pitchFamily="34" charset="-122"/>
                <a:cs typeface="Arial" pitchFamily="34" charset="-120"/>
              </a:rPr>
              <a:t>Mọi mục tri thức đều mang căn cứ pháp lý (điều – khoản – điểm – văn bản) và khoảng hiệu lực (từ, đến).</a:t>
            </a:r>
            <a:endParaRPr lang="en-US" sz="1300" dirty="0"/>
          </a:p>
        </p:txBody>
      </p:sp>
      <p:sp>
        <p:nvSpPr>
          <p:cNvPr id="20" name="Shape 18"/>
          <p:cNvSpPr/>
          <p:nvPr/>
        </p:nvSpPr>
        <p:spPr>
          <a:xfrm>
            <a:off x="685800" y="3840480"/>
            <a:ext cx="6858000" cy="2103120"/>
          </a:xfrm>
          <a:prstGeom prst="roundRect">
            <a:avLst>
              <a:gd name="adj" fmla="val 6087"/>
            </a:avLst>
          </a:prstGeom>
          <a:solidFill>
            <a:srgbClr val="F9F4ED"/>
          </a:solidFill>
          <a:ln w="12700">
            <a:solidFill>
              <a:srgbClr val="DCD3C4"/>
            </a:solidFill>
            <a:prstDash val="solid"/>
          </a:ln>
        </p:spPr>
      </p:sp>
      <p:sp>
        <p:nvSpPr>
          <p:cNvPr id="21" name="Shape 19"/>
          <p:cNvSpPr/>
          <p:nvPr/>
        </p:nvSpPr>
        <p:spPr>
          <a:xfrm>
            <a:off x="996696" y="4041648"/>
            <a:ext cx="1678838" cy="274320"/>
          </a:xfrm>
          <a:prstGeom prst="roundRect">
            <a:avLst>
              <a:gd name="adj" fmla="val 50000"/>
            </a:avLst>
          </a:prstGeom>
          <a:solidFill>
            <a:srgbClr val="C67139"/>
          </a:solidFill>
          <a:ln/>
        </p:spPr>
      </p:sp>
      <p:sp>
        <p:nvSpPr>
          <p:cNvPr id="22" name="Text 20"/>
          <p:cNvSpPr txBox="1"/>
          <p:nvPr/>
        </p:nvSpPr>
        <p:spPr>
          <a:xfrm>
            <a:off x="996696" y="4041648"/>
            <a:ext cx="1678838"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BỐN VĂN BẢN NGUỒN</a:t>
            </a:r>
            <a:endParaRPr lang="en-US" sz="1000" dirty="0"/>
          </a:p>
        </p:txBody>
      </p:sp>
      <p:sp>
        <p:nvSpPr>
          <p:cNvPr id="23" name="Text 21"/>
          <p:cNvSpPr txBox="1"/>
          <p:nvPr/>
        </p:nvSpPr>
        <p:spPr>
          <a:xfrm>
            <a:off x="996696" y="4462272"/>
            <a:ext cx="237744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Luật 36/2024/QH15</a:t>
            </a:r>
            <a:endParaRPr lang="en-US" sz="1150" dirty="0"/>
          </a:p>
        </p:txBody>
      </p:sp>
      <p:sp>
        <p:nvSpPr>
          <p:cNvPr id="24" name="Text 22"/>
          <p:cNvSpPr txBox="1"/>
          <p:nvPr/>
        </p:nvSpPr>
        <p:spPr>
          <a:xfrm>
            <a:off x="3429000" y="4462272"/>
            <a:ext cx="28346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văn bản chính — hành vi bị cấm</a:t>
            </a:r>
            <a:endParaRPr lang="en-US" sz="1150" dirty="0"/>
          </a:p>
        </p:txBody>
      </p:sp>
      <p:sp>
        <p:nvSpPr>
          <p:cNvPr id="25" name="Text 23"/>
          <p:cNvSpPr txBox="1"/>
          <p:nvPr/>
        </p:nvSpPr>
        <p:spPr>
          <a:xfrm>
            <a:off x="6217920" y="4462272"/>
            <a:ext cx="1005840" cy="274320"/>
          </a:xfrm>
          <a:prstGeom prst="rect">
            <a:avLst/>
          </a:prstGeom>
          <a:noFill/>
          <a:ln/>
        </p:spPr>
        <p:txBody>
          <a:bodyPr wrap="square" lIns="0" tIns="0" rIns="0" bIns="0" rtlCol="0" anchor="ctr"/>
          <a:lstStyle/>
          <a:p>
            <a:pPr algn="r" indent="0" marL="0">
              <a:buNone/>
            </a:pPr>
            <a:r>
              <a:rPr lang="en-US" sz="1150" dirty="0">
                <a:solidFill>
                  <a:srgbClr val="82796A"/>
                </a:solidFill>
                <a:latin typeface="Arial" pitchFamily="34" charset="0"/>
                <a:ea typeface="Arial" pitchFamily="34" charset="-122"/>
                <a:cs typeface="Arial" pitchFamily="34" charset="-120"/>
              </a:rPr>
              <a:t>01/01/2025</a:t>
            </a:r>
            <a:endParaRPr lang="en-US" sz="1150" dirty="0"/>
          </a:p>
        </p:txBody>
      </p:sp>
      <p:sp>
        <p:nvSpPr>
          <p:cNvPr id="26" name="Text 24"/>
          <p:cNvSpPr txBox="1"/>
          <p:nvPr/>
        </p:nvSpPr>
        <p:spPr>
          <a:xfrm>
            <a:off x="996696" y="4800600"/>
            <a:ext cx="237744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Nghị định 168/2024/NĐ-CP</a:t>
            </a:r>
            <a:endParaRPr lang="en-US" sz="1150" dirty="0"/>
          </a:p>
        </p:txBody>
      </p:sp>
      <p:sp>
        <p:nvSpPr>
          <p:cNvPr id="27" name="Text 25"/>
          <p:cNvSpPr txBox="1"/>
          <p:nvPr/>
        </p:nvSpPr>
        <p:spPr>
          <a:xfrm>
            <a:off x="3429000" y="4800600"/>
            <a:ext cx="28346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văn bản chế tài — mức phạt</a:t>
            </a:r>
            <a:endParaRPr lang="en-US" sz="1150" dirty="0"/>
          </a:p>
        </p:txBody>
      </p:sp>
      <p:sp>
        <p:nvSpPr>
          <p:cNvPr id="28" name="Text 26"/>
          <p:cNvSpPr txBox="1"/>
          <p:nvPr/>
        </p:nvSpPr>
        <p:spPr>
          <a:xfrm>
            <a:off x="6217920" y="4800600"/>
            <a:ext cx="1005840" cy="274320"/>
          </a:xfrm>
          <a:prstGeom prst="rect">
            <a:avLst/>
          </a:prstGeom>
          <a:noFill/>
          <a:ln/>
        </p:spPr>
        <p:txBody>
          <a:bodyPr wrap="square" lIns="0" tIns="0" rIns="0" bIns="0" rtlCol="0" anchor="ctr"/>
          <a:lstStyle/>
          <a:p>
            <a:pPr algn="r" indent="0" marL="0">
              <a:buNone/>
            </a:pPr>
            <a:r>
              <a:rPr lang="en-US" sz="1150" dirty="0">
                <a:solidFill>
                  <a:srgbClr val="82796A"/>
                </a:solidFill>
                <a:latin typeface="Arial" pitchFamily="34" charset="0"/>
                <a:ea typeface="Arial" pitchFamily="34" charset="-122"/>
                <a:cs typeface="Arial" pitchFamily="34" charset="-120"/>
              </a:rPr>
              <a:t>01/01/2025</a:t>
            </a:r>
            <a:endParaRPr lang="en-US" sz="1150" dirty="0"/>
          </a:p>
        </p:txBody>
      </p:sp>
      <p:sp>
        <p:nvSpPr>
          <p:cNvPr id="29" name="Text 27"/>
          <p:cNvSpPr txBox="1"/>
          <p:nvPr/>
        </p:nvSpPr>
        <p:spPr>
          <a:xfrm>
            <a:off x="996696" y="5138928"/>
            <a:ext cx="237744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Luật 118/2025/QH15</a:t>
            </a:r>
            <a:endParaRPr lang="en-US" sz="1150" dirty="0"/>
          </a:p>
        </p:txBody>
      </p:sp>
      <p:sp>
        <p:nvSpPr>
          <p:cNvPr id="30" name="Text 28"/>
          <p:cNvSpPr txBox="1"/>
          <p:nvPr/>
        </p:nvSpPr>
        <p:spPr>
          <a:xfrm>
            <a:off x="3429000" y="5138928"/>
            <a:ext cx="28346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sửa đổi Luật 36/2024</a:t>
            </a:r>
            <a:endParaRPr lang="en-US" sz="1150" dirty="0"/>
          </a:p>
        </p:txBody>
      </p:sp>
      <p:sp>
        <p:nvSpPr>
          <p:cNvPr id="31" name="Text 29"/>
          <p:cNvSpPr txBox="1"/>
          <p:nvPr/>
        </p:nvSpPr>
        <p:spPr>
          <a:xfrm>
            <a:off x="6217920" y="5138928"/>
            <a:ext cx="1005840" cy="274320"/>
          </a:xfrm>
          <a:prstGeom prst="rect">
            <a:avLst/>
          </a:prstGeom>
          <a:noFill/>
          <a:ln/>
        </p:spPr>
        <p:txBody>
          <a:bodyPr wrap="square" lIns="0" tIns="0" rIns="0" bIns="0" rtlCol="0" anchor="ctr"/>
          <a:lstStyle/>
          <a:p>
            <a:pPr algn="r" indent="0" marL="0">
              <a:buNone/>
            </a:pPr>
            <a:r>
              <a:rPr lang="en-US" sz="1150" dirty="0">
                <a:solidFill>
                  <a:srgbClr val="82796A"/>
                </a:solidFill>
                <a:latin typeface="Arial" pitchFamily="34" charset="0"/>
                <a:ea typeface="Arial" pitchFamily="34" charset="-122"/>
                <a:cs typeface="Arial" pitchFamily="34" charset="-120"/>
              </a:rPr>
              <a:t>01/7/2026</a:t>
            </a:r>
            <a:endParaRPr lang="en-US" sz="1150" dirty="0"/>
          </a:p>
        </p:txBody>
      </p:sp>
      <p:sp>
        <p:nvSpPr>
          <p:cNvPr id="32" name="Text 30"/>
          <p:cNvSpPr txBox="1"/>
          <p:nvPr/>
        </p:nvSpPr>
        <p:spPr>
          <a:xfrm>
            <a:off x="996696" y="5477256"/>
            <a:ext cx="237744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Nghị định 238/2026/NĐ-CP</a:t>
            </a:r>
            <a:endParaRPr lang="en-US" sz="1150" dirty="0"/>
          </a:p>
        </p:txBody>
      </p:sp>
      <p:sp>
        <p:nvSpPr>
          <p:cNvPr id="33" name="Text 31"/>
          <p:cNvSpPr txBox="1"/>
          <p:nvPr/>
        </p:nvSpPr>
        <p:spPr>
          <a:xfrm>
            <a:off x="3429000" y="5477256"/>
            <a:ext cx="2834640" cy="274320"/>
          </a:xfrm>
          <a:prstGeom prst="rect">
            <a:avLst/>
          </a:prstGeom>
          <a:noFill/>
          <a:ln/>
        </p:spPr>
        <p:txBody>
          <a:bodyPr wrap="square" lIns="0" tIns="0" rIns="0" bIns="0" rtlCol="0" anchor="ctr"/>
          <a:lstStyle/>
          <a:p>
            <a:pPr indent="0" marL="0">
              <a:buNone/>
            </a:pPr>
            <a:r>
              <a:rPr lang="en-US" sz="1150" dirty="0">
                <a:solidFill>
                  <a:srgbClr val="645C50"/>
                </a:solidFill>
                <a:latin typeface="Arial" pitchFamily="34" charset="0"/>
                <a:ea typeface="Arial" pitchFamily="34" charset="-122"/>
                <a:cs typeface="Arial" pitchFamily="34" charset="-120"/>
              </a:rPr>
              <a:t>sửa đổi NĐ 168/2024</a:t>
            </a:r>
            <a:endParaRPr lang="en-US" sz="1150" dirty="0"/>
          </a:p>
        </p:txBody>
      </p:sp>
      <p:sp>
        <p:nvSpPr>
          <p:cNvPr id="34" name="Text 32"/>
          <p:cNvSpPr txBox="1"/>
          <p:nvPr/>
        </p:nvSpPr>
        <p:spPr>
          <a:xfrm>
            <a:off x="6217920" y="5477256"/>
            <a:ext cx="1005840" cy="274320"/>
          </a:xfrm>
          <a:prstGeom prst="rect">
            <a:avLst/>
          </a:prstGeom>
          <a:noFill/>
          <a:ln/>
        </p:spPr>
        <p:txBody>
          <a:bodyPr wrap="square" lIns="0" tIns="0" rIns="0" bIns="0" rtlCol="0" anchor="ctr"/>
          <a:lstStyle/>
          <a:p>
            <a:pPr algn="r" indent="0" marL="0">
              <a:buNone/>
            </a:pPr>
            <a:r>
              <a:rPr lang="en-US" sz="1150" dirty="0">
                <a:solidFill>
                  <a:srgbClr val="82796A"/>
                </a:solidFill>
                <a:latin typeface="Arial" pitchFamily="34" charset="0"/>
                <a:ea typeface="Arial" pitchFamily="34" charset="-122"/>
                <a:cs typeface="Arial" pitchFamily="34" charset="-120"/>
              </a:rPr>
              <a:t>15/8/2026</a:t>
            </a:r>
            <a:endParaRPr lang="en-US" sz="1150" dirty="0"/>
          </a:p>
        </p:txBody>
      </p:sp>
      <p:sp>
        <p:nvSpPr>
          <p:cNvPr id="35" name="Shape 33"/>
          <p:cNvSpPr/>
          <p:nvPr/>
        </p:nvSpPr>
        <p:spPr>
          <a:xfrm>
            <a:off x="7818120" y="3840480"/>
            <a:ext cx="3687775" cy="2103120"/>
          </a:xfrm>
          <a:prstGeom prst="roundRect">
            <a:avLst>
              <a:gd name="adj" fmla="val 6087"/>
            </a:avLst>
          </a:prstGeom>
          <a:solidFill>
            <a:srgbClr val="FFE1D0"/>
          </a:solidFill>
          <a:ln w="12700">
            <a:solidFill>
              <a:srgbClr val="C67139"/>
            </a:solidFill>
            <a:prstDash val="solid"/>
          </a:ln>
        </p:spPr>
      </p:sp>
      <p:sp>
        <p:nvSpPr>
          <p:cNvPr id="36" name="Text 34"/>
          <p:cNvSpPr txBox="1"/>
          <p:nvPr/>
        </p:nvSpPr>
        <p:spPr>
          <a:xfrm>
            <a:off x="8110728" y="4041648"/>
            <a:ext cx="3063240" cy="310896"/>
          </a:xfrm>
          <a:prstGeom prst="rect">
            <a:avLst/>
          </a:prstGeom>
          <a:noFill/>
          <a:ln/>
        </p:spPr>
        <p:txBody>
          <a:bodyPr wrap="square" lIns="0" tIns="0" rIns="0" bIns="0" rtlCol="0" anchor="ctr"/>
          <a:lstStyle/>
          <a:p>
            <a:pPr indent="0" marL="0">
              <a:buNone/>
            </a:pPr>
            <a:r>
              <a:rPr lang="en-US" sz="1400" b="1" dirty="0">
                <a:solidFill>
                  <a:srgbClr val="8C491A"/>
                </a:solidFill>
                <a:latin typeface="Arial" pitchFamily="34" charset="0"/>
                <a:ea typeface="Arial" pitchFamily="34" charset="-122"/>
                <a:cs typeface="Arial" pitchFamily="34" charset="-120"/>
              </a:rPr>
              <a:t>Vì sao 4 văn bản chứ không phải 1?</a:t>
            </a:r>
            <a:endParaRPr lang="en-US" sz="1400" dirty="0"/>
          </a:p>
        </p:txBody>
      </p:sp>
      <p:sp>
        <p:nvSpPr>
          <p:cNvPr id="37" name="Text 35"/>
          <p:cNvSpPr txBox="1"/>
          <p:nvPr/>
        </p:nvSpPr>
        <p:spPr>
          <a:xfrm>
            <a:off x="8110728" y="4389120"/>
            <a:ext cx="3063240" cy="1371600"/>
          </a:xfrm>
          <a:prstGeom prst="rect">
            <a:avLst/>
          </a:prstGeom>
          <a:noFill/>
          <a:ln/>
        </p:spPr>
        <p:txBody>
          <a:bodyPr wrap="square" lIns="0" tIns="0" rIns="0" bIns="0" rtlCol="0" anchor="ctr"/>
          <a:lstStyle/>
          <a:p>
            <a:pPr indent="0" marL="0">
              <a:lnSpc>
                <a:spcPts val="1500"/>
              </a:lnSpc>
              <a:buNone/>
            </a:pPr>
            <a:r>
              <a:rPr lang="en-US" sz="1150" dirty="0">
                <a:solidFill>
                  <a:srgbClr val="5A4032"/>
                </a:solidFill>
                <a:latin typeface="Arial" pitchFamily="34" charset="0"/>
                <a:ea typeface="Arial" pitchFamily="34" charset="-122"/>
                <a:cs typeface="Arial" pitchFamily="34" charset="-120"/>
              </a:rPr>
              <a:t>Luật quy định hành vi, nghị định mới quy định mức phạt. Chỉ dùng luật gốc thì không trả lời được câu hỏi “phạt bao nhiêu tiền”. Hai văn bản sửa đổi để hệ thống trả lời đúng theo mốc thời gian.</a:t>
            </a:r>
            <a:endParaRPr lang="en-US" sz="1150" dirty="0"/>
          </a:p>
        </p:txBody>
      </p:sp>
      <p:sp>
        <p:nvSpPr>
          <p:cNvPr id="38" name="Text 36"/>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Đối chiếu Văn bản hợp nhất 55/VBHN-VPQH ngày 23/3/2026 — tức bản sau sửa đổi</a:t>
            </a:r>
            <a:endParaRPr lang="en-US" sz="1000" dirty="0"/>
          </a:p>
        </p:txBody>
      </p:sp>
      <p:sp>
        <p:nvSpPr>
          <p:cNvPr id="39" name="Text 37"/>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3 · XÂY DỰNG DỮ LIỆU</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Thống kê: phân bố độ dài</a:t>
            </a:r>
            <a:endParaRPr lang="en-US" sz="3000" dirty="0"/>
          </a:p>
        </p:txBody>
      </p:sp>
      <p:pic>
        <p:nvPicPr>
          <p:cNvPr id="4" name="Image 0" descr="/sessions/rcw-01xwxtelkytbuqrqalcz7dcn/mnt/AI/uit-traffic-law-lookup-system/docs/so_do/hinh3_phan_bo_do_dai.png">    </p:cNvPr>
          <p:cNvPicPr>
            <a:picLocks noChangeAspect="1"/>
          </p:cNvPicPr>
          <p:nvPr/>
        </p:nvPicPr>
        <p:blipFill>
          <a:blip r:embed="rId1"/>
          <a:stretch>
            <a:fillRect/>
          </a:stretch>
        </p:blipFill>
        <p:spPr>
          <a:xfrm>
            <a:off x="566928" y="1335024"/>
            <a:ext cx="7772400" cy="3319272"/>
          </a:xfrm>
          <a:prstGeom prst="rect">
            <a:avLst/>
          </a:prstGeom>
        </p:spPr>
      </p:pic>
      <p:sp>
        <p:nvSpPr>
          <p:cNvPr id="5" name="Shape 2"/>
          <p:cNvSpPr/>
          <p:nvPr/>
        </p:nvSpPr>
        <p:spPr>
          <a:xfrm>
            <a:off x="8549640" y="1371600"/>
            <a:ext cx="2956255" cy="3246120"/>
          </a:xfrm>
          <a:prstGeom prst="roundRect">
            <a:avLst>
              <a:gd name="adj" fmla="val 4330"/>
            </a:avLst>
          </a:prstGeom>
          <a:solidFill>
            <a:srgbClr val="FFF2EB"/>
          </a:solidFill>
          <a:ln w="12700">
            <a:solidFill>
              <a:srgbClr val="FFC6A5"/>
            </a:solidFill>
            <a:prstDash val="solid"/>
          </a:ln>
        </p:spPr>
      </p:sp>
      <p:sp>
        <p:nvSpPr>
          <p:cNvPr id="6" name="Text 3"/>
          <p:cNvSpPr txBox="1"/>
          <p:nvPr/>
        </p:nvSpPr>
        <p:spPr>
          <a:xfrm>
            <a:off x="8796528" y="1609344"/>
            <a:ext cx="2834640" cy="2834640"/>
          </a:xfrm>
          <a:prstGeom prst="rect">
            <a:avLst/>
          </a:prstGeom>
          <a:noFill/>
          <a:ln/>
        </p:spPr>
        <p:txBody>
          <a:bodyPr wrap="square" lIns="0" tIns="0" rIns="0" bIns="0" rtlCol="0" anchor="ctr"/>
          <a:lstStyle/>
          <a:p>
            <a:pPr indent="0" marL="0">
              <a:lnSpc>
                <a:spcPts val="1500"/>
              </a:lnSpc>
              <a:buNone/>
            </a:pPr>
            <a:r>
              <a:rPr lang="en-US" sz="1400" b="1" dirty="0">
                <a:solidFill>
                  <a:srgbClr val="8C491A"/>
                </a:solidFill>
                <a:latin typeface="Arial" pitchFamily="34" charset="0"/>
                <a:ea typeface="Arial" pitchFamily="34" charset="-122"/>
                <a:cs typeface="Arial" pitchFamily="34" charset="-120"/>
              </a:rPr>
              <a:t>Câu hỏi ngắn, văn bản luật dài.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Câu hỏi trung bình 14,61 từ (trung vị 14, khoảng 3–38).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Quy tắc trung bình 80,8 từ, hành vi vi phạm 42,0 từ — dài gấp khoảng 5,5 lần câu hỏi.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Đây là gốc rễ của bài toán: câu ngắn và đời thường phải khớp với văn bản dài và trang trọng.</a:t>
            </a:r>
            <a:endParaRPr lang="en-US" sz="1150" dirty="0"/>
          </a:p>
        </p:txBody>
      </p:sp>
      <p:sp>
        <p:nvSpPr>
          <p:cNvPr id="7" name="Shape 4"/>
          <p:cNvSpPr/>
          <p:nvPr/>
        </p:nvSpPr>
        <p:spPr>
          <a:xfrm>
            <a:off x="685800" y="4846320"/>
            <a:ext cx="10820095" cy="1225296"/>
          </a:xfrm>
          <a:prstGeom prst="roundRect">
            <a:avLst>
              <a:gd name="adj" fmla="val 10448"/>
            </a:avLst>
          </a:prstGeom>
          <a:solidFill>
            <a:srgbClr val="EBDDC5"/>
          </a:solidFill>
          <a:ln/>
        </p:spPr>
      </p:sp>
      <p:sp>
        <p:nvSpPr>
          <p:cNvPr id="8" name="Text 5"/>
          <p:cNvSpPr txBox="1"/>
          <p:nvPr/>
        </p:nvSpPr>
        <p:spPr>
          <a:xfrm>
            <a:off x="996696" y="5029200"/>
            <a:ext cx="10198303" cy="896112"/>
          </a:xfrm>
          <a:prstGeom prst="rect">
            <a:avLst/>
          </a:prstGeom>
          <a:noFill/>
          <a:ln/>
        </p:spPr>
        <p:txBody>
          <a:bodyPr wrap="square" lIns="0" tIns="0" rIns="0" bIns="0" rtlCol="0" anchor="ctr"/>
          <a:lstStyle/>
          <a:p>
            <a:pPr indent="0" marL="0">
              <a:lnSpc>
                <a:spcPts val="1700"/>
              </a:lnSpc>
              <a:buNone/>
            </a:pPr>
            <a:r>
              <a:rPr lang="en-US" sz="1250" b="1" dirty="0">
                <a:solidFill>
                  <a:srgbClr val="201E1D"/>
                </a:solidFill>
                <a:latin typeface="Arial" pitchFamily="34" charset="0"/>
                <a:ea typeface="Arial" pitchFamily="34" charset="-122"/>
                <a:cs typeface="Arial" pitchFamily="34" charset="-120"/>
              </a:rPr>
              <a:t>Đuôi lệch phải là chỗ đáng chú ý.  </a:t>
            </a:r>
            <a:pPr indent="0" marL="0">
              <a:lnSpc>
                <a:spcPts val="1700"/>
              </a:lnSpc>
              <a:buNone/>
            </a:pPr>
            <a:r>
              <a:rPr lang="en-US" sz="1250" dirty="0">
                <a:solidFill>
                  <a:srgbClr val="645C50"/>
                </a:solidFill>
                <a:latin typeface="Arial" pitchFamily="34" charset="0"/>
                <a:ea typeface="Arial" pitchFamily="34" charset="-122"/>
                <a:cs typeface="Arial" pitchFamily="34" charset="-120"/>
              </a:rPr>
              <a:t>75% câu dưới 17 từ, nhưng đuôi kéo tới 38 từ — đó là các câu khẩu ngữ kể cả tình huống (“Nhóm em 4 đứa đi chung một xe máy, không ai đội mũ bảo hiểm, lại còn…”). Phần 5 sẽ cho thấy phần lớn ca lỗi NẶNG tập trung đúng ở đuôi này: câu càng dài, keyphrase càng bị loãng giữa các từ không mang thông tin pháp lý.</a:t>
            </a:r>
            <a:endParaRPr lang="en-US" sz="1250" dirty="0"/>
          </a:p>
        </p:txBody>
      </p:sp>
      <p:sp>
        <p:nvSpPr>
          <p:cNvPr id="9" name="Text 6"/>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python scripts/thong_ke_du_lieu.py — số liệu sinh lại được, không chép tay</a:t>
            </a:r>
            <a:endParaRPr lang="en-US" sz="1000" dirty="0"/>
          </a:p>
        </p:txBody>
      </p:sp>
      <p:sp>
        <p:nvSpPr>
          <p:cNvPr id="10" name="Text 7"/>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3 · XÂY DỰNG DỮ LIỆU</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Thống kê: phân bố nhãn và phân bố chủ đề</a:t>
            </a:r>
            <a:endParaRPr lang="en-US" sz="3000" dirty="0"/>
          </a:p>
        </p:txBody>
      </p:sp>
      <p:graphicFrame>
        <p:nvGraphicFramePr>
          <p:cNvPr id="4" name="Chart 0" descr=""/>
          <p:cNvGraphicFramePr/>
          <p:nvPr/>
        </p:nvGraphicFramePr>
        <p:xfrm>
          <a:off x="685800" y="1426464"/>
          <a:ext cx="5760720" cy="2615184"/>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55080" y="1426464"/>
          <a:ext cx="5150815" cy="2615184"/>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685800" y="4261104"/>
            <a:ext cx="3496970" cy="1554480"/>
          </a:xfrm>
          <a:prstGeom prst="roundRect">
            <a:avLst>
              <a:gd name="adj" fmla="val 8235"/>
            </a:avLst>
          </a:prstGeom>
          <a:solidFill>
            <a:srgbClr val="FFF2EB"/>
          </a:solidFill>
          <a:ln w="12700">
            <a:solidFill>
              <a:srgbClr val="FFC6A5"/>
            </a:solidFill>
            <a:prstDash val="solid"/>
          </a:ln>
        </p:spPr>
      </p:sp>
      <p:sp>
        <p:nvSpPr>
          <p:cNvPr id="7" name="Text 3"/>
          <p:cNvSpPr txBox="1"/>
          <p:nvPr/>
        </p:nvSpPr>
        <p:spPr>
          <a:xfrm>
            <a:off x="923544" y="4443984"/>
            <a:ext cx="3021482" cy="274320"/>
          </a:xfrm>
          <a:prstGeom prst="rect">
            <a:avLst/>
          </a:prstGeom>
          <a:noFill/>
          <a:ln/>
        </p:spPr>
        <p:txBody>
          <a:bodyPr wrap="square" lIns="0" tIns="0" rIns="0" bIns="0" rtlCol="0" anchor="ctr"/>
          <a:lstStyle/>
          <a:p>
            <a:pPr indent="0" marL="0">
              <a:buNone/>
            </a:pPr>
            <a:r>
              <a:rPr lang="en-US" sz="1300" b="1" dirty="0">
                <a:solidFill>
                  <a:srgbClr val="8C491A"/>
                </a:solidFill>
                <a:latin typeface="Arial" pitchFamily="34" charset="0"/>
                <a:ea typeface="Arial" pitchFamily="34" charset="-122"/>
                <a:cs typeface="Arial" pitchFamily="34" charset="-120"/>
              </a:rPr>
              <a:t>Không chia đều là CHỦ Ý</a:t>
            </a:r>
            <a:endParaRPr lang="en-US" sz="1300" dirty="0"/>
          </a:p>
        </p:txBody>
      </p:sp>
      <p:sp>
        <p:nvSpPr>
          <p:cNvPr id="8" name="Text 4"/>
          <p:cNvSpPr txBox="1"/>
          <p:nvPr/>
        </p:nvSpPr>
        <p:spPr>
          <a:xfrm>
            <a:off x="923544" y="4754880"/>
            <a:ext cx="3021482" cy="914400"/>
          </a:xfrm>
          <a:prstGeom prst="rect">
            <a:avLst/>
          </a:prstGeom>
          <a:noFill/>
          <a:ln/>
        </p:spPr>
        <p:txBody>
          <a:bodyPr wrap="square" lIns="0" tIns="0" rIns="0" bIns="0" rtlCol="0" anchor="ctr"/>
          <a:lstStyle/>
          <a:p>
            <a:pPr indent="0" marL="0">
              <a:lnSpc>
                <a:spcPts val="1500"/>
              </a:lnSpc>
              <a:buNone/>
            </a:pPr>
            <a:r>
              <a:rPr lang="en-US" sz="1100" dirty="0">
                <a:solidFill>
                  <a:srgbClr val="645C50"/>
                </a:solidFill>
                <a:latin typeface="Arial" pitchFamily="34" charset="0"/>
                <a:ea typeface="Arial" pitchFamily="34" charset="-122"/>
                <a:cs typeface="Arial" pitchFamily="34" charset="-120"/>
              </a:rPr>
              <a:t>Tra cứu chế tài P3 chiếm 40/120 câu vì đó là câu người dân hỏi nhiều nhất.</a:t>
            </a:r>
            <a:endParaRPr lang="en-US" sz="1100" dirty="0"/>
          </a:p>
        </p:txBody>
      </p:sp>
      <p:sp>
        <p:nvSpPr>
          <p:cNvPr id="9" name="Shape 5"/>
          <p:cNvSpPr/>
          <p:nvPr/>
        </p:nvSpPr>
        <p:spPr>
          <a:xfrm>
            <a:off x="4347362" y="4261104"/>
            <a:ext cx="3496970" cy="1554480"/>
          </a:xfrm>
          <a:prstGeom prst="roundRect">
            <a:avLst>
              <a:gd name="adj" fmla="val 8235"/>
            </a:avLst>
          </a:prstGeom>
          <a:solidFill>
            <a:srgbClr val="F9F4ED"/>
          </a:solidFill>
          <a:ln w="12700">
            <a:solidFill>
              <a:srgbClr val="DCD3C4"/>
            </a:solidFill>
            <a:prstDash val="solid"/>
          </a:ln>
        </p:spPr>
      </p:sp>
      <p:sp>
        <p:nvSpPr>
          <p:cNvPr id="10" name="Text 6"/>
          <p:cNvSpPr txBox="1"/>
          <p:nvPr/>
        </p:nvSpPr>
        <p:spPr>
          <a:xfrm>
            <a:off x="4585106" y="4443984"/>
            <a:ext cx="3021482"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Câu nhiều đáp án</a:t>
            </a:r>
            <a:endParaRPr lang="en-US" sz="1300" dirty="0"/>
          </a:p>
        </p:txBody>
      </p:sp>
      <p:sp>
        <p:nvSpPr>
          <p:cNvPr id="11" name="Text 7"/>
          <p:cNvSpPr txBox="1"/>
          <p:nvPr/>
        </p:nvSpPr>
        <p:spPr>
          <a:xfrm>
            <a:off x="4585106" y="4754880"/>
            <a:ext cx="3021482" cy="914400"/>
          </a:xfrm>
          <a:prstGeom prst="rect">
            <a:avLst/>
          </a:prstGeom>
          <a:noFill/>
          <a:ln/>
        </p:spPr>
        <p:txBody>
          <a:bodyPr wrap="square" lIns="0" tIns="0" rIns="0" bIns="0" rtlCol="0" anchor="ctr"/>
          <a:lstStyle/>
          <a:p>
            <a:pPr indent="0" marL="0">
              <a:lnSpc>
                <a:spcPts val="1500"/>
              </a:lnSpc>
              <a:buNone/>
            </a:pPr>
            <a:r>
              <a:rPr lang="en-US" sz="1100" dirty="0">
                <a:solidFill>
                  <a:srgbClr val="645C50"/>
                </a:solidFill>
                <a:latin typeface="Arial" pitchFamily="34" charset="0"/>
                <a:ea typeface="Arial" pitchFamily="34" charset="-122"/>
                <a:cs typeface="Arial" pitchFamily="34" charset="-120"/>
              </a:rPr>
              <a:t>26/120 câu có nhiều hơn một mẩu tri thức đúng — chi tiết này giải thích con số precision ở phần 5.</a:t>
            </a:r>
            <a:endParaRPr lang="en-US" sz="1100" dirty="0"/>
          </a:p>
        </p:txBody>
      </p:sp>
      <p:sp>
        <p:nvSpPr>
          <p:cNvPr id="12" name="Shape 8"/>
          <p:cNvSpPr/>
          <p:nvPr/>
        </p:nvSpPr>
        <p:spPr>
          <a:xfrm>
            <a:off x="8008925" y="4261104"/>
            <a:ext cx="3496970" cy="1554480"/>
          </a:xfrm>
          <a:prstGeom prst="roundRect">
            <a:avLst>
              <a:gd name="adj" fmla="val 8235"/>
            </a:avLst>
          </a:prstGeom>
          <a:solidFill>
            <a:srgbClr val="F0FAE1"/>
          </a:solidFill>
          <a:ln w="12700">
            <a:solidFill>
              <a:srgbClr val="CCDBB2"/>
            </a:solidFill>
            <a:prstDash val="solid"/>
          </a:ln>
        </p:spPr>
      </p:sp>
      <p:sp>
        <p:nvSpPr>
          <p:cNvPr id="13" name="Text 9"/>
          <p:cNvSpPr txBox="1"/>
          <p:nvPr/>
        </p:nvSpPr>
        <p:spPr>
          <a:xfrm>
            <a:off x="8246669" y="4443984"/>
            <a:ext cx="3021482" cy="274320"/>
          </a:xfrm>
          <a:prstGeom prst="rect">
            <a:avLst/>
          </a:prstGeom>
          <a:noFill/>
          <a:ln/>
        </p:spPr>
        <p:txBody>
          <a:bodyPr wrap="square" lIns="0" tIns="0" rIns="0" bIns="0" rtlCol="0" anchor="ctr"/>
          <a:lstStyle/>
          <a:p>
            <a:pPr indent="0" marL="0">
              <a:buNone/>
            </a:pPr>
            <a:r>
              <a:rPr lang="en-US" sz="1300" b="1" dirty="0">
                <a:solidFill>
                  <a:srgbClr val="56633F"/>
                </a:solidFill>
                <a:latin typeface="Arial" pitchFamily="34" charset="0"/>
                <a:ea typeface="Arial" pitchFamily="34" charset="-122"/>
                <a:cs typeface="Arial" pitchFamily="34" charset="-120"/>
              </a:rPr>
              <a:t>Hạn chế nhóm tự nêu</a:t>
            </a:r>
            <a:endParaRPr lang="en-US" sz="1300" dirty="0"/>
          </a:p>
        </p:txBody>
      </p:sp>
      <p:sp>
        <p:nvSpPr>
          <p:cNvPr id="14" name="Text 10"/>
          <p:cNvSpPr txBox="1"/>
          <p:nvPr/>
        </p:nvSpPr>
        <p:spPr>
          <a:xfrm>
            <a:off x="8246669" y="4754880"/>
            <a:ext cx="3021482" cy="914400"/>
          </a:xfrm>
          <a:prstGeom prst="rect">
            <a:avLst/>
          </a:prstGeom>
          <a:noFill/>
          <a:ln/>
        </p:spPr>
        <p:txBody>
          <a:bodyPr wrap="square" lIns="0" tIns="0" rIns="0" bIns="0" rtlCol="0" anchor="ctr"/>
          <a:lstStyle/>
          <a:p>
            <a:pPr indent="0" marL="0">
              <a:lnSpc>
                <a:spcPts val="1500"/>
              </a:lnSpc>
              <a:buNone/>
            </a:pPr>
            <a:r>
              <a:rPr lang="en-US" sz="1100" dirty="0">
                <a:solidFill>
                  <a:srgbClr val="645C50"/>
                </a:solidFill>
                <a:latin typeface="Arial" pitchFamily="34" charset="0"/>
                <a:ea typeface="Arial" pitchFamily="34" charset="-122"/>
                <a:cs typeface="Arial" pitchFamily="34" charset="-120"/>
              </a:rPr>
              <a:t>Bộ câu hỏi phản ánh NHU CẦU TRA CỨU, nên chưa phủ đều cơ sở tri thức — lĩnh vực điều kiện phương tiện bị đánh giá nhẹ hơn tỉ trọng thật.</a:t>
            </a:r>
            <a:endParaRPr lang="en-US" sz="1100" dirty="0"/>
          </a:p>
        </p:txBody>
      </p:sp>
      <p:sp>
        <p:nvSpPr>
          <p:cNvPr id="15" name="Text 11"/>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Cơ sở tri thức chia thành 6 lĩnh vực và 55 nhóm hành vi</a:t>
            </a:r>
            <a:endParaRPr lang="en-US" sz="1000" dirty="0"/>
          </a:p>
        </p:txBody>
      </p:sp>
      <p:sp>
        <p:nvSpPr>
          <p:cNvPr id="16" name="Text 12"/>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4 · PHƯƠNG PHÁP</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Ba tầng nối tiếp, tri thức có kiểu suốt đường đi</a:t>
            </a:r>
            <a:endParaRPr lang="en-US" sz="3000" dirty="0"/>
          </a:p>
        </p:txBody>
      </p:sp>
      <p:pic>
        <p:nvPicPr>
          <p:cNvPr id="4" name="Image 0" descr="/sessions/rcw-01xwxtelkytbuqrqalcz7dcn/mnt/AI/uit-traffic-law-lookup-system/docs/so_do/hinh1_kien_truc.png">    </p:cNvPr>
          <p:cNvPicPr>
            <a:picLocks noChangeAspect="1"/>
          </p:cNvPicPr>
          <p:nvPr/>
        </p:nvPicPr>
        <p:blipFill>
          <a:blip r:embed="rId1"/>
          <a:stretch>
            <a:fillRect/>
          </a:stretch>
        </p:blipFill>
        <p:spPr>
          <a:xfrm>
            <a:off x="1207008" y="1371600"/>
            <a:ext cx="6711696" cy="4663440"/>
          </a:xfrm>
          <a:prstGeom prst="rect">
            <a:avLst/>
          </a:prstGeom>
        </p:spPr>
      </p:pic>
      <p:sp>
        <p:nvSpPr>
          <p:cNvPr id="5" name="Text 2"/>
          <p:cNvSpPr txBox="1"/>
          <p:nvPr/>
        </p:nvSpPr>
        <p:spPr>
          <a:xfrm>
            <a:off x="9052560" y="1600200"/>
            <a:ext cx="2450592" cy="274320"/>
          </a:xfrm>
          <a:prstGeom prst="rect">
            <a:avLst/>
          </a:prstGeom>
          <a:noFill/>
          <a:ln/>
        </p:spPr>
        <p:txBody>
          <a:bodyPr wrap="square" lIns="0" tIns="0" rIns="0" bIns="0" rtlCol="0" anchor="ctr"/>
          <a:lstStyle/>
          <a:p>
            <a:pPr indent="0" marL="0">
              <a:buNone/>
            </a:pPr>
            <a:r>
              <a:rPr lang="en-US" sz="1400" b="1" dirty="0">
                <a:solidFill>
                  <a:srgbClr val="8C491A"/>
                </a:solidFill>
                <a:latin typeface="Arial" pitchFamily="34" charset="0"/>
                <a:ea typeface="Arial" pitchFamily="34" charset="-122"/>
                <a:cs typeface="Arial" pitchFamily="34" charset="-120"/>
              </a:rPr>
              <a:t>QueryAnalyzer</a:t>
            </a:r>
            <a:endParaRPr lang="en-US" sz="1400" dirty="0"/>
          </a:p>
        </p:txBody>
      </p:sp>
      <p:sp>
        <p:nvSpPr>
          <p:cNvPr id="6" name="Text 3"/>
          <p:cNvSpPr txBox="1"/>
          <p:nvPr/>
        </p:nvSpPr>
        <p:spPr>
          <a:xfrm>
            <a:off x="9052560" y="1892808"/>
            <a:ext cx="2450592" cy="713232"/>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biến câu hỏi tiếng Việt thành biểu diễn hình thức Q</a:t>
            </a:r>
            <a:endParaRPr lang="en-US" sz="1150" dirty="0"/>
          </a:p>
        </p:txBody>
      </p:sp>
      <p:sp>
        <p:nvSpPr>
          <p:cNvPr id="7" name="Text 4"/>
          <p:cNvSpPr txBox="1"/>
          <p:nvPr/>
        </p:nvSpPr>
        <p:spPr>
          <a:xfrm>
            <a:off x="9052560" y="2660904"/>
            <a:ext cx="2450592" cy="274320"/>
          </a:xfrm>
          <a:prstGeom prst="rect">
            <a:avLst/>
          </a:prstGeom>
          <a:noFill/>
          <a:ln/>
        </p:spPr>
        <p:txBody>
          <a:bodyPr wrap="square" lIns="0" tIns="0" rIns="0" bIns="0" rtlCol="0" anchor="ctr"/>
          <a:lstStyle/>
          <a:p>
            <a:pPr indent="0" marL="0">
              <a:buNone/>
            </a:pPr>
            <a:r>
              <a:rPr lang="en-US" sz="1400" b="1" dirty="0">
                <a:solidFill>
                  <a:srgbClr val="8C491A"/>
                </a:solidFill>
                <a:latin typeface="Arial" pitchFamily="34" charset="0"/>
                <a:ea typeface="Arial" pitchFamily="34" charset="-122"/>
                <a:cs typeface="Arial" pitchFamily="34" charset="-120"/>
              </a:rPr>
              <a:t>InferenceEngine</a:t>
            </a:r>
            <a:endParaRPr lang="en-US" sz="1400" dirty="0"/>
          </a:p>
        </p:txBody>
      </p:sp>
      <p:sp>
        <p:nvSpPr>
          <p:cNvPr id="8" name="Text 5"/>
          <p:cNvSpPr txBox="1"/>
          <p:nvPr/>
        </p:nvSpPr>
        <p:spPr>
          <a:xfrm>
            <a:off x="9052560" y="2953512"/>
            <a:ext cx="2450592" cy="713232"/>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chọn bộ giải P1–P7, truy hồi từ cơ sở tri thức</a:t>
            </a:r>
            <a:endParaRPr lang="en-US" sz="1150" dirty="0"/>
          </a:p>
        </p:txBody>
      </p:sp>
      <p:sp>
        <p:nvSpPr>
          <p:cNvPr id="9" name="Text 6"/>
          <p:cNvSpPr txBox="1"/>
          <p:nvPr/>
        </p:nvSpPr>
        <p:spPr>
          <a:xfrm>
            <a:off x="9052560" y="3721608"/>
            <a:ext cx="2450592" cy="274320"/>
          </a:xfrm>
          <a:prstGeom prst="rect">
            <a:avLst/>
          </a:prstGeom>
          <a:noFill/>
          <a:ln/>
        </p:spPr>
        <p:txBody>
          <a:bodyPr wrap="square" lIns="0" tIns="0" rIns="0" bIns="0" rtlCol="0" anchor="ctr"/>
          <a:lstStyle/>
          <a:p>
            <a:pPr indent="0" marL="0">
              <a:buNone/>
            </a:pPr>
            <a:r>
              <a:rPr lang="en-US" sz="1400" b="1" dirty="0">
                <a:solidFill>
                  <a:srgbClr val="8C491A"/>
                </a:solidFill>
                <a:latin typeface="Arial" pitchFamily="34" charset="0"/>
                <a:ea typeface="Arial" pitchFamily="34" charset="-122"/>
                <a:cs typeface="Arial" pitchFamily="34" charset="-120"/>
              </a:rPr>
              <a:t>sinh_van_ban</a:t>
            </a:r>
            <a:endParaRPr lang="en-US" sz="1400" dirty="0"/>
          </a:p>
        </p:txBody>
      </p:sp>
      <p:sp>
        <p:nvSpPr>
          <p:cNvPr id="10" name="Text 7"/>
          <p:cNvSpPr txBox="1"/>
          <p:nvPr/>
        </p:nvSpPr>
        <p:spPr>
          <a:xfrm>
            <a:off x="9052560" y="4014216"/>
            <a:ext cx="2450592" cy="713232"/>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ghép câu trả lời kèm căn cứ pháp lý</a:t>
            </a:r>
            <a:endParaRPr lang="en-US" sz="1150" dirty="0"/>
          </a:p>
        </p:txBody>
      </p:sp>
      <p:sp>
        <p:nvSpPr>
          <p:cNvPr id="11" name="Shape 8"/>
          <p:cNvSpPr/>
          <p:nvPr/>
        </p:nvSpPr>
        <p:spPr>
          <a:xfrm>
            <a:off x="9052560" y="4882896"/>
            <a:ext cx="2450592" cy="1207008"/>
          </a:xfrm>
          <a:prstGeom prst="roundRect">
            <a:avLst>
              <a:gd name="adj" fmla="val 10606"/>
            </a:avLst>
          </a:prstGeom>
          <a:solidFill>
            <a:srgbClr val="F0FAE1"/>
          </a:solidFill>
          <a:ln w="12700">
            <a:solidFill>
              <a:srgbClr val="CCDBB2"/>
            </a:solidFill>
            <a:prstDash val="solid"/>
          </a:ln>
        </p:spPr>
      </p:sp>
      <p:sp>
        <p:nvSpPr>
          <p:cNvPr id="12" name="Text 9"/>
          <p:cNvSpPr txBox="1"/>
          <p:nvPr/>
        </p:nvSpPr>
        <p:spPr>
          <a:xfrm>
            <a:off x="9253728" y="5065776"/>
            <a:ext cx="2048256" cy="914400"/>
          </a:xfrm>
          <a:prstGeom prst="rect">
            <a:avLst/>
          </a:prstGeom>
          <a:noFill/>
          <a:ln/>
        </p:spPr>
        <p:txBody>
          <a:bodyPr wrap="square" lIns="0" tIns="0" rIns="0" bIns="0" rtlCol="0" anchor="ctr"/>
          <a:lstStyle/>
          <a:p>
            <a:pPr indent="0" marL="0">
              <a:lnSpc>
                <a:spcPts val="1400"/>
              </a:lnSpc>
              <a:buNone/>
            </a:pPr>
            <a:r>
              <a:rPr lang="en-US" sz="1100" dirty="0">
                <a:solidFill>
                  <a:srgbClr val="56633F"/>
                </a:solidFill>
                <a:latin typeface="Arial" pitchFamily="34" charset="0"/>
                <a:ea typeface="Arial" pitchFamily="34" charset="-122"/>
                <a:cs typeface="Arial" pitchFamily="34" charset="-120"/>
              </a:rPr>
              <a:t>Tầng dense embedding là tuỳ chọn và mặc định KHÔNG được gọi — lý do ở phần hạn chế.</a:t>
            </a:r>
            <a:endParaRPr lang="en-US" sz="1100" dirty="0"/>
          </a:p>
        </p:txBody>
      </p:sp>
      <p:sp>
        <p:nvSpPr>
          <p:cNvPr id="13" name="Text 10"/>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Tầng suy diễn và cơ sở tri thức tách rời — đổi cơ sở tri thức không phải sửa bộ giải</a:t>
            </a:r>
            <a:endParaRPr lang="en-US" sz="1000" dirty="0"/>
          </a:p>
        </p:txBody>
      </p:sp>
      <p:sp>
        <p:nvSpPr>
          <p:cNvPr id="14" name="Text 11"/>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4 · PHƯƠNG PHÁP</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Sáu bước, bám theo một truy vấn thật</a:t>
            </a:r>
            <a:endParaRPr lang="en-US" sz="3000" dirty="0"/>
          </a:p>
        </p:txBody>
      </p:sp>
      <p:pic>
        <p:nvPicPr>
          <p:cNvPr id="4" name="Image 0" descr="/sessions/rcw-01xwxtelkytbuqrqalcz7dcn/mnt/AI/uit-traffic-law-lookup-system/docs/so_do/hinh2_luong_b1_b6.png">    </p:cNvPr>
          <p:cNvPicPr>
            <a:picLocks noChangeAspect="1"/>
          </p:cNvPicPr>
          <p:nvPr/>
        </p:nvPicPr>
        <p:blipFill>
          <a:blip r:embed="rId1"/>
          <a:stretch>
            <a:fillRect/>
          </a:stretch>
        </p:blipFill>
        <p:spPr>
          <a:xfrm>
            <a:off x="1435608" y="1325880"/>
            <a:ext cx="9326880" cy="4861865"/>
          </a:xfrm>
          <a:prstGeom prst="rect">
            <a:avLst/>
          </a:prstGeom>
        </p:spPr>
      </p:pic>
      <p:sp>
        <p:nvSpPr>
          <p:cNvPr id="5" name="Text 2"/>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Vì sao B2 khớp cụm dài nhất: “nồng độ cồn” phải thắng hai cụm rời “nồng độ” và “cồn” — khớp cụm ngắn trước thì mọi bước sau đều sai theo</a:t>
            </a:r>
            <a:endParaRPr lang="en-US" sz="1000" dirty="0"/>
          </a:p>
        </p:txBody>
      </p:sp>
      <p:sp>
        <p:nvSpPr>
          <p:cNvPr id="6" name="Text 3"/>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4 · PHƯƠNG PHÁP</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Bảy lớp bài toán và hàm điểm lai</a:t>
            </a:r>
            <a:endParaRPr lang="en-US" sz="3000" dirty="0"/>
          </a:p>
        </p:txBody>
      </p:sp>
      <p:sp>
        <p:nvSpPr>
          <p:cNvPr id="4" name="Shape 2"/>
          <p:cNvSpPr/>
          <p:nvPr/>
        </p:nvSpPr>
        <p:spPr>
          <a:xfrm>
            <a:off x="685800" y="1572768"/>
            <a:ext cx="3465576" cy="914400"/>
          </a:xfrm>
          <a:prstGeom prst="roundRect">
            <a:avLst>
              <a:gd name="adj" fmla="val 14000"/>
            </a:avLst>
          </a:prstGeom>
          <a:solidFill>
            <a:srgbClr val="F9F4ED"/>
          </a:solidFill>
          <a:ln w="12700">
            <a:solidFill>
              <a:srgbClr val="DCD3C4"/>
            </a:solidFill>
            <a:prstDash val="solid"/>
          </a:ln>
        </p:spPr>
      </p:sp>
      <p:sp>
        <p:nvSpPr>
          <p:cNvPr id="5" name="Shape 3"/>
          <p:cNvSpPr/>
          <p:nvPr/>
        </p:nvSpPr>
        <p:spPr>
          <a:xfrm>
            <a:off x="905256" y="1755648"/>
            <a:ext cx="512064" cy="274320"/>
          </a:xfrm>
          <a:prstGeom prst="roundRect">
            <a:avLst>
              <a:gd name="adj" fmla="val 50000"/>
            </a:avLst>
          </a:prstGeom>
          <a:solidFill>
            <a:srgbClr val="C67139"/>
          </a:solidFill>
          <a:ln/>
        </p:spPr>
      </p:sp>
      <p:sp>
        <p:nvSpPr>
          <p:cNvPr id="6" name="Text 4"/>
          <p:cNvSpPr txBox="1"/>
          <p:nvPr/>
        </p:nvSpPr>
        <p:spPr>
          <a:xfrm>
            <a:off x="905256" y="1755648"/>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P1</a:t>
            </a:r>
            <a:endParaRPr lang="en-US" sz="1000" dirty="0"/>
          </a:p>
        </p:txBody>
      </p:sp>
      <p:sp>
        <p:nvSpPr>
          <p:cNvPr id="7" name="Text 5"/>
          <p:cNvSpPr txBox="1"/>
          <p:nvPr/>
        </p:nvSpPr>
        <p:spPr>
          <a:xfrm>
            <a:off x="1545336" y="1737360"/>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Tra cứu khái niệm</a:t>
            </a:r>
            <a:endParaRPr lang="en-US" sz="1300" dirty="0"/>
          </a:p>
        </p:txBody>
      </p:sp>
      <p:sp>
        <p:nvSpPr>
          <p:cNvPr id="8" name="Text 6"/>
          <p:cNvSpPr txBox="1"/>
          <p:nvPr/>
        </p:nvSpPr>
        <p:spPr>
          <a:xfrm>
            <a:off x="905256" y="2084832"/>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Xe cơ giới là gì?</a:t>
            </a:r>
            <a:endParaRPr lang="en-US" sz="1050" dirty="0"/>
          </a:p>
        </p:txBody>
      </p:sp>
      <p:sp>
        <p:nvSpPr>
          <p:cNvPr id="9" name="Shape 7"/>
          <p:cNvSpPr/>
          <p:nvPr/>
        </p:nvSpPr>
        <p:spPr>
          <a:xfrm>
            <a:off x="4361688" y="1572768"/>
            <a:ext cx="3465576" cy="914400"/>
          </a:xfrm>
          <a:prstGeom prst="roundRect">
            <a:avLst>
              <a:gd name="adj" fmla="val 14000"/>
            </a:avLst>
          </a:prstGeom>
          <a:solidFill>
            <a:srgbClr val="F9F4ED"/>
          </a:solidFill>
          <a:ln w="12700">
            <a:solidFill>
              <a:srgbClr val="DCD3C4"/>
            </a:solidFill>
            <a:prstDash val="solid"/>
          </a:ln>
        </p:spPr>
      </p:sp>
      <p:sp>
        <p:nvSpPr>
          <p:cNvPr id="10" name="Shape 8"/>
          <p:cNvSpPr/>
          <p:nvPr/>
        </p:nvSpPr>
        <p:spPr>
          <a:xfrm>
            <a:off x="4581144" y="1755648"/>
            <a:ext cx="512064" cy="274320"/>
          </a:xfrm>
          <a:prstGeom prst="roundRect">
            <a:avLst>
              <a:gd name="adj" fmla="val 50000"/>
            </a:avLst>
          </a:prstGeom>
          <a:solidFill>
            <a:srgbClr val="C67139"/>
          </a:solidFill>
          <a:ln/>
        </p:spPr>
      </p:sp>
      <p:sp>
        <p:nvSpPr>
          <p:cNvPr id="11" name="Text 9"/>
          <p:cNvSpPr txBox="1"/>
          <p:nvPr/>
        </p:nvSpPr>
        <p:spPr>
          <a:xfrm>
            <a:off x="4581144" y="1755648"/>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P2</a:t>
            </a:r>
            <a:endParaRPr lang="en-US" sz="1000" dirty="0"/>
          </a:p>
        </p:txBody>
      </p:sp>
      <p:sp>
        <p:nvSpPr>
          <p:cNvPr id="12" name="Text 10"/>
          <p:cNvSpPr txBox="1"/>
          <p:nvPr/>
        </p:nvSpPr>
        <p:spPr>
          <a:xfrm>
            <a:off x="5221224" y="1737360"/>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Tra cứu quy định</a:t>
            </a:r>
            <a:endParaRPr lang="en-US" sz="1300" dirty="0"/>
          </a:p>
        </p:txBody>
      </p:sp>
      <p:sp>
        <p:nvSpPr>
          <p:cNvPr id="13" name="Text 11"/>
          <p:cNvSpPr txBox="1"/>
          <p:nvPr/>
        </p:nvSpPr>
        <p:spPr>
          <a:xfrm>
            <a:off x="4581144" y="2084832"/>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Quy tắc nhường đường tại nơi giao nhau?</a:t>
            </a:r>
            <a:endParaRPr lang="en-US" sz="1050" dirty="0"/>
          </a:p>
        </p:txBody>
      </p:sp>
      <p:sp>
        <p:nvSpPr>
          <p:cNvPr id="14" name="Shape 12"/>
          <p:cNvSpPr/>
          <p:nvPr/>
        </p:nvSpPr>
        <p:spPr>
          <a:xfrm>
            <a:off x="8037576" y="1572768"/>
            <a:ext cx="3465576" cy="914400"/>
          </a:xfrm>
          <a:prstGeom prst="roundRect">
            <a:avLst>
              <a:gd name="adj" fmla="val 14000"/>
            </a:avLst>
          </a:prstGeom>
          <a:solidFill>
            <a:srgbClr val="F9F4ED"/>
          </a:solidFill>
          <a:ln w="12700">
            <a:solidFill>
              <a:srgbClr val="DCD3C4"/>
            </a:solidFill>
            <a:prstDash val="solid"/>
          </a:ln>
        </p:spPr>
      </p:sp>
      <p:sp>
        <p:nvSpPr>
          <p:cNvPr id="15" name="Shape 13"/>
          <p:cNvSpPr/>
          <p:nvPr/>
        </p:nvSpPr>
        <p:spPr>
          <a:xfrm>
            <a:off x="8257032" y="1755648"/>
            <a:ext cx="512064" cy="274320"/>
          </a:xfrm>
          <a:prstGeom prst="roundRect">
            <a:avLst>
              <a:gd name="adj" fmla="val 50000"/>
            </a:avLst>
          </a:prstGeom>
          <a:solidFill>
            <a:srgbClr val="C67139"/>
          </a:solidFill>
          <a:ln/>
        </p:spPr>
      </p:sp>
      <p:sp>
        <p:nvSpPr>
          <p:cNvPr id="16" name="Text 14"/>
          <p:cNvSpPr txBox="1"/>
          <p:nvPr/>
        </p:nvSpPr>
        <p:spPr>
          <a:xfrm>
            <a:off x="8257032" y="1755648"/>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P3</a:t>
            </a:r>
            <a:endParaRPr lang="en-US" sz="1000" dirty="0"/>
          </a:p>
        </p:txBody>
      </p:sp>
      <p:sp>
        <p:nvSpPr>
          <p:cNvPr id="17" name="Text 15"/>
          <p:cNvSpPr txBox="1"/>
          <p:nvPr/>
        </p:nvSpPr>
        <p:spPr>
          <a:xfrm>
            <a:off x="8897112" y="1737360"/>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Tra cứu chế tài</a:t>
            </a:r>
            <a:endParaRPr lang="en-US" sz="1300" dirty="0"/>
          </a:p>
        </p:txBody>
      </p:sp>
      <p:sp>
        <p:nvSpPr>
          <p:cNvPr id="18" name="Text 16"/>
          <p:cNvSpPr txBox="1"/>
          <p:nvPr/>
        </p:nvSpPr>
        <p:spPr>
          <a:xfrm>
            <a:off x="8257032" y="2084832"/>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Vượt đèn đỏ xe máy phạt bao nhiêu?</a:t>
            </a:r>
            <a:endParaRPr lang="en-US" sz="1050" dirty="0"/>
          </a:p>
        </p:txBody>
      </p:sp>
      <p:sp>
        <p:nvSpPr>
          <p:cNvPr id="19" name="Shape 17"/>
          <p:cNvSpPr/>
          <p:nvPr/>
        </p:nvSpPr>
        <p:spPr>
          <a:xfrm>
            <a:off x="685800" y="2651760"/>
            <a:ext cx="3465576" cy="914400"/>
          </a:xfrm>
          <a:prstGeom prst="roundRect">
            <a:avLst>
              <a:gd name="adj" fmla="val 14000"/>
            </a:avLst>
          </a:prstGeom>
          <a:solidFill>
            <a:srgbClr val="F9F4ED"/>
          </a:solidFill>
          <a:ln w="12700">
            <a:solidFill>
              <a:srgbClr val="DCD3C4"/>
            </a:solidFill>
            <a:prstDash val="solid"/>
          </a:ln>
        </p:spPr>
      </p:sp>
      <p:sp>
        <p:nvSpPr>
          <p:cNvPr id="20" name="Shape 18"/>
          <p:cNvSpPr/>
          <p:nvPr/>
        </p:nvSpPr>
        <p:spPr>
          <a:xfrm>
            <a:off x="905256" y="2834640"/>
            <a:ext cx="512064" cy="274320"/>
          </a:xfrm>
          <a:prstGeom prst="roundRect">
            <a:avLst>
              <a:gd name="adj" fmla="val 50000"/>
            </a:avLst>
          </a:prstGeom>
          <a:solidFill>
            <a:srgbClr val="C67139"/>
          </a:solidFill>
          <a:ln/>
        </p:spPr>
      </p:sp>
      <p:sp>
        <p:nvSpPr>
          <p:cNvPr id="21" name="Text 19"/>
          <p:cNvSpPr txBox="1"/>
          <p:nvPr/>
        </p:nvSpPr>
        <p:spPr>
          <a:xfrm>
            <a:off x="905256" y="2834640"/>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P4</a:t>
            </a:r>
            <a:endParaRPr lang="en-US" sz="1000" dirty="0"/>
          </a:p>
        </p:txBody>
      </p:sp>
      <p:sp>
        <p:nvSpPr>
          <p:cNvPr id="22" name="Text 20"/>
          <p:cNvSpPr txBox="1"/>
          <p:nvPr/>
        </p:nvSpPr>
        <p:spPr>
          <a:xfrm>
            <a:off x="1545336" y="2816352"/>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Tra cứu ngược</a:t>
            </a:r>
            <a:endParaRPr lang="en-US" sz="1300" dirty="0"/>
          </a:p>
        </p:txBody>
      </p:sp>
      <p:sp>
        <p:nvSpPr>
          <p:cNvPr id="23" name="Text 21"/>
          <p:cNvSpPr txBox="1"/>
          <p:nvPr/>
        </p:nvSpPr>
        <p:spPr>
          <a:xfrm>
            <a:off x="905256" y="3163824"/>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Lỗi nào bị trừ 10 điểm giấy phép lái xe?</a:t>
            </a:r>
            <a:endParaRPr lang="en-US" sz="1050" dirty="0"/>
          </a:p>
        </p:txBody>
      </p:sp>
      <p:sp>
        <p:nvSpPr>
          <p:cNvPr id="24" name="Shape 22"/>
          <p:cNvSpPr/>
          <p:nvPr/>
        </p:nvSpPr>
        <p:spPr>
          <a:xfrm>
            <a:off x="4361688" y="2651760"/>
            <a:ext cx="3465576" cy="914400"/>
          </a:xfrm>
          <a:prstGeom prst="roundRect">
            <a:avLst>
              <a:gd name="adj" fmla="val 14000"/>
            </a:avLst>
          </a:prstGeom>
          <a:solidFill>
            <a:srgbClr val="F9F4ED"/>
          </a:solidFill>
          <a:ln w="12700">
            <a:solidFill>
              <a:srgbClr val="DCD3C4"/>
            </a:solidFill>
            <a:prstDash val="solid"/>
          </a:ln>
        </p:spPr>
      </p:sp>
      <p:sp>
        <p:nvSpPr>
          <p:cNvPr id="25" name="Shape 23"/>
          <p:cNvSpPr/>
          <p:nvPr/>
        </p:nvSpPr>
        <p:spPr>
          <a:xfrm>
            <a:off x="4581144" y="2834640"/>
            <a:ext cx="512064" cy="274320"/>
          </a:xfrm>
          <a:prstGeom prst="roundRect">
            <a:avLst>
              <a:gd name="adj" fmla="val 50000"/>
            </a:avLst>
          </a:prstGeom>
          <a:solidFill>
            <a:srgbClr val="C67139"/>
          </a:solidFill>
          <a:ln/>
        </p:spPr>
      </p:sp>
      <p:sp>
        <p:nvSpPr>
          <p:cNvPr id="26" name="Text 24"/>
          <p:cNvSpPr txBox="1"/>
          <p:nvPr/>
        </p:nvSpPr>
        <p:spPr>
          <a:xfrm>
            <a:off x="4581144" y="2834640"/>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P5</a:t>
            </a:r>
            <a:endParaRPr lang="en-US" sz="1000" dirty="0"/>
          </a:p>
        </p:txBody>
      </p:sp>
      <p:sp>
        <p:nvSpPr>
          <p:cNvPr id="27" name="Text 25"/>
          <p:cNvSpPr txBox="1"/>
          <p:nvPr/>
        </p:nvSpPr>
        <p:spPr>
          <a:xfrm>
            <a:off x="5221224" y="2816352"/>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Suy diễn tình huống</a:t>
            </a:r>
            <a:endParaRPr lang="en-US" sz="1300" dirty="0"/>
          </a:p>
        </p:txBody>
      </p:sp>
      <p:sp>
        <p:nvSpPr>
          <p:cNvPr id="28" name="Text 26"/>
          <p:cNvSpPr txBox="1"/>
          <p:nvPr/>
        </p:nvSpPr>
        <p:spPr>
          <a:xfrm>
            <a:off x="4581144" y="3163824"/>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Vừa vượt đèn đỏ vừa không có bằng?</a:t>
            </a:r>
            <a:endParaRPr lang="en-US" sz="1050" dirty="0"/>
          </a:p>
        </p:txBody>
      </p:sp>
      <p:sp>
        <p:nvSpPr>
          <p:cNvPr id="29" name="Shape 27"/>
          <p:cNvSpPr/>
          <p:nvPr/>
        </p:nvSpPr>
        <p:spPr>
          <a:xfrm>
            <a:off x="8037576" y="2651760"/>
            <a:ext cx="3465576" cy="914400"/>
          </a:xfrm>
          <a:prstGeom prst="roundRect">
            <a:avLst>
              <a:gd name="adj" fmla="val 14000"/>
            </a:avLst>
          </a:prstGeom>
          <a:solidFill>
            <a:srgbClr val="F9F4ED"/>
          </a:solidFill>
          <a:ln w="12700">
            <a:solidFill>
              <a:srgbClr val="DCD3C4"/>
            </a:solidFill>
            <a:prstDash val="solid"/>
          </a:ln>
        </p:spPr>
      </p:sp>
      <p:sp>
        <p:nvSpPr>
          <p:cNvPr id="30" name="Shape 28"/>
          <p:cNvSpPr/>
          <p:nvPr/>
        </p:nvSpPr>
        <p:spPr>
          <a:xfrm>
            <a:off x="8257032" y="2834640"/>
            <a:ext cx="512064" cy="274320"/>
          </a:xfrm>
          <a:prstGeom prst="roundRect">
            <a:avLst>
              <a:gd name="adj" fmla="val 50000"/>
            </a:avLst>
          </a:prstGeom>
          <a:solidFill>
            <a:srgbClr val="C67139"/>
          </a:solidFill>
          <a:ln/>
        </p:spPr>
      </p:sp>
      <p:sp>
        <p:nvSpPr>
          <p:cNvPr id="31" name="Text 29"/>
          <p:cNvSpPr txBox="1"/>
          <p:nvPr/>
        </p:nvSpPr>
        <p:spPr>
          <a:xfrm>
            <a:off x="8257032" y="2834640"/>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P6</a:t>
            </a:r>
            <a:endParaRPr lang="en-US" sz="1000" dirty="0"/>
          </a:p>
        </p:txBody>
      </p:sp>
      <p:sp>
        <p:nvSpPr>
          <p:cNvPr id="32" name="Text 30"/>
          <p:cNvSpPr txBox="1"/>
          <p:nvPr/>
        </p:nvSpPr>
        <p:spPr>
          <a:xfrm>
            <a:off x="8897112" y="2816352"/>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Tra cứu căn cứ</a:t>
            </a:r>
            <a:endParaRPr lang="en-US" sz="1300" dirty="0"/>
          </a:p>
        </p:txBody>
      </p:sp>
      <p:sp>
        <p:nvSpPr>
          <p:cNvPr id="33" name="Text 31"/>
          <p:cNvSpPr txBox="1"/>
          <p:nvPr/>
        </p:nvSpPr>
        <p:spPr>
          <a:xfrm>
            <a:off x="8257032" y="3163824"/>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Điều 6 khoản 9 điểm a NĐ 168 nói lỗi gì?</a:t>
            </a:r>
            <a:endParaRPr lang="en-US" sz="1050" dirty="0"/>
          </a:p>
        </p:txBody>
      </p:sp>
      <p:sp>
        <p:nvSpPr>
          <p:cNvPr id="34" name="Shape 32"/>
          <p:cNvSpPr/>
          <p:nvPr/>
        </p:nvSpPr>
        <p:spPr>
          <a:xfrm>
            <a:off x="685800" y="3730752"/>
            <a:ext cx="3465576" cy="914400"/>
          </a:xfrm>
          <a:prstGeom prst="roundRect">
            <a:avLst>
              <a:gd name="adj" fmla="val 14000"/>
            </a:avLst>
          </a:prstGeom>
          <a:solidFill>
            <a:srgbClr val="F9F4ED"/>
          </a:solidFill>
          <a:ln w="12700">
            <a:solidFill>
              <a:srgbClr val="DCD3C4"/>
            </a:solidFill>
            <a:prstDash val="solid"/>
          </a:ln>
        </p:spPr>
      </p:sp>
      <p:sp>
        <p:nvSpPr>
          <p:cNvPr id="35" name="Shape 33"/>
          <p:cNvSpPr/>
          <p:nvPr/>
        </p:nvSpPr>
        <p:spPr>
          <a:xfrm>
            <a:off x="905256" y="3913632"/>
            <a:ext cx="512064" cy="274320"/>
          </a:xfrm>
          <a:prstGeom prst="roundRect">
            <a:avLst>
              <a:gd name="adj" fmla="val 50000"/>
            </a:avLst>
          </a:prstGeom>
          <a:solidFill>
            <a:srgbClr val="7A8A5E"/>
          </a:solidFill>
          <a:ln/>
        </p:spPr>
      </p:sp>
      <p:sp>
        <p:nvSpPr>
          <p:cNvPr id="36" name="Text 34"/>
          <p:cNvSpPr txBox="1"/>
          <p:nvPr/>
        </p:nvSpPr>
        <p:spPr>
          <a:xfrm>
            <a:off x="905256" y="3913632"/>
            <a:ext cx="51206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P7</a:t>
            </a:r>
            <a:endParaRPr lang="en-US" sz="1000" dirty="0"/>
          </a:p>
        </p:txBody>
      </p:sp>
      <p:sp>
        <p:nvSpPr>
          <p:cNvPr id="37" name="Text 35"/>
          <p:cNvSpPr txBox="1"/>
          <p:nvPr/>
        </p:nvSpPr>
        <p:spPr>
          <a:xfrm>
            <a:off x="1545336" y="3895344"/>
            <a:ext cx="2414016" cy="274320"/>
          </a:xfrm>
          <a:prstGeom prst="rect">
            <a:avLst/>
          </a:prstGeom>
          <a:noFill/>
          <a:ln/>
        </p:spPr>
        <p:txBody>
          <a:bodyPr wrap="square" lIns="0" tIns="0" rIns="0" bIns="0" rtlCol="0" anchor="ctr"/>
          <a:lstStyle/>
          <a:p>
            <a:pPr indent="0" marL="0">
              <a:buNone/>
            </a:pPr>
            <a:r>
              <a:rPr lang="en-US" sz="1300" b="1" dirty="0">
                <a:solidFill>
                  <a:srgbClr val="201E1D"/>
                </a:solidFill>
                <a:latin typeface="Arial" pitchFamily="34" charset="0"/>
                <a:ea typeface="Arial" pitchFamily="34" charset="-122"/>
                <a:cs typeface="Arial" pitchFamily="34" charset="-120"/>
              </a:rPr>
              <a:t>Tra cứu liên quan</a:t>
            </a:r>
            <a:endParaRPr lang="en-US" sz="1300" dirty="0"/>
          </a:p>
        </p:txBody>
      </p:sp>
      <p:sp>
        <p:nvSpPr>
          <p:cNvPr id="38" name="Text 36"/>
          <p:cNvSpPr txBox="1"/>
          <p:nvPr/>
        </p:nvSpPr>
        <p:spPr>
          <a:xfrm>
            <a:off x="905256" y="4242816"/>
            <a:ext cx="3026664" cy="365760"/>
          </a:xfrm>
          <a:prstGeom prst="rect">
            <a:avLst/>
          </a:prstGeom>
          <a:noFill/>
          <a:ln/>
        </p:spPr>
        <p:txBody>
          <a:bodyPr wrap="square" lIns="0" tIns="0" rIns="0" bIns="0" rtlCol="0" anchor="ctr"/>
          <a:lstStyle/>
          <a:p>
            <a:pPr indent="0" marL="0">
              <a:buNone/>
            </a:pPr>
            <a:r>
              <a:rPr lang="en-US" sz="1050" i="1" dirty="0">
                <a:solidFill>
                  <a:srgbClr val="82796A"/>
                </a:solidFill>
                <a:latin typeface="Arial" pitchFamily="34" charset="0"/>
                <a:ea typeface="Arial" pitchFamily="34" charset="-122"/>
                <a:cs typeface="Arial" pitchFamily="34" charset="-120"/>
              </a:rPr>
              <a:t>Cho tôi thông tin về điểm giấy phép lái xe.</a:t>
            </a:r>
            <a:endParaRPr lang="en-US" sz="1050" dirty="0"/>
          </a:p>
        </p:txBody>
      </p:sp>
      <p:sp>
        <p:nvSpPr>
          <p:cNvPr id="39" name="Shape 37"/>
          <p:cNvSpPr/>
          <p:nvPr/>
        </p:nvSpPr>
        <p:spPr>
          <a:xfrm>
            <a:off x="4361688" y="3730752"/>
            <a:ext cx="7141464" cy="914400"/>
          </a:xfrm>
          <a:prstGeom prst="roundRect">
            <a:avLst>
              <a:gd name="adj" fmla="val 14000"/>
            </a:avLst>
          </a:prstGeom>
          <a:solidFill>
            <a:srgbClr val="F0FAE1"/>
          </a:solidFill>
          <a:ln w="12700">
            <a:solidFill>
              <a:srgbClr val="CCDBB2"/>
            </a:solidFill>
            <a:prstDash val="solid"/>
          </a:ln>
        </p:spPr>
      </p:sp>
      <p:sp>
        <p:nvSpPr>
          <p:cNvPr id="40" name="Text 38"/>
          <p:cNvSpPr txBox="1"/>
          <p:nvPr/>
        </p:nvSpPr>
        <p:spPr>
          <a:xfrm>
            <a:off x="4599432" y="3877056"/>
            <a:ext cx="6665976" cy="640080"/>
          </a:xfrm>
          <a:prstGeom prst="rect">
            <a:avLst/>
          </a:prstGeom>
          <a:noFill/>
          <a:ln/>
        </p:spPr>
        <p:txBody>
          <a:bodyPr wrap="square" lIns="0" tIns="0" rIns="0" bIns="0" rtlCol="0" anchor="ctr"/>
          <a:lstStyle/>
          <a:p>
            <a:pPr indent="0" marL="0">
              <a:lnSpc>
                <a:spcPts val="1600"/>
              </a:lnSpc>
              <a:buNone/>
            </a:pPr>
            <a:r>
              <a:rPr lang="en-US" sz="1200" dirty="0">
                <a:solidFill>
                  <a:srgbClr val="56633F"/>
                </a:solidFill>
                <a:latin typeface="Arial" pitchFamily="34" charset="0"/>
                <a:ea typeface="Arial" pitchFamily="34" charset="-122"/>
                <a:cs typeface="Arial" pitchFamily="34" charset="-120"/>
              </a:rPr>
              <a:t>Phân lớp KHÔNG chặn kết quả: sau khi bộ giải chạy, hệ luôn bổ sung đủ ba loại tri thức còn thiếu nếu điểm ≥ 0,40 — nhờ vậy một câu bị phân lớp sai vẫn có cơ hội trả đúng.</a:t>
            </a:r>
            <a:endParaRPr lang="en-US" sz="1200" dirty="0"/>
          </a:p>
        </p:txBody>
      </p:sp>
      <p:sp>
        <p:nvSpPr>
          <p:cNvPr id="41" name="Shape 39"/>
          <p:cNvSpPr/>
          <p:nvPr/>
        </p:nvSpPr>
        <p:spPr>
          <a:xfrm>
            <a:off x="685800" y="4809744"/>
            <a:ext cx="7315200" cy="1280160"/>
          </a:xfrm>
          <a:prstGeom prst="roundRect">
            <a:avLst>
              <a:gd name="adj" fmla="val 10000"/>
            </a:avLst>
          </a:prstGeom>
          <a:solidFill>
            <a:srgbClr val="EBDDC5"/>
          </a:solidFill>
          <a:ln/>
        </p:spPr>
      </p:sp>
      <p:sp>
        <p:nvSpPr>
          <p:cNvPr id="42" name="Text 40"/>
          <p:cNvSpPr txBox="1"/>
          <p:nvPr/>
        </p:nvSpPr>
        <p:spPr>
          <a:xfrm>
            <a:off x="996696" y="4937760"/>
            <a:ext cx="2194560" cy="256032"/>
          </a:xfrm>
          <a:prstGeom prst="rect">
            <a:avLst/>
          </a:prstGeom>
          <a:noFill/>
          <a:ln/>
        </p:spPr>
        <p:txBody>
          <a:bodyPr wrap="square" lIns="0" tIns="0" rIns="0" bIns="0" rtlCol="0" anchor="ctr"/>
          <a:lstStyle/>
          <a:p>
            <a:pPr indent="0" marL="0">
              <a:buNone/>
            </a:pPr>
            <a:r>
              <a:rPr lang="en-US" sz="1300" b="1" dirty="0">
                <a:solidFill>
                  <a:srgbClr val="8C491A"/>
                </a:solidFill>
                <a:latin typeface="Arial" pitchFamily="34" charset="0"/>
                <a:ea typeface="Arial" pitchFamily="34" charset="-122"/>
                <a:cs typeface="Arial" pitchFamily="34" charset="-120"/>
              </a:rPr>
              <a:t>Hàm điểm lai</a:t>
            </a:r>
            <a:endParaRPr lang="en-US" sz="1300" dirty="0"/>
          </a:p>
        </p:txBody>
      </p:sp>
      <p:sp>
        <p:nvSpPr>
          <p:cNvPr id="43" name="Text 41"/>
          <p:cNvSpPr txBox="1"/>
          <p:nvPr/>
        </p:nvSpPr>
        <p:spPr>
          <a:xfrm>
            <a:off x="996696" y="5212080"/>
            <a:ext cx="6766560" cy="274320"/>
          </a:xfrm>
          <a:prstGeom prst="rect">
            <a:avLst/>
          </a:prstGeom>
          <a:noFill/>
          <a:ln/>
        </p:spPr>
        <p:txBody>
          <a:bodyPr wrap="square" lIns="0" tIns="0" rIns="0" bIns="0" rtlCol="0" anchor="ctr"/>
          <a:lstStyle/>
          <a:p>
            <a:pPr indent="0" marL="0">
              <a:buNone/>
            </a:pPr>
            <a:r>
              <a:rPr lang="en-US" sz="1250" b="1" dirty="0">
                <a:solidFill>
                  <a:srgbClr val="201E1D"/>
                </a:solidFill>
                <a:latin typeface="Courier New" pitchFamily="34" charset="0"/>
                <a:ea typeface="Courier New" pitchFamily="34" charset="-122"/>
                <a:cs typeface="Courier New" pitchFamily="34" charset="-120"/>
              </a:rPr>
              <a:t>score = 0,55·s_keyphrase + 0,30·s_ngữ_nghĩa + 0,15·s_ngữ_cảnh</a:t>
            </a:r>
            <a:endParaRPr lang="en-US" sz="1250" dirty="0"/>
          </a:p>
        </p:txBody>
      </p:sp>
      <p:sp>
        <p:nvSpPr>
          <p:cNvPr id="44" name="Text 42"/>
          <p:cNvSpPr txBox="1"/>
          <p:nvPr/>
        </p:nvSpPr>
        <p:spPr>
          <a:xfrm>
            <a:off x="996696" y="5504688"/>
            <a:ext cx="6693408" cy="512064"/>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Keyphrase nhận trọng số cao nhất vì là tín hiệu chắc chắn; TF-IDF char n-gram lo phần phủ cho câu khẩu ngữ; ngữ cảnh chỉ để phân biệt các hành vi na ná nhau.</a:t>
            </a:r>
            <a:endParaRPr lang="en-US" sz="1100" dirty="0"/>
          </a:p>
        </p:txBody>
      </p:sp>
      <p:sp>
        <p:nvSpPr>
          <p:cNvPr id="45" name="Shape 43"/>
          <p:cNvSpPr/>
          <p:nvPr/>
        </p:nvSpPr>
        <p:spPr>
          <a:xfrm>
            <a:off x="8275320" y="4809744"/>
            <a:ext cx="1517904" cy="1280160"/>
          </a:xfrm>
          <a:prstGeom prst="roundRect">
            <a:avLst>
              <a:gd name="adj" fmla="val 10000"/>
            </a:avLst>
          </a:prstGeom>
          <a:solidFill>
            <a:srgbClr val="F9F4ED"/>
          </a:solidFill>
          <a:ln w="12700">
            <a:solidFill>
              <a:srgbClr val="DCD3C4"/>
            </a:solidFill>
            <a:prstDash val="solid"/>
          </a:ln>
        </p:spPr>
      </p:sp>
      <p:sp>
        <p:nvSpPr>
          <p:cNvPr id="46" name="Text 44"/>
          <p:cNvSpPr txBox="1"/>
          <p:nvPr/>
        </p:nvSpPr>
        <p:spPr>
          <a:xfrm>
            <a:off x="8275320" y="4974336"/>
            <a:ext cx="1517904" cy="457200"/>
          </a:xfrm>
          <a:prstGeom prst="rect">
            <a:avLst/>
          </a:prstGeom>
          <a:noFill/>
          <a:ln/>
        </p:spPr>
        <p:txBody>
          <a:bodyPr wrap="square" lIns="0" tIns="0" rIns="0" bIns="0" rtlCol="0" anchor="ctr"/>
          <a:lstStyle/>
          <a:p>
            <a:pPr algn="ctr" indent="0" marL="0">
              <a:buNone/>
            </a:pPr>
            <a:r>
              <a:rPr lang="en-US" sz="2200" b="1" dirty="0">
                <a:solidFill>
                  <a:srgbClr val="82796A"/>
                </a:solidFill>
                <a:latin typeface="Arial" pitchFamily="34" charset="0"/>
                <a:ea typeface="Arial" pitchFamily="34" charset="-122"/>
                <a:cs typeface="Arial" pitchFamily="34" charset="-120"/>
              </a:rPr>
              <a:t>58,3%</a:t>
            </a:r>
            <a:endParaRPr lang="en-US" sz="2200" dirty="0"/>
          </a:p>
        </p:txBody>
      </p:sp>
      <p:sp>
        <p:nvSpPr>
          <p:cNvPr id="47" name="Text 45"/>
          <p:cNvSpPr txBox="1"/>
          <p:nvPr/>
        </p:nvSpPr>
        <p:spPr>
          <a:xfrm>
            <a:off x="8275320" y="5449824"/>
            <a:ext cx="1517904" cy="256032"/>
          </a:xfrm>
          <a:prstGeom prst="rect">
            <a:avLst/>
          </a:prstGeom>
          <a:noFill/>
          <a:ln/>
        </p:spPr>
        <p:txBody>
          <a:bodyPr wrap="square" lIns="0" tIns="0" rIns="0" bIns="0" rtlCol="0" anchor="ctr"/>
          <a:lstStyle/>
          <a:p>
            <a:pPr algn="ctr" indent="0" marL="0">
              <a:buNone/>
            </a:pPr>
            <a:r>
              <a:rPr lang="en-US" sz="1100" dirty="0">
                <a:solidFill>
                  <a:srgbClr val="645C50"/>
                </a:solidFill>
                <a:latin typeface="Arial" pitchFamily="34" charset="0"/>
                <a:ea typeface="Arial" pitchFamily="34" charset="-122"/>
                <a:cs typeface="Arial" pitchFamily="34" charset="-120"/>
              </a:rPr>
              <a:t>chỉ TF-IDF</a:t>
            </a:r>
            <a:endParaRPr lang="en-US" sz="1100" dirty="0"/>
          </a:p>
        </p:txBody>
      </p:sp>
      <p:sp>
        <p:nvSpPr>
          <p:cNvPr id="48" name="Shape 46"/>
          <p:cNvSpPr/>
          <p:nvPr/>
        </p:nvSpPr>
        <p:spPr>
          <a:xfrm>
            <a:off x="9985248" y="4809744"/>
            <a:ext cx="1517904" cy="1280160"/>
          </a:xfrm>
          <a:prstGeom prst="roundRect">
            <a:avLst>
              <a:gd name="adj" fmla="val 10000"/>
            </a:avLst>
          </a:prstGeom>
          <a:solidFill>
            <a:srgbClr val="FFF2EB"/>
          </a:solidFill>
          <a:ln w="12700">
            <a:solidFill>
              <a:srgbClr val="FFC6A5"/>
            </a:solidFill>
            <a:prstDash val="solid"/>
          </a:ln>
        </p:spPr>
      </p:sp>
      <p:sp>
        <p:nvSpPr>
          <p:cNvPr id="49" name="Text 47"/>
          <p:cNvSpPr txBox="1"/>
          <p:nvPr/>
        </p:nvSpPr>
        <p:spPr>
          <a:xfrm>
            <a:off x="9985248" y="4974336"/>
            <a:ext cx="1517904" cy="457200"/>
          </a:xfrm>
          <a:prstGeom prst="rect">
            <a:avLst/>
          </a:prstGeom>
          <a:noFill/>
          <a:ln/>
        </p:spPr>
        <p:txBody>
          <a:bodyPr wrap="square" lIns="0" tIns="0" rIns="0" bIns="0" rtlCol="0" anchor="ctr"/>
          <a:lstStyle/>
          <a:p>
            <a:pPr algn="ctr" indent="0" marL="0">
              <a:buNone/>
            </a:pPr>
            <a:r>
              <a:rPr lang="en-US" sz="2200" b="1" dirty="0">
                <a:solidFill>
                  <a:srgbClr val="C67139"/>
                </a:solidFill>
                <a:latin typeface="Arial" pitchFamily="34" charset="0"/>
                <a:ea typeface="Arial" pitchFamily="34" charset="-122"/>
                <a:cs typeface="Arial" pitchFamily="34" charset="-120"/>
              </a:rPr>
              <a:t>76,7%</a:t>
            </a:r>
            <a:endParaRPr lang="en-US" sz="2200" dirty="0"/>
          </a:p>
        </p:txBody>
      </p:sp>
      <p:sp>
        <p:nvSpPr>
          <p:cNvPr id="50" name="Text 48"/>
          <p:cNvSpPr txBox="1"/>
          <p:nvPr/>
        </p:nvSpPr>
        <p:spPr>
          <a:xfrm>
            <a:off x="9985248" y="5449824"/>
            <a:ext cx="1517904" cy="256032"/>
          </a:xfrm>
          <a:prstGeom prst="rect">
            <a:avLst/>
          </a:prstGeom>
          <a:noFill/>
          <a:ln/>
        </p:spPr>
        <p:txBody>
          <a:bodyPr wrap="square" lIns="0" tIns="0" rIns="0" bIns="0" rtlCol="0" anchor="ctr"/>
          <a:lstStyle/>
          <a:p>
            <a:pPr algn="ctr" indent="0" marL="0">
              <a:buNone/>
            </a:pPr>
            <a:r>
              <a:rPr lang="en-US" sz="1100" dirty="0">
                <a:solidFill>
                  <a:srgbClr val="645C50"/>
                </a:solidFill>
                <a:latin typeface="Arial" pitchFamily="34" charset="0"/>
                <a:ea typeface="Arial" pitchFamily="34" charset="-122"/>
                <a:cs typeface="Arial" pitchFamily="34" charset="-120"/>
              </a:rPr>
              <a:t>hệ đầy đủ</a:t>
            </a:r>
            <a:endParaRPr lang="en-US" sz="1100" dirty="0"/>
          </a:p>
        </p:txBody>
      </p:sp>
      <p:sp>
        <p:nvSpPr>
          <p:cNvPr id="51" name="Text 49"/>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Top-1 trên 120 câu hỏi</a:t>
            </a:r>
            <a:endParaRPr lang="en-US" sz="1000" dirty="0"/>
          </a:p>
        </p:txBody>
      </p:sp>
      <p:sp>
        <p:nvSpPr>
          <p:cNvPr id="52" name="Text 50"/>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4 · PHƯƠNG PHÁP</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Cấu hình siêu tham số</a:t>
            </a:r>
            <a:endParaRPr lang="en-US" sz="3000" dirty="0"/>
          </a:p>
        </p:txBody>
      </p:sp>
      <p:sp>
        <p:nvSpPr>
          <p:cNvPr id="4" name="Shape 2"/>
          <p:cNvSpPr/>
          <p:nvPr/>
        </p:nvSpPr>
        <p:spPr>
          <a:xfrm>
            <a:off x="685800" y="1536192"/>
            <a:ext cx="6903720" cy="2286000"/>
          </a:xfrm>
          <a:prstGeom prst="roundRect">
            <a:avLst>
              <a:gd name="adj" fmla="val 5600"/>
            </a:avLst>
          </a:prstGeom>
          <a:solidFill>
            <a:srgbClr val="FFF2EB"/>
          </a:solidFill>
          <a:ln w="12700">
            <a:solidFill>
              <a:srgbClr val="FFC6A5"/>
            </a:solidFill>
            <a:prstDash val="solid"/>
          </a:ln>
        </p:spPr>
      </p:sp>
      <p:sp>
        <p:nvSpPr>
          <p:cNvPr id="5" name="Text 3"/>
          <p:cNvSpPr txBox="1"/>
          <p:nvPr/>
        </p:nvSpPr>
        <p:spPr>
          <a:xfrm>
            <a:off x="996696" y="1737360"/>
            <a:ext cx="6309360" cy="310896"/>
          </a:xfrm>
          <a:prstGeom prst="rect">
            <a:avLst/>
          </a:prstGeom>
          <a:noFill/>
          <a:ln/>
        </p:spPr>
        <p:txBody>
          <a:bodyPr wrap="square" lIns="0" tIns="0" rIns="0" bIns="0" rtlCol="0" anchor="ctr"/>
          <a:lstStyle/>
          <a:p>
            <a:pPr indent="0" marL="0">
              <a:buNone/>
            </a:pPr>
            <a:r>
              <a:rPr lang="en-US" sz="1250" b="1" dirty="0">
                <a:solidFill>
                  <a:srgbClr val="201E1D"/>
                </a:solidFill>
                <a:latin typeface="Courier New" pitchFamily="34" charset="0"/>
                <a:ea typeface="Courier New" pitchFamily="34" charset="-122"/>
                <a:cs typeface="Courier New" pitchFamily="34" charset="-120"/>
              </a:rPr>
              <a:t>score(x, q)  =  0,55 · s_keyphrase  +  0,30 · s_ngữ_nghĩa  +  0,15 · s_ngữ_cảnh</a:t>
            </a:r>
            <a:endParaRPr lang="en-US" sz="1250" dirty="0"/>
          </a:p>
        </p:txBody>
      </p:sp>
      <p:sp>
        <p:nvSpPr>
          <p:cNvPr id="6" name="Text 4"/>
          <p:cNvSpPr txBox="1"/>
          <p:nvPr/>
        </p:nvSpPr>
        <p:spPr>
          <a:xfrm>
            <a:off x="996696" y="2176272"/>
            <a:ext cx="2651760" cy="274320"/>
          </a:xfrm>
          <a:prstGeom prst="rect">
            <a:avLst/>
          </a:prstGeom>
          <a:noFill/>
          <a:ln/>
        </p:spPr>
        <p:txBody>
          <a:bodyPr wrap="square" lIns="0" tIns="0" rIns="0" bIns="0" rtlCol="0" anchor="ctr"/>
          <a:lstStyle/>
          <a:p>
            <a:pPr indent="0" marL="0">
              <a:buNone/>
            </a:pPr>
            <a:r>
              <a:rPr lang="en-US" sz="1100" b="1" dirty="0">
                <a:solidFill>
                  <a:srgbClr val="8C491A"/>
                </a:solidFill>
                <a:latin typeface="Courier New" pitchFamily="34" charset="0"/>
                <a:ea typeface="Courier New" pitchFamily="34" charset="-122"/>
                <a:cs typeface="Courier New" pitchFamily="34" charset="-120"/>
              </a:rPr>
              <a:t>ALPHA = 0,55</a:t>
            </a:r>
            <a:endParaRPr lang="en-US" sz="1100" dirty="0"/>
          </a:p>
        </p:txBody>
      </p:sp>
      <p:sp>
        <p:nvSpPr>
          <p:cNvPr id="7" name="Text 5"/>
          <p:cNvSpPr txBox="1"/>
          <p:nvPr/>
        </p:nvSpPr>
        <p:spPr>
          <a:xfrm>
            <a:off x="3703320" y="2176272"/>
            <a:ext cx="3749040" cy="274320"/>
          </a:xfrm>
          <a:prstGeom prst="rect">
            <a:avLst/>
          </a:prstGeom>
          <a:noFill/>
          <a:ln/>
        </p:spPr>
        <p:txBody>
          <a:bodyPr wrap="square" lIns="0" tIns="0" rIns="0" bIns="0" rtlCol="0" anchor="ctr"/>
          <a:lstStyle/>
          <a:p>
            <a:pPr indent="0" marL="0">
              <a:buNone/>
            </a:pPr>
            <a:r>
              <a:rPr lang="en-US" sz="1100" dirty="0">
                <a:solidFill>
                  <a:srgbClr val="5A4032"/>
                </a:solidFill>
                <a:latin typeface="Arial" pitchFamily="34" charset="0"/>
                <a:ea typeface="Arial" pitchFamily="34" charset="-122"/>
                <a:cs typeface="Arial" pitchFamily="34" charset="-120"/>
              </a:rPr>
              <a:t>làn keyphrase — tín hiệu chắc chắn nhất</a:t>
            </a:r>
            <a:endParaRPr lang="en-US" sz="1100" dirty="0"/>
          </a:p>
        </p:txBody>
      </p:sp>
      <p:sp>
        <p:nvSpPr>
          <p:cNvPr id="8" name="Text 6"/>
          <p:cNvSpPr txBox="1"/>
          <p:nvPr/>
        </p:nvSpPr>
        <p:spPr>
          <a:xfrm>
            <a:off x="996696" y="2487168"/>
            <a:ext cx="2651760" cy="274320"/>
          </a:xfrm>
          <a:prstGeom prst="rect">
            <a:avLst/>
          </a:prstGeom>
          <a:noFill/>
          <a:ln/>
        </p:spPr>
        <p:txBody>
          <a:bodyPr wrap="square" lIns="0" tIns="0" rIns="0" bIns="0" rtlCol="0" anchor="ctr"/>
          <a:lstStyle/>
          <a:p>
            <a:pPr indent="0" marL="0">
              <a:buNone/>
            </a:pPr>
            <a:r>
              <a:rPr lang="en-US" sz="1100" b="1" dirty="0">
                <a:solidFill>
                  <a:srgbClr val="8C491A"/>
                </a:solidFill>
                <a:latin typeface="Courier New" pitchFamily="34" charset="0"/>
                <a:ea typeface="Courier New" pitchFamily="34" charset="-122"/>
                <a:cs typeface="Courier New" pitchFamily="34" charset="-120"/>
              </a:rPr>
              <a:t>BETA = 0,30</a:t>
            </a:r>
            <a:endParaRPr lang="en-US" sz="1100" dirty="0"/>
          </a:p>
        </p:txBody>
      </p:sp>
      <p:sp>
        <p:nvSpPr>
          <p:cNvPr id="9" name="Text 7"/>
          <p:cNvSpPr txBox="1"/>
          <p:nvPr/>
        </p:nvSpPr>
        <p:spPr>
          <a:xfrm>
            <a:off x="3703320" y="2487168"/>
            <a:ext cx="3749040" cy="274320"/>
          </a:xfrm>
          <a:prstGeom prst="rect">
            <a:avLst/>
          </a:prstGeom>
          <a:noFill/>
          <a:ln/>
        </p:spPr>
        <p:txBody>
          <a:bodyPr wrap="square" lIns="0" tIns="0" rIns="0" bIns="0" rtlCol="0" anchor="ctr"/>
          <a:lstStyle/>
          <a:p>
            <a:pPr indent="0" marL="0">
              <a:buNone/>
            </a:pPr>
            <a:r>
              <a:rPr lang="en-US" sz="1100" dirty="0">
                <a:solidFill>
                  <a:srgbClr val="5A4032"/>
                </a:solidFill>
                <a:latin typeface="Arial" pitchFamily="34" charset="0"/>
                <a:ea typeface="Arial" pitchFamily="34" charset="-122"/>
                <a:cs typeface="Arial" pitchFamily="34" charset="-120"/>
              </a:rPr>
              <a:t>làn ngữ nghĩa TF-IDF — lo phần phủ</a:t>
            </a:r>
            <a:endParaRPr lang="en-US" sz="1100" dirty="0"/>
          </a:p>
        </p:txBody>
      </p:sp>
      <p:sp>
        <p:nvSpPr>
          <p:cNvPr id="10" name="Text 8"/>
          <p:cNvSpPr txBox="1"/>
          <p:nvPr/>
        </p:nvSpPr>
        <p:spPr>
          <a:xfrm>
            <a:off x="996696" y="2798064"/>
            <a:ext cx="2651760" cy="274320"/>
          </a:xfrm>
          <a:prstGeom prst="rect">
            <a:avLst/>
          </a:prstGeom>
          <a:noFill/>
          <a:ln/>
        </p:spPr>
        <p:txBody>
          <a:bodyPr wrap="square" lIns="0" tIns="0" rIns="0" bIns="0" rtlCol="0" anchor="ctr"/>
          <a:lstStyle/>
          <a:p>
            <a:pPr indent="0" marL="0">
              <a:buNone/>
            </a:pPr>
            <a:r>
              <a:rPr lang="en-US" sz="1100" b="1" dirty="0">
                <a:solidFill>
                  <a:srgbClr val="8C491A"/>
                </a:solidFill>
                <a:latin typeface="Courier New" pitchFamily="34" charset="0"/>
                <a:ea typeface="Courier New" pitchFamily="34" charset="-122"/>
                <a:cs typeface="Courier New" pitchFamily="34" charset="-120"/>
              </a:rPr>
              <a:t>GAMMA = 0,15</a:t>
            </a:r>
            <a:endParaRPr lang="en-US" sz="1100" dirty="0"/>
          </a:p>
        </p:txBody>
      </p:sp>
      <p:sp>
        <p:nvSpPr>
          <p:cNvPr id="11" name="Text 9"/>
          <p:cNvSpPr txBox="1"/>
          <p:nvPr/>
        </p:nvSpPr>
        <p:spPr>
          <a:xfrm>
            <a:off x="3703320" y="2798064"/>
            <a:ext cx="3749040" cy="274320"/>
          </a:xfrm>
          <a:prstGeom prst="rect">
            <a:avLst/>
          </a:prstGeom>
          <a:noFill/>
          <a:ln/>
        </p:spPr>
        <p:txBody>
          <a:bodyPr wrap="square" lIns="0" tIns="0" rIns="0" bIns="0" rtlCol="0" anchor="ctr"/>
          <a:lstStyle/>
          <a:p>
            <a:pPr indent="0" marL="0">
              <a:buNone/>
            </a:pPr>
            <a:r>
              <a:rPr lang="en-US" sz="1100" dirty="0">
                <a:solidFill>
                  <a:srgbClr val="5A4032"/>
                </a:solidFill>
                <a:latin typeface="Arial" pitchFamily="34" charset="0"/>
                <a:ea typeface="Arial" pitchFamily="34" charset="-122"/>
                <a:cs typeface="Arial" pitchFamily="34" charset="-120"/>
              </a:rPr>
              <a:t>làn ngữ cảnh — phân biệt hành vi na ná nhau</a:t>
            </a:r>
            <a:endParaRPr lang="en-US" sz="1100" dirty="0"/>
          </a:p>
        </p:txBody>
      </p:sp>
      <p:sp>
        <p:nvSpPr>
          <p:cNvPr id="12" name="Text 10"/>
          <p:cNvSpPr txBox="1"/>
          <p:nvPr/>
        </p:nvSpPr>
        <p:spPr>
          <a:xfrm>
            <a:off x="996696" y="3108960"/>
            <a:ext cx="2651760" cy="274320"/>
          </a:xfrm>
          <a:prstGeom prst="rect">
            <a:avLst/>
          </a:prstGeom>
          <a:noFill/>
          <a:ln/>
        </p:spPr>
        <p:txBody>
          <a:bodyPr wrap="square" lIns="0" tIns="0" rIns="0" bIns="0" rtlCol="0" anchor="ctr"/>
          <a:lstStyle/>
          <a:p>
            <a:pPr indent="0" marL="0">
              <a:buNone/>
            </a:pPr>
            <a:r>
              <a:rPr lang="en-US" sz="1100" b="1" dirty="0">
                <a:solidFill>
                  <a:srgbClr val="8C491A"/>
                </a:solidFill>
                <a:latin typeface="Courier New" pitchFamily="34" charset="0"/>
                <a:ea typeface="Courier New" pitchFamily="34" charset="-122"/>
                <a:cs typeface="Courier New" pitchFamily="34" charset="-120"/>
              </a:rPr>
              <a:t>ngưỡng bổ sung = 0,40</a:t>
            </a:r>
            <a:endParaRPr lang="en-US" sz="1100" dirty="0"/>
          </a:p>
        </p:txBody>
      </p:sp>
      <p:sp>
        <p:nvSpPr>
          <p:cNvPr id="13" name="Text 11"/>
          <p:cNvSpPr txBox="1"/>
          <p:nvPr/>
        </p:nvSpPr>
        <p:spPr>
          <a:xfrm>
            <a:off x="3703320" y="3108960"/>
            <a:ext cx="3749040" cy="274320"/>
          </a:xfrm>
          <a:prstGeom prst="rect">
            <a:avLst/>
          </a:prstGeom>
          <a:noFill/>
          <a:ln/>
        </p:spPr>
        <p:txBody>
          <a:bodyPr wrap="square" lIns="0" tIns="0" rIns="0" bIns="0" rtlCol="0" anchor="ctr"/>
          <a:lstStyle/>
          <a:p>
            <a:pPr indent="0" marL="0">
              <a:buNone/>
            </a:pPr>
            <a:r>
              <a:rPr lang="en-US" sz="1100" dirty="0">
                <a:solidFill>
                  <a:srgbClr val="5A4032"/>
                </a:solidFill>
                <a:latin typeface="Arial" pitchFamily="34" charset="0"/>
                <a:ea typeface="Arial" pitchFamily="34" charset="-122"/>
                <a:cs typeface="Arial" pitchFamily="34" charset="-120"/>
              </a:rPr>
              <a:t>bổ sung loại tri thức còn thiếu sau khi bộ giải chạy</a:t>
            </a:r>
            <a:endParaRPr lang="en-US" sz="1100" dirty="0"/>
          </a:p>
        </p:txBody>
      </p:sp>
      <p:sp>
        <p:nvSpPr>
          <p:cNvPr id="14" name="Text 12"/>
          <p:cNvSpPr txBox="1"/>
          <p:nvPr/>
        </p:nvSpPr>
        <p:spPr>
          <a:xfrm>
            <a:off x="996696" y="3419856"/>
            <a:ext cx="2651760" cy="274320"/>
          </a:xfrm>
          <a:prstGeom prst="rect">
            <a:avLst/>
          </a:prstGeom>
          <a:noFill/>
          <a:ln/>
        </p:spPr>
        <p:txBody>
          <a:bodyPr wrap="square" lIns="0" tIns="0" rIns="0" bIns="0" rtlCol="0" anchor="ctr"/>
          <a:lstStyle/>
          <a:p>
            <a:pPr indent="0" marL="0">
              <a:buNone/>
            </a:pPr>
            <a:r>
              <a:rPr lang="en-US" sz="1100" b="1" dirty="0">
                <a:solidFill>
                  <a:srgbClr val="8C491A"/>
                </a:solidFill>
                <a:latin typeface="Courier New" pitchFamily="34" charset="0"/>
                <a:ea typeface="Courier New" pitchFamily="34" charset="-122"/>
                <a:cs typeface="Courier New" pitchFamily="34" charset="-120"/>
              </a:rPr>
              <a:t>ngưỡng nhóm ngữ nghĩa = 0,24</a:t>
            </a:r>
            <a:endParaRPr lang="en-US" sz="1100" dirty="0"/>
          </a:p>
        </p:txBody>
      </p:sp>
      <p:sp>
        <p:nvSpPr>
          <p:cNvPr id="15" name="Text 13"/>
          <p:cNvSpPr txBox="1"/>
          <p:nvPr/>
        </p:nvSpPr>
        <p:spPr>
          <a:xfrm>
            <a:off x="3703320" y="3419856"/>
            <a:ext cx="3749040" cy="274320"/>
          </a:xfrm>
          <a:prstGeom prst="rect">
            <a:avLst/>
          </a:prstGeom>
          <a:noFill/>
          <a:ln/>
        </p:spPr>
        <p:txBody>
          <a:bodyPr wrap="square" lIns="0" tIns="0" rIns="0" bIns="0" rtlCol="0" anchor="ctr"/>
          <a:lstStyle/>
          <a:p>
            <a:pPr indent="0" marL="0">
              <a:buNone/>
            </a:pPr>
            <a:r>
              <a:rPr lang="en-US" sz="1100" dirty="0">
                <a:solidFill>
                  <a:srgbClr val="5A4032"/>
                </a:solidFill>
                <a:latin typeface="Arial" pitchFamily="34" charset="0"/>
                <a:ea typeface="Arial" pitchFamily="34" charset="-122"/>
                <a:cs typeface="Arial" pitchFamily="34" charset="-120"/>
              </a:rPr>
              <a:t>tối đa 2 nhóm — chặn suy đoán khi tín hiệu yếu</a:t>
            </a:r>
            <a:endParaRPr lang="en-US" sz="1100" dirty="0"/>
          </a:p>
        </p:txBody>
      </p:sp>
      <p:sp>
        <p:nvSpPr>
          <p:cNvPr id="16" name="Shape 14"/>
          <p:cNvSpPr/>
          <p:nvPr/>
        </p:nvSpPr>
        <p:spPr>
          <a:xfrm>
            <a:off x="7818120" y="1536192"/>
            <a:ext cx="3687775" cy="2286000"/>
          </a:xfrm>
          <a:prstGeom prst="roundRect">
            <a:avLst>
              <a:gd name="adj" fmla="val 5600"/>
            </a:avLst>
          </a:prstGeom>
          <a:solidFill>
            <a:srgbClr val="F9F4ED"/>
          </a:solidFill>
          <a:ln w="12700">
            <a:solidFill>
              <a:srgbClr val="DCD3C4"/>
            </a:solidFill>
            <a:prstDash val="solid"/>
          </a:ln>
        </p:spPr>
      </p:sp>
      <p:sp>
        <p:nvSpPr>
          <p:cNvPr id="17" name="Shape 15"/>
          <p:cNvSpPr/>
          <p:nvPr/>
        </p:nvSpPr>
        <p:spPr>
          <a:xfrm>
            <a:off x="8110728" y="1737360"/>
            <a:ext cx="1035101" cy="274320"/>
          </a:xfrm>
          <a:prstGeom prst="roundRect">
            <a:avLst>
              <a:gd name="adj" fmla="val 50000"/>
            </a:avLst>
          </a:prstGeom>
          <a:solidFill>
            <a:srgbClr val="7A8A5E"/>
          </a:solidFill>
          <a:ln/>
        </p:spPr>
      </p:sp>
      <p:sp>
        <p:nvSpPr>
          <p:cNvPr id="18" name="Text 16"/>
          <p:cNvSpPr txBox="1"/>
          <p:nvPr/>
        </p:nvSpPr>
        <p:spPr>
          <a:xfrm>
            <a:off x="8110728" y="1737360"/>
            <a:ext cx="1035101"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ĐẶC TRƯNG</a:t>
            </a:r>
            <a:endParaRPr lang="en-US" sz="900" dirty="0"/>
          </a:p>
        </p:txBody>
      </p:sp>
      <p:sp>
        <p:nvSpPr>
          <p:cNvPr id="19" name="Text 17"/>
          <p:cNvSpPr txBox="1"/>
          <p:nvPr/>
        </p:nvSpPr>
        <p:spPr>
          <a:xfrm>
            <a:off x="8110728" y="2103120"/>
            <a:ext cx="3108960" cy="1609344"/>
          </a:xfrm>
          <a:prstGeom prst="rect">
            <a:avLst/>
          </a:prstGeom>
          <a:noFill/>
          <a:ln/>
        </p:spPr>
        <p:txBody>
          <a:bodyPr wrap="square" lIns="0" tIns="0" rIns="0" bIns="0" rtlCol="0" anchor="t"/>
          <a:lstStyle/>
          <a:p>
            <a:pPr indent="0" marL="0">
              <a:lnSpc>
                <a:spcPts val="1300"/>
              </a:lnSpc>
              <a:buNone/>
            </a:pPr>
            <a:r>
              <a:rPr lang="en-US" sz="1050" b="1" dirty="0">
                <a:solidFill>
                  <a:srgbClr val="201E1D"/>
                </a:solidFill>
                <a:latin typeface="Arial" pitchFamily="34" charset="0"/>
                <a:ea typeface="Arial" pitchFamily="34" charset="-122"/>
                <a:cs typeface="Arial" pitchFamily="34" charset="-120"/>
              </a:rPr>
              <a:t>TF-IDF ký tự
</a:t>
            </a:r>
            <a:endParaRPr lang="en-US" sz="1050" dirty="0"/>
          </a:p>
          <a:p>
            <a:pPr indent="0" marL="0">
              <a:lnSpc>
                <a:spcPts val="1300"/>
              </a:lnSpc>
              <a:buNone/>
            </a:pPr>
            <a:r>
              <a:rPr lang="en-US" sz="1050" dirty="0">
                <a:solidFill>
                  <a:srgbClr val="645C50"/>
                </a:solidFill>
                <a:latin typeface="Arial" pitchFamily="34" charset="0"/>
                <a:ea typeface="Arial" pitchFamily="34" charset="-122"/>
                <a:cs typeface="Arial" pitchFamily="34" charset="-120"/>
              </a:rPr>
              <a:t>char_wb · n-gram 3–5 · sublinear_tf
chịu lỗi chính tả và cách tách từ tiếng Việt
</a:t>
            </a:r>
            <a:endParaRPr lang="en-US" sz="1050" dirty="0"/>
          </a:p>
          <a:p>
            <a:pPr indent="0" marL="0">
              <a:lnSpc>
                <a:spcPts val="1300"/>
              </a:lnSpc>
              <a:buNone/>
            </a:pPr>
            <a:r>
              <a:rPr lang="en-US" sz="1050" b="1" dirty="0">
                <a:solidFill>
                  <a:srgbClr val="201E1D"/>
                </a:solidFill>
                <a:latin typeface="Arial" pitchFamily="34" charset="0"/>
                <a:ea typeface="Arial" pitchFamily="34" charset="-122"/>
                <a:cs typeface="Arial" pitchFamily="34" charset="-120"/>
              </a:rPr>
              <a:t>TF-IDF từ
</a:t>
            </a:r>
            <a:endParaRPr lang="en-US" sz="1050" dirty="0"/>
          </a:p>
          <a:p>
            <a:pPr indent="0" marL="0">
              <a:lnSpc>
                <a:spcPts val="1300"/>
              </a:lnSpc>
              <a:buNone/>
            </a:pPr>
            <a:r>
              <a:rPr lang="en-US" sz="1050" dirty="0">
                <a:solidFill>
                  <a:srgbClr val="645C50"/>
                </a:solidFill>
                <a:latin typeface="Arial" pitchFamily="34" charset="0"/>
                <a:ea typeface="Arial" pitchFamily="34" charset="-122"/>
                <a:cs typeface="Arial" pitchFamily="34" charset="-120"/>
              </a:rPr>
              <a:t>word · n-gram 1–3 · sublinear_tf
giữ được cụm nhiều từ
</a:t>
            </a:r>
            <a:endParaRPr lang="en-US" sz="1050" dirty="0"/>
          </a:p>
          <a:p>
            <a:pPr indent="0" marL="0">
              <a:lnSpc>
                <a:spcPts val="1300"/>
              </a:lnSpc>
              <a:buNone/>
            </a:pPr>
            <a:r>
              <a:rPr lang="en-US" sz="1050" b="1" dirty="0">
                <a:solidFill>
                  <a:srgbClr val="201E1D"/>
                </a:solidFill>
                <a:latin typeface="Arial" pitchFamily="34" charset="0"/>
                <a:ea typeface="Arial" pitchFamily="34" charset="-122"/>
                <a:cs typeface="Arial" pitchFamily="34" charset="-120"/>
              </a:rPr>
              <a:t>k = 5 kết quả mỗi truy vấn</a:t>
            </a:r>
            <a:endParaRPr lang="en-US" sz="1050" dirty="0"/>
          </a:p>
        </p:txBody>
      </p:sp>
      <p:sp>
        <p:nvSpPr>
          <p:cNvPr id="20" name="Shape 18"/>
          <p:cNvSpPr/>
          <p:nvPr/>
        </p:nvSpPr>
        <p:spPr>
          <a:xfrm>
            <a:off x="685800" y="4005072"/>
            <a:ext cx="10820095" cy="1371600"/>
          </a:xfrm>
          <a:prstGeom prst="roundRect">
            <a:avLst>
              <a:gd name="adj" fmla="val 9333"/>
            </a:avLst>
          </a:prstGeom>
          <a:solidFill>
            <a:srgbClr val="F0FAE1"/>
          </a:solidFill>
          <a:ln w="12700">
            <a:solidFill>
              <a:srgbClr val="CCDBB2"/>
            </a:solidFill>
            <a:prstDash val="solid"/>
          </a:ln>
        </p:spPr>
      </p:sp>
      <p:sp>
        <p:nvSpPr>
          <p:cNvPr id="21" name="Text 19"/>
          <p:cNvSpPr txBox="1"/>
          <p:nvPr/>
        </p:nvSpPr>
        <p:spPr>
          <a:xfrm>
            <a:off x="1014984" y="4187952"/>
            <a:ext cx="5486400" cy="292608"/>
          </a:xfrm>
          <a:prstGeom prst="rect">
            <a:avLst/>
          </a:prstGeom>
          <a:noFill/>
          <a:ln/>
        </p:spPr>
        <p:txBody>
          <a:bodyPr wrap="square" lIns="0" tIns="0" rIns="0" bIns="0" rtlCol="0" anchor="ctr"/>
          <a:lstStyle/>
          <a:p>
            <a:pPr indent="0" marL="0">
              <a:buNone/>
            </a:pPr>
            <a:r>
              <a:rPr lang="en-US" sz="1500" b="1" dirty="0">
                <a:solidFill>
                  <a:srgbClr val="56633F"/>
                </a:solidFill>
                <a:latin typeface="Arial" pitchFamily="34" charset="0"/>
                <a:ea typeface="Arial" pitchFamily="34" charset="-122"/>
                <a:cs typeface="Arial" pitchFamily="34" charset="-120"/>
              </a:rPr>
              <a:t>Hệ thống KHÔNG huấn luyện mô hình nào</a:t>
            </a:r>
            <a:endParaRPr lang="en-US" sz="1500" dirty="0"/>
          </a:p>
        </p:txBody>
      </p:sp>
      <p:sp>
        <p:nvSpPr>
          <p:cNvPr id="22" name="Text 20"/>
          <p:cNvSpPr txBox="1"/>
          <p:nvPr/>
        </p:nvSpPr>
        <p:spPr>
          <a:xfrm>
            <a:off x="1014984" y="4517136"/>
            <a:ext cx="10161727" cy="768096"/>
          </a:xfrm>
          <a:prstGeom prst="rect">
            <a:avLst/>
          </a:prstGeom>
          <a:noFill/>
          <a:ln/>
        </p:spPr>
        <p:txBody>
          <a:bodyPr wrap="square" lIns="0" tIns="0" rIns="0" bIns="0" rtlCol="0" anchor="ctr"/>
          <a:lstStyle/>
          <a:p>
            <a:pPr indent="0" marL="0">
              <a:lnSpc>
                <a:spcPts val="1700"/>
              </a:lnSpc>
              <a:buNone/>
            </a:pPr>
            <a:r>
              <a:rPr lang="en-US" sz="1250" dirty="0">
                <a:solidFill>
                  <a:srgbClr val="3F4A2E"/>
                </a:solidFill>
                <a:latin typeface="Arial" pitchFamily="34" charset="0"/>
                <a:ea typeface="Arial" pitchFamily="34" charset="-122"/>
                <a:cs typeface="Arial" pitchFamily="34" charset="-120"/>
              </a:rPr>
              <a:t>Không có bước học tham số, không có tập huấn luyện — nên cũng không có rủi ro rò rỉ dữ liệu giữa tập huấn luyện và tập đánh giá. </a:t>
            </a:r>
            <a:pPr indent="0" marL="0">
              <a:lnSpc>
                <a:spcPts val="1700"/>
              </a:lnSpc>
              <a:buNone/>
            </a:pPr>
            <a:r>
              <a:rPr lang="en-US" sz="1250" b="1" dirty="0">
                <a:solidFill>
                  <a:srgbClr val="56633F"/>
                </a:solidFill>
                <a:latin typeface="Arial" pitchFamily="34" charset="0"/>
                <a:ea typeface="Arial" pitchFamily="34" charset="-122"/>
                <a:cs typeface="Arial" pitchFamily="34" charset="-120"/>
              </a:rPr>
              <a:t>Ba trọng số là lựa chọn thiết kế và được BIỆN MINH BẰNG SỐ ĐO ở thí nghiệm ablation, không phải tinh chỉnh trên chính 120 câu hỏi đánh giá.</a:t>
            </a:r>
            <a:endParaRPr lang="en-US" sz="1250" dirty="0"/>
          </a:p>
        </p:txBody>
      </p:sp>
      <p:sp>
        <p:nvSpPr>
          <p:cNvPr id="23" name="Text 21"/>
          <p:cNvSpPr txBox="1"/>
          <p:nvPr/>
        </p:nvSpPr>
        <p:spPr>
          <a:xfrm>
            <a:off x="685800" y="5541264"/>
            <a:ext cx="10820095" cy="384048"/>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Tầng dense embedding (tuỳ chọn, mặc định TẮT):  paraphrase-multilingual-MiniLM-L12-v2  ·  ngưỡng miền an toàn 0,45  ·  ngưỡng nghiêm ngặt 0,52  ·  mô hình ~470 MB</a:t>
            </a:r>
            <a:endParaRPr lang="en-US" sz="1100" dirty="0"/>
          </a:p>
        </p:txBody>
      </p:sp>
      <p:sp>
        <p:nvSpPr>
          <p:cNvPr id="24" name="Text 22"/>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Mọi giá trị đều nằm trong mã nguồn và có test khoá lại — không có tham số nào chỉnh ngầm lúc chạy</a:t>
            </a:r>
            <a:endParaRPr lang="en-US" sz="1000" dirty="0"/>
          </a:p>
        </p:txBody>
      </p:sp>
      <p:sp>
        <p:nvSpPr>
          <p:cNvPr id="25" name="Text 23"/>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5 · KẾT QUẢ</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Kết quả trên 120 câu hỏi có đáp án chuẩn</a:t>
            </a:r>
            <a:endParaRPr lang="en-US" sz="3000" dirty="0"/>
          </a:p>
        </p:txBody>
      </p:sp>
      <p:sp>
        <p:nvSpPr>
          <p:cNvPr id="4" name="Shape 2"/>
          <p:cNvSpPr/>
          <p:nvPr/>
        </p:nvSpPr>
        <p:spPr>
          <a:xfrm>
            <a:off x="685800" y="1572768"/>
            <a:ext cx="2542032" cy="1371600"/>
          </a:xfrm>
          <a:prstGeom prst="roundRect">
            <a:avLst>
              <a:gd name="adj" fmla="val 9333"/>
            </a:avLst>
          </a:prstGeom>
          <a:solidFill>
            <a:srgbClr val="FFF2EB"/>
          </a:solidFill>
          <a:ln w="12700">
            <a:solidFill>
              <a:srgbClr val="FFC6A5"/>
            </a:solidFill>
            <a:prstDash val="solid"/>
          </a:ln>
        </p:spPr>
      </p:sp>
      <p:sp>
        <p:nvSpPr>
          <p:cNvPr id="5" name="Text 3"/>
          <p:cNvSpPr txBox="1"/>
          <p:nvPr/>
        </p:nvSpPr>
        <p:spPr>
          <a:xfrm>
            <a:off x="685800" y="1719072"/>
            <a:ext cx="2542032" cy="566928"/>
          </a:xfrm>
          <a:prstGeom prst="rect">
            <a:avLst/>
          </a:prstGeom>
          <a:noFill/>
          <a:ln/>
        </p:spPr>
        <p:txBody>
          <a:bodyPr wrap="square" lIns="0" tIns="0" rIns="0" bIns="0" rtlCol="0" anchor="ctr"/>
          <a:lstStyle/>
          <a:p>
            <a:pPr algn="ctr" indent="0" marL="0">
              <a:buNone/>
            </a:pPr>
            <a:r>
              <a:rPr lang="en-US" sz="3000" b="1" dirty="0">
                <a:solidFill>
                  <a:srgbClr val="C67139"/>
                </a:solidFill>
                <a:latin typeface="Arial" pitchFamily="34" charset="0"/>
                <a:ea typeface="Arial" pitchFamily="34" charset="-122"/>
                <a:cs typeface="Arial" pitchFamily="34" charset="-120"/>
              </a:rPr>
              <a:t>95,83%</a:t>
            </a:r>
            <a:endParaRPr lang="en-US" sz="3000" dirty="0"/>
          </a:p>
        </p:txBody>
      </p:sp>
      <p:sp>
        <p:nvSpPr>
          <p:cNvPr id="6" name="Text 4"/>
          <p:cNvSpPr txBox="1"/>
          <p:nvPr/>
        </p:nvSpPr>
        <p:spPr>
          <a:xfrm>
            <a:off x="813816" y="2304288"/>
            <a:ext cx="2286000" cy="548640"/>
          </a:xfrm>
          <a:prstGeom prst="rect">
            <a:avLst/>
          </a:prstGeom>
          <a:noFill/>
          <a:ln/>
        </p:spPr>
        <p:txBody>
          <a:bodyPr wrap="square" lIns="0" tIns="0" rIns="0" bIns="0" rtlCol="0" anchor="ctr"/>
          <a:lstStyle/>
          <a:p>
            <a:pPr algn="ctr" indent="0" marL="0">
              <a:lnSpc>
                <a:spcPts val="1500"/>
              </a:lnSpc>
              <a:buNone/>
            </a:pPr>
            <a:r>
              <a:rPr lang="en-US" sz="1150" dirty="0">
                <a:solidFill>
                  <a:srgbClr val="645C50"/>
                </a:solidFill>
                <a:latin typeface="Arial" pitchFamily="34" charset="0"/>
                <a:ea typeface="Arial" pitchFamily="34" charset="-122"/>
                <a:cs typeface="Arial" pitchFamily="34" charset="-120"/>
              </a:rPr>
              <a:t>Độ chính xác phân lớp</a:t>
            </a:r>
            <a:endParaRPr lang="en-US" sz="1150" dirty="0"/>
          </a:p>
        </p:txBody>
      </p:sp>
      <p:sp>
        <p:nvSpPr>
          <p:cNvPr id="7" name="Shape 5"/>
          <p:cNvSpPr/>
          <p:nvPr/>
        </p:nvSpPr>
        <p:spPr>
          <a:xfrm>
            <a:off x="3438144" y="1572768"/>
            <a:ext cx="2542032" cy="1371600"/>
          </a:xfrm>
          <a:prstGeom prst="roundRect">
            <a:avLst>
              <a:gd name="adj" fmla="val 9333"/>
            </a:avLst>
          </a:prstGeom>
          <a:solidFill>
            <a:srgbClr val="FFF2EB"/>
          </a:solidFill>
          <a:ln w="12700">
            <a:solidFill>
              <a:srgbClr val="FFC6A5"/>
            </a:solidFill>
            <a:prstDash val="solid"/>
          </a:ln>
        </p:spPr>
      </p:sp>
      <p:sp>
        <p:nvSpPr>
          <p:cNvPr id="8" name="Text 6"/>
          <p:cNvSpPr txBox="1"/>
          <p:nvPr/>
        </p:nvSpPr>
        <p:spPr>
          <a:xfrm>
            <a:off x="3438144" y="1719072"/>
            <a:ext cx="2542032" cy="566928"/>
          </a:xfrm>
          <a:prstGeom prst="rect">
            <a:avLst/>
          </a:prstGeom>
          <a:noFill/>
          <a:ln/>
        </p:spPr>
        <p:txBody>
          <a:bodyPr wrap="square" lIns="0" tIns="0" rIns="0" bIns="0" rtlCol="0" anchor="ctr"/>
          <a:lstStyle/>
          <a:p>
            <a:pPr algn="ctr" indent="0" marL="0">
              <a:buNone/>
            </a:pPr>
            <a:r>
              <a:rPr lang="en-US" sz="3000" b="1" dirty="0">
                <a:solidFill>
                  <a:srgbClr val="C67139"/>
                </a:solidFill>
                <a:latin typeface="Arial" pitchFamily="34" charset="0"/>
                <a:ea typeface="Arial" pitchFamily="34" charset="-122"/>
                <a:cs typeface="Arial" pitchFamily="34" charset="-120"/>
              </a:rPr>
              <a:t>76,67%</a:t>
            </a:r>
            <a:endParaRPr lang="en-US" sz="3000" dirty="0"/>
          </a:p>
        </p:txBody>
      </p:sp>
      <p:sp>
        <p:nvSpPr>
          <p:cNvPr id="9" name="Text 7"/>
          <p:cNvSpPr txBox="1"/>
          <p:nvPr/>
        </p:nvSpPr>
        <p:spPr>
          <a:xfrm>
            <a:off x="3566160" y="2304288"/>
            <a:ext cx="2286000" cy="548640"/>
          </a:xfrm>
          <a:prstGeom prst="rect">
            <a:avLst/>
          </a:prstGeom>
          <a:noFill/>
          <a:ln/>
        </p:spPr>
        <p:txBody>
          <a:bodyPr wrap="square" lIns="0" tIns="0" rIns="0" bIns="0" rtlCol="0" anchor="ctr"/>
          <a:lstStyle/>
          <a:p>
            <a:pPr algn="ctr" indent="0" marL="0">
              <a:lnSpc>
                <a:spcPts val="1500"/>
              </a:lnSpc>
              <a:buNone/>
            </a:pPr>
            <a:r>
              <a:rPr lang="en-US" sz="1150" dirty="0">
                <a:solidFill>
                  <a:srgbClr val="645C50"/>
                </a:solidFill>
                <a:latin typeface="Arial" pitchFamily="34" charset="0"/>
                <a:ea typeface="Arial" pitchFamily="34" charset="-122"/>
                <a:cs typeface="Arial" pitchFamily="34" charset="-120"/>
              </a:rPr>
              <a:t>Top-1 — cổng chỉ số của CI</a:t>
            </a:r>
            <a:endParaRPr lang="en-US" sz="1150" dirty="0"/>
          </a:p>
        </p:txBody>
      </p:sp>
      <p:sp>
        <p:nvSpPr>
          <p:cNvPr id="10" name="Shape 8"/>
          <p:cNvSpPr/>
          <p:nvPr/>
        </p:nvSpPr>
        <p:spPr>
          <a:xfrm>
            <a:off x="6190488" y="1572768"/>
            <a:ext cx="2542032" cy="1371600"/>
          </a:xfrm>
          <a:prstGeom prst="roundRect">
            <a:avLst>
              <a:gd name="adj" fmla="val 9333"/>
            </a:avLst>
          </a:prstGeom>
          <a:solidFill>
            <a:srgbClr val="F0FAE1"/>
          </a:solidFill>
          <a:ln w="12700">
            <a:solidFill>
              <a:srgbClr val="CCDBB2"/>
            </a:solidFill>
            <a:prstDash val="solid"/>
          </a:ln>
        </p:spPr>
      </p:sp>
      <p:sp>
        <p:nvSpPr>
          <p:cNvPr id="11" name="Text 9"/>
          <p:cNvSpPr txBox="1"/>
          <p:nvPr/>
        </p:nvSpPr>
        <p:spPr>
          <a:xfrm>
            <a:off x="6190488" y="1719072"/>
            <a:ext cx="2542032" cy="566928"/>
          </a:xfrm>
          <a:prstGeom prst="rect">
            <a:avLst/>
          </a:prstGeom>
          <a:noFill/>
          <a:ln/>
        </p:spPr>
        <p:txBody>
          <a:bodyPr wrap="square" lIns="0" tIns="0" rIns="0" bIns="0" rtlCol="0" anchor="ctr"/>
          <a:lstStyle/>
          <a:p>
            <a:pPr algn="ctr" indent="0" marL="0">
              <a:buNone/>
            </a:pPr>
            <a:r>
              <a:rPr lang="en-US" sz="3000" b="1" dirty="0">
                <a:solidFill>
                  <a:srgbClr val="7A8A5E"/>
                </a:solidFill>
                <a:latin typeface="Arial" pitchFamily="34" charset="0"/>
                <a:ea typeface="Arial" pitchFamily="34" charset="-122"/>
                <a:cs typeface="Arial" pitchFamily="34" charset="-120"/>
              </a:rPr>
              <a:t>95,00%</a:t>
            </a:r>
            <a:endParaRPr lang="en-US" sz="3000" dirty="0"/>
          </a:p>
        </p:txBody>
      </p:sp>
      <p:sp>
        <p:nvSpPr>
          <p:cNvPr id="12" name="Text 10"/>
          <p:cNvSpPr txBox="1"/>
          <p:nvPr/>
        </p:nvSpPr>
        <p:spPr>
          <a:xfrm>
            <a:off x="6318504" y="2304288"/>
            <a:ext cx="2286000" cy="548640"/>
          </a:xfrm>
          <a:prstGeom prst="rect">
            <a:avLst/>
          </a:prstGeom>
          <a:noFill/>
          <a:ln/>
        </p:spPr>
        <p:txBody>
          <a:bodyPr wrap="square" lIns="0" tIns="0" rIns="0" bIns="0" rtlCol="0" anchor="ctr"/>
          <a:lstStyle/>
          <a:p>
            <a:pPr algn="ctr" indent="0" marL="0">
              <a:lnSpc>
                <a:spcPts val="1500"/>
              </a:lnSpc>
              <a:buNone/>
            </a:pPr>
            <a:r>
              <a:rPr lang="en-US" sz="1150" dirty="0">
                <a:solidFill>
                  <a:srgbClr val="645C50"/>
                </a:solidFill>
                <a:latin typeface="Arial" pitchFamily="34" charset="0"/>
                <a:ea typeface="Arial" pitchFamily="34" charset="-122"/>
                <a:cs typeface="Arial" pitchFamily="34" charset="-120"/>
              </a:rPr>
              <a:t>Top-5 — 9/120 câu sai hoàn toàn</a:t>
            </a:r>
            <a:endParaRPr lang="en-US" sz="1150" dirty="0"/>
          </a:p>
        </p:txBody>
      </p:sp>
      <p:sp>
        <p:nvSpPr>
          <p:cNvPr id="13" name="Shape 11"/>
          <p:cNvSpPr/>
          <p:nvPr/>
        </p:nvSpPr>
        <p:spPr>
          <a:xfrm>
            <a:off x="8942832" y="1572768"/>
            <a:ext cx="2542032" cy="1371600"/>
          </a:xfrm>
          <a:prstGeom prst="roundRect">
            <a:avLst>
              <a:gd name="adj" fmla="val 9333"/>
            </a:avLst>
          </a:prstGeom>
          <a:solidFill>
            <a:srgbClr val="F0FAE1"/>
          </a:solidFill>
          <a:ln w="12700">
            <a:solidFill>
              <a:srgbClr val="CCDBB2"/>
            </a:solidFill>
            <a:prstDash val="solid"/>
          </a:ln>
        </p:spPr>
      </p:sp>
      <p:sp>
        <p:nvSpPr>
          <p:cNvPr id="14" name="Text 12"/>
          <p:cNvSpPr txBox="1"/>
          <p:nvPr/>
        </p:nvSpPr>
        <p:spPr>
          <a:xfrm>
            <a:off x="8942832" y="1719072"/>
            <a:ext cx="2542032" cy="566928"/>
          </a:xfrm>
          <a:prstGeom prst="rect">
            <a:avLst/>
          </a:prstGeom>
          <a:noFill/>
          <a:ln/>
        </p:spPr>
        <p:txBody>
          <a:bodyPr wrap="square" lIns="0" tIns="0" rIns="0" bIns="0" rtlCol="0" anchor="ctr"/>
          <a:lstStyle/>
          <a:p>
            <a:pPr algn="ctr" indent="0" marL="0">
              <a:buNone/>
            </a:pPr>
            <a:r>
              <a:rPr lang="en-US" sz="3000" b="1" dirty="0">
                <a:solidFill>
                  <a:srgbClr val="7A8A5E"/>
                </a:solidFill>
                <a:latin typeface="Arial" pitchFamily="34" charset="0"/>
                <a:ea typeface="Arial" pitchFamily="34" charset="-122"/>
                <a:cs typeface="Arial" pitchFamily="34" charset="-120"/>
              </a:rPr>
              <a:t>0,8384</a:t>
            </a:r>
            <a:endParaRPr lang="en-US" sz="3000" dirty="0"/>
          </a:p>
        </p:txBody>
      </p:sp>
      <p:sp>
        <p:nvSpPr>
          <p:cNvPr id="15" name="Text 13"/>
          <p:cNvSpPr txBox="1"/>
          <p:nvPr/>
        </p:nvSpPr>
        <p:spPr>
          <a:xfrm>
            <a:off x="9070848" y="2304288"/>
            <a:ext cx="2286000" cy="548640"/>
          </a:xfrm>
          <a:prstGeom prst="rect">
            <a:avLst/>
          </a:prstGeom>
          <a:noFill/>
          <a:ln/>
        </p:spPr>
        <p:txBody>
          <a:bodyPr wrap="square" lIns="0" tIns="0" rIns="0" bIns="0" rtlCol="0" anchor="ctr"/>
          <a:lstStyle/>
          <a:p>
            <a:pPr algn="ctr" indent="0" marL="0">
              <a:lnSpc>
                <a:spcPts val="1500"/>
              </a:lnSpc>
              <a:buNone/>
            </a:pPr>
            <a:r>
              <a:rPr lang="en-US" sz="1150" dirty="0">
                <a:solidFill>
                  <a:srgbClr val="645C50"/>
                </a:solidFill>
                <a:latin typeface="Arial" pitchFamily="34" charset="0"/>
                <a:ea typeface="Arial" pitchFamily="34" charset="-122"/>
                <a:cs typeface="Arial" pitchFamily="34" charset="-120"/>
              </a:rPr>
              <a:t>MRR — đáp án đúng ở vị trí 1–2</a:t>
            </a:r>
            <a:endParaRPr lang="en-US" sz="1150" dirty="0"/>
          </a:p>
        </p:txBody>
      </p:sp>
      <p:graphicFrame>
        <p:nvGraphicFramePr>
          <p:cNvPr id="16" name="Chart 0" descr=""/>
          <p:cNvGraphicFramePr/>
          <p:nvPr/>
        </p:nvGraphicFramePr>
        <p:xfrm>
          <a:off x="685800" y="3127248"/>
          <a:ext cx="6675120" cy="2999232"/>
        </p:xfrm>
        <a:graphic xmlns:a="http://schemas.openxmlformats.org/drawingml/2006/main">
          <a:graphicData uri="http://schemas.openxmlformats.org/drawingml/2006/chart">
            <c:chart xmlns:c="http://schemas.openxmlformats.org/drawingml/2006/chart" r:id="rId1"/>
          </a:graphicData>
        </a:graphic>
      </p:graphicFrame>
      <p:sp>
        <p:nvSpPr>
          <p:cNvPr id="17" name="Shape 14"/>
          <p:cNvSpPr/>
          <p:nvPr/>
        </p:nvSpPr>
        <p:spPr>
          <a:xfrm>
            <a:off x="7680960" y="3127248"/>
            <a:ext cx="3824935" cy="2999232"/>
          </a:xfrm>
          <a:prstGeom prst="roundRect">
            <a:avLst>
              <a:gd name="adj" fmla="val 4268"/>
            </a:avLst>
          </a:prstGeom>
          <a:solidFill>
            <a:srgbClr val="F9F4ED"/>
          </a:solidFill>
          <a:ln w="12700">
            <a:solidFill>
              <a:srgbClr val="DCD3C4"/>
            </a:solidFill>
            <a:prstDash val="solid"/>
          </a:ln>
        </p:spPr>
      </p:sp>
      <p:sp>
        <p:nvSpPr>
          <p:cNvPr id="18" name="Shape 15"/>
          <p:cNvSpPr/>
          <p:nvPr/>
        </p:nvSpPr>
        <p:spPr>
          <a:xfrm>
            <a:off x="7973568" y="3328416"/>
            <a:ext cx="954634" cy="274320"/>
          </a:xfrm>
          <a:prstGeom prst="roundRect">
            <a:avLst>
              <a:gd name="adj" fmla="val 50000"/>
            </a:avLst>
          </a:prstGeom>
          <a:solidFill>
            <a:srgbClr val="C67139"/>
          </a:solidFill>
          <a:ln/>
        </p:spPr>
      </p:sp>
      <p:sp>
        <p:nvSpPr>
          <p:cNvPr id="19" name="Text 16"/>
          <p:cNvSpPr txBox="1"/>
          <p:nvPr/>
        </p:nvSpPr>
        <p:spPr>
          <a:xfrm>
            <a:off x="7973568" y="3328416"/>
            <a:ext cx="954634"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NHẬN XÉT</a:t>
            </a:r>
            <a:endParaRPr lang="en-US" sz="1000" dirty="0"/>
          </a:p>
        </p:txBody>
      </p:sp>
      <p:sp>
        <p:nvSpPr>
          <p:cNvPr id="20" name="Text 17"/>
          <p:cNvSpPr txBox="1"/>
          <p:nvPr/>
        </p:nvSpPr>
        <p:spPr>
          <a:xfrm>
            <a:off x="7973568" y="3730752"/>
            <a:ext cx="3246120" cy="2194560"/>
          </a:xfrm>
          <a:prstGeom prst="rect">
            <a:avLst/>
          </a:prstGeom>
          <a:noFill/>
          <a:ln/>
        </p:spPr>
        <p:txBody>
          <a:bodyPr wrap="square" lIns="0" tIns="0" rIns="0" bIns="0" rtlCol="0" anchor="ctr"/>
          <a:lstStyle/>
          <a:p>
            <a:pPr indent="0" marL="0">
              <a:lnSpc>
                <a:spcPts val="1500"/>
              </a:lnSpc>
              <a:buNone/>
            </a:pPr>
            <a:r>
              <a:rPr lang="en-US" sz="1150" b="1" dirty="0">
                <a:solidFill>
                  <a:srgbClr val="201E1D"/>
                </a:solidFill>
                <a:latin typeface="Arial" pitchFamily="34" charset="0"/>
                <a:ea typeface="Arial" pitchFamily="34" charset="-122"/>
                <a:cs typeface="Arial" pitchFamily="34" charset="-120"/>
              </a:rPr>
              <a:t>P2 và P7 có Top-1 thấp nhưng Top-5 rất cao.
</a:t>
            </a:r>
            <a:endParaRPr lang="en-US" sz="1150" dirty="0"/>
          </a:p>
          <a:p>
            <a:pPr indent="0" marL="0">
              <a:lnSpc>
                <a:spcPts val="1500"/>
              </a:lnSpc>
              <a:buNone/>
            </a:pPr>
            <a:r>
              <a:rPr lang="en-US" sz="1150" dirty="0">
                <a:solidFill>
                  <a:srgbClr val="645C50"/>
                </a:solidFill>
                <a:latin typeface="Arial" pitchFamily="34" charset="0"/>
                <a:ea typeface="Arial" pitchFamily="34" charset="-122"/>
                <a:cs typeface="Arial" pitchFamily="34" charset="-120"/>
              </a:rPr>
              <a:t>Đáp án đúng CÓ trong danh sách trả về, chỉ chưa xếp đầu. P2 vì nhiều quy tắc gần nghĩa; P7 vì “kiến thức liên quan” vốn không có một đáp án duy nhất.
</a:t>
            </a:r>
            <a:endParaRPr lang="en-US" sz="1150" dirty="0"/>
          </a:p>
          <a:p>
            <a:pPr indent="0" marL="0">
              <a:lnSpc>
                <a:spcPts val="1500"/>
              </a:lnSpc>
              <a:buNone/>
            </a:pPr>
            <a:r>
              <a:rPr lang="en-US" sz="1150" b="1" dirty="0">
                <a:solidFill>
                  <a:srgbClr val="201E1D"/>
                </a:solidFill>
                <a:latin typeface="Arial" pitchFamily="34" charset="0"/>
                <a:ea typeface="Arial" pitchFamily="34" charset="-122"/>
                <a:cs typeface="Arial" pitchFamily="34" charset="-120"/>
              </a:rPr>
              <a:t>Precision 0,3373 không phải khiếm khuyết.
</a:t>
            </a:r>
            <a:endParaRPr lang="en-US" sz="1150" dirty="0"/>
          </a:p>
          <a:p>
            <a:pPr indent="0" marL="0">
              <a:lnSpc>
                <a:spcPts val="1500"/>
              </a:lnSpc>
              <a:buNone/>
            </a:pPr>
            <a:r>
              <a:rPr lang="en-US" sz="1150" dirty="0">
                <a:solidFill>
                  <a:srgbClr val="645C50"/>
                </a:solidFill>
                <a:latin typeface="Arial" pitchFamily="34" charset="0"/>
                <a:ea typeface="Arial" pitchFamily="34" charset="-122"/>
                <a:cs typeface="Arial" pitchFamily="34" charset="-120"/>
              </a:rPr>
              <a:t>Trả k = 5 kết quả cho đáp án một mẩu → trần toán học 0,20 mỗi câu. Recall 0,9306 mới là chỉ số phản ánh đúng mục tiêu của một hệ tra cứu.</a:t>
            </a:r>
            <a:endParaRPr lang="en-US" sz="1150" dirty="0"/>
          </a:p>
        </p:txBody>
      </p:sp>
      <p:sp>
        <p:nvSpPr>
          <p:cNvPr id="21" name="Text 18"/>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Thời gian trả lời trung bình 6,2 ms · chạy hoàn toàn cục bộ</a:t>
            </a:r>
            <a:endParaRPr lang="en-US" sz="1000" dirty="0"/>
          </a:p>
        </p:txBody>
      </p:sp>
      <p:sp>
        <p:nvSpPr>
          <p:cNvPr id="22" name="Text 19"/>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5 · KẾT QUẢ</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Kiểm định: con số có đứng vững không?</a:t>
            </a:r>
            <a:endParaRPr lang="en-US" sz="3000" dirty="0"/>
          </a:p>
        </p:txBody>
      </p:sp>
      <p:sp>
        <p:nvSpPr>
          <p:cNvPr id="4" name="Shape 2"/>
          <p:cNvSpPr/>
          <p:nvPr/>
        </p:nvSpPr>
        <p:spPr>
          <a:xfrm>
            <a:off x="685800" y="1463040"/>
            <a:ext cx="5282032" cy="2029968"/>
          </a:xfrm>
          <a:prstGeom prst="roundRect">
            <a:avLst>
              <a:gd name="adj" fmla="val 6306"/>
            </a:avLst>
          </a:prstGeom>
          <a:solidFill>
            <a:srgbClr val="FFF2EB"/>
          </a:solidFill>
          <a:ln w="12700">
            <a:solidFill>
              <a:srgbClr val="FFC6A5"/>
            </a:solidFill>
            <a:prstDash val="solid"/>
          </a:ln>
        </p:spPr>
      </p:sp>
      <p:sp>
        <p:nvSpPr>
          <p:cNvPr id="5" name="Shape 3"/>
          <p:cNvSpPr/>
          <p:nvPr/>
        </p:nvSpPr>
        <p:spPr>
          <a:xfrm>
            <a:off x="941832" y="1664208"/>
            <a:ext cx="365760" cy="274320"/>
          </a:xfrm>
          <a:prstGeom prst="roundRect">
            <a:avLst>
              <a:gd name="adj" fmla="val 50000"/>
            </a:avLst>
          </a:prstGeom>
          <a:solidFill>
            <a:srgbClr val="8C491A"/>
          </a:solidFill>
          <a:ln/>
        </p:spPr>
      </p:sp>
      <p:sp>
        <p:nvSpPr>
          <p:cNvPr id="6" name="Text 4"/>
          <p:cNvSpPr txBox="1"/>
          <p:nvPr/>
        </p:nvSpPr>
        <p:spPr>
          <a:xfrm>
            <a:off x="941832" y="1664208"/>
            <a:ext cx="36576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A</a:t>
            </a:r>
            <a:endParaRPr lang="en-US" sz="900" dirty="0"/>
          </a:p>
        </p:txBody>
      </p:sp>
      <p:sp>
        <p:nvSpPr>
          <p:cNvPr id="7" name="Text 5"/>
          <p:cNvSpPr txBox="1"/>
          <p:nvPr/>
        </p:nvSpPr>
        <p:spPr>
          <a:xfrm>
            <a:off x="1435608" y="1645920"/>
            <a:ext cx="4312768" cy="310896"/>
          </a:xfrm>
          <a:prstGeom prst="rect">
            <a:avLst/>
          </a:prstGeom>
          <a:noFill/>
          <a:ln/>
        </p:spPr>
        <p:txBody>
          <a:bodyPr wrap="square" lIns="0" tIns="0" rIns="0" bIns="0" rtlCol="0" anchor="ctr"/>
          <a:lstStyle/>
          <a:p>
            <a:pPr indent="0" marL="0">
              <a:buNone/>
            </a:pPr>
            <a:r>
              <a:rPr lang="en-US" sz="1350" b="1" dirty="0">
                <a:solidFill>
                  <a:srgbClr val="8C491A"/>
                </a:solidFill>
                <a:latin typeface="Arial" pitchFamily="34" charset="0"/>
                <a:ea typeface="Arial" pitchFamily="34" charset="-122"/>
                <a:cs typeface="Arial" pitchFamily="34" charset="-120"/>
              </a:rPr>
              <a:t>Suy diễn số học có thật sự cải thiện?</a:t>
            </a:r>
            <a:endParaRPr lang="en-US" sz="1350" dirty="0"/>
          </a:p>
        </p:txBody>
      </p:sp>
      <p:sp>
        <p:nvSpPr>
          <p:cNvPr id="8" name="Text 6"/>
          <p:cNvSpPr txBox="1"/>
          <p:nvPr/>
        </p:nvSpPr>
        <p:spPr>
          <a:xfrm>
            <a:off x="941832" y="2066544"/>
            <a:ext cx="4769968" cy="457200"/>
          </a:xfrm>
          <a:prstGeom prst="rect">
            <a:avLst/>
          </a:prstGeom>
          <a:noFill/>
          <a:ln/>
        </p:spPr>
        <p:txBody>
          <a:bodyPr wrap="square" lIns="0" tIns="0" rIns="0" bIns="0" rtlCol="0" anchor="ctr"/>
          <a:lstStyle/>
          <a:p>
            <a:pPr indent="0" marL="0">
              <a:lnSpc>
                <a:spcPts val="1400"/>
              </a:lnSpc>
              <a:buNone/>
            </a:pPr>
            <a:r>
              <a:rPr lang="en-US" sz="1050" b="1" dirty="0">
                <a:solidFill>
                  <a:srgbClr val="201E1D"/>
                </a:solidFill>
                <a:latin typeface="Courier New" pitchFamily="34" charset="0"/>
                <a:ea typeface="Courier New" pitchFamily="34" charset="-122"/>
                <a:cs typeface="Courier New" pitchFamily="34" charset="-120"/>
              </a:rPr>
              <a:t>McNemar: 12 câu sai → đúng, 0 câu đúng → sai,  p = 0,000488</a:t>
            </a:r>
            <a:endParaRPr lang="en-US" sz="1050" dirty="0"/>
          </a:p>
        </p:txBody>
      </p:sp>
      <p:sp>
        <p:nvSpPr>
          <p:cNvPr id="9" name="Text 7"/>
          <p:cNvSpPr txBox="1"/>
          <p:nvPr/>
        </p:nvSpPr>
        <p:spPr>
          <a:xfrm>
            <a:off x="941832" y="2560320"/>
            <a:ext cx="4769968" cy="841248"/>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p &lt; 0,001 nên KHÔNG phải ngẫu nhiên. Đáng chú ý hơn trị số p là hình dạng bảng chéo: không câu nào bị suy diễn số học làm hỏng — thành phần này chỉ thêm chứ không phá.</a:t>
            </a:r>
            <a:endParaRPr lang="en-US" sz="1100" dirty="0"/>
          </a:p>
        </p:txBody>
      </p:sp>
      <p:sp>
        <p:nvSpPr>
          <p:cNvPr id="10" name="Shape 8"/>
          <p:cNvSpPr/>
          <p:nvPr/>
        </p:nvSpPr>
        <p:spPr>
          <a:xfrm>
            <a:off x="6223864" y="1463040"/>
            <a:ext cx="5282032" cy="2029968"/>
          </a:xfrm>
          <a:prstGeom prst="roundRect">
            <a:avLst>
              <a:gd name="adj" fmla="val 6306"/>
            </a:avLst>
          </a:prstGeom>
          <a:solidFill>
            <a:srgbClr val="F9F4ED"/>
          </a:solidFill>
          <a:ln w="12700">
            <a:solidFill>
              <a:srgbClr val="DCD3C4"/>
            </a:solidFill>
            <a:prstDash val="solid"/>
          </a:ln>
        </p:spPr>
      </p:sp>
      <p:sp>
        <p:nvSpPr>
          <p:cNvPr id="11" name="Shape 9"/>
          <p:cNvSpPr/>
          <p:nvPr/>
        </p:nvSpPr>
        <p:spPr>
          <a:xfrm>
            <a:off x="6479896" y="1664208"/>
            <a:ext cx="365760" cy="274320"/>
          </a:xfrm>
          <a:prstGeom prst="roundRect">
            <a:avLst>
              <a:gd name="adj" fmla="val 50000"/>
            </a:avLst>
          </a:prstGeom>
          <a:solidFill>
            <a:srgbClr val="C67139"/>
          </a:solidFill>
          <a:ln/>
        </p:spPr>
      </p:sp>
      <p:sp>
        <p:nvSpPr>
          <p:cNvPr id="12" name="Text 10"/>
          <p:cNvSpPr txBox="1"/>
          <p:nvPr/>
        </p:nvSpPr>
        <p:spPr>
          <a:xfrm>
            <a:off x="6479896" y="1664208"/>
            <a:ext cx="36576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B</a:t>
            </a:r>
            <a:endParaRPr lang="en-US" sz="900" dirty="0"/>
          </a:p>
        </p:txBody>
      </p:sp>
      <p:sp>
        <p:nvSpPr>
          <p:cNvPr id="13" name="Text 11"/>
          <p:cNvSpPr txBox="1"/>
          <p:nvPr/>
        </p:nvSpPr>
        <p:spPr>
          <a:xfrm>
            <a:off x="6973672" y="1645920"/>
            <a:ext cx="4312768" cy="310896"/>
          </a:xfrm>
          <a:prstGeom prst="rect">
            <a:avLst/>
          </a:prstGeom>
          <a:noFill/>
          <a:ln/>
        </p:spPr>
        <p:txBody>
          <a:bodyPr wrap="square" lIns="0" tIns="0" rIns="0" bIns="0" rtlCol="0" anchor="ctr"/>
          <a:lstStyle/>
          <a:p>
            <a:pPr indent="0" marL="0">
              <a:buNone/>
            </a:pPr>
            <a:r>
              <a:rPr lang="en-US" sz="1350" b="1" dirty="0">
                <a:solidFill>
                  <a:srgbClr val="201E1D"/>
                </a:solidFill>
                <a:latin typeface="Arial" pitchFamily="34" charset="0"/>
                <a:ea typeface="Arial" pitchFamily="34" charset="-122"/>
                <a:cs typeface="Arial" pitchFamily="34" charset="-120"/>
              </a:rPr>
              <a:t>Precision 0,3373 là kém hay đã kịch trần?</a:t>
            </a:r>
            <a:endParaRPr lang="en-US" sz="1350" dirty="0"/>
          </a:p>
        </p:txBody>
      </p:sp>
      <p:sp>
        <p:nvSpPr>
          <p:cNvPr id="14" name="Text 12"/>
          <p:cNvSpPr txBox="1"/>
          <p:nvPr/>
        </p:nvSpPr>
        <p:spPr>
          <a:xfrm>
            <a:off x="6479896" y="2066544"/>
            <a:ext cx="4769968" cy="457200"/>
          </a:xfrm>
          <a:prstGeom prst="rect">
            <a:avLst/>
          </a:prstGeom>
          <a:noFill/>
          <a:ln/>
        </p:spPr>
        <p:txBody>
          <a:bodyPr wrap="square" lIns="0" tIns="0" rIns="0" bIns="0" rtlCol="0" anchor="ctr"/>
          <a:lstStyle/>
          <a:p>
            <a:pPr indent="0" marL="0">
              <a:lnSpc>
                <a:spcPts val="1400"/>
              </a:lnSpc>
              <a:buNone/>
            </a:pPr>
            <a:r>
              <a:rPr lang="en-US" sz="1050" b="1" dirty="0">
                <a:solidFill>
                  <a:srgbClr val="201E1D"/>
                </a:solidFill>
                <a:latin typeface="Courier New" pitchFamily="34" charset="0"/>
                <a:ea typeface="Courier New" pitchFamily="34" charset="-122"/>
                <a:cs typeface="Courier New" pitchFamily="34" charset="-120"/>
              </a:rPr>
              <a:t>Trần toán học trên chính bộ câu hỏi này = 0,3707  →  đạt 91,0% của trần</a:t>
            </a:r>
            <a:endParaRPr lang="en-US" sz="1050" dirty="0"/>
          </a:p>
        </p:txBody>
      </p:sp>
      <p:sp>
        <p:nvSpPr>
          <p:cNvPr id="15" name="Text 13"/>
          <p:cNvSpPr txBox="1"/>
          <p:nvPr/>
        </p:nvSpPr>
        <p:spPr>
          <a:xfrm>
            <a:off x="6479896" y="2560320"/>
            <a:ext cx="4769968" cy="841248"/>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Trả k = 5 kết quả cho câu chỉ có một đáp án thì precision tối đa là 0,20. Precision thấp là HỆ QUẢ CỦA THIẾT KẾ top-k, không phải khiếm khuyết mô hình — recall 0,9306 mới phản ánh đúng mục tiêu.</a:t>
            </a:r>
            <a:endParaRPr lang="en-US" sz="1100" dirty="0"/>
          </a:p>
        </p:txBody>
      </p:sp>
      <p:sp>
        <p:nvSpPr>
          <p:cNvPr id="16" name="Shape 14"/>
          <p:cNvSpPr/>
          <p:nvPr/>
        </p:nvSpPr>
        <p:spPr>
          <a:xfrm>
            <a:off x="685800" y="3675888"/>
            <a:ext cx="5282032" cy="2029968"/>
          </a:xfrm>
          <a:prstGeom prst="roundRect">
            <a:avLst>
              <a:gd name="adj" fmla="val 6306"/>
            </a:avLst>
          </a:prstGeom>
          <a:solidFill>
            <a:srgbClr val="F0FAE1"/>
          </a:solidFill>
          <a:ln w="12700">
            <a:solidFill>
              <a:srgbClr val="CCDBB2"/>
            </a:solidFill>
            <a:prstDash val="solid"/>
          </a:ln>
        </p:spPr>
      </p:sp>
      <p:sp>
        <p:nvSpPr>
          <p:cNvPr id="17" name="Shape 15"/>
          <p:cNvSpPr/>
          <p:nvPr/>
        </p:nvSpPr>
        <p:spPr>
          <a:xfrm>
            <a:off x="941832" y="3877056"/>
            <a:ext cx="365760" cy="274320"/>
          </a:xfrm>
          <a:prstGeom prst="roundRect">
            <a:avLst>
              <a:gd name="adj" fmla="val 50000"/>
            </a:avLst>
          </a:prstGeom>
          <a:solidFill>
            <a:srgbClr val="56633F"/>
          </a:solidFill>
          <a:ln/>
        </p:spPr>
      </p:sp>
      <p:sp>
        <p:nvSpPr>
          <p:cNvPr id="18" name="Text 16"/>
          <p:cNvSpPr txBox="1"/>
          <p:nvPr/>
        </p:nvSpPr>
        <p:spPr>
          <a:xfrm>
            <a:off x="941832" y="3877056"/>
            <a:ext cx="36576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C</a:t>
            </a:r>
            <a:endParaRPr lang="en-US" sz="900" dirty="0"/>
          </a:p>
        </p:txBody>
      </p:sp>
      <p:sp>
        <p:nvSpPr>
          <p:cNvPr id="19" name="Text 17"/>
          <p:cNvSpPr txBox="1"/>
          <p:nvPr/>
        </p:nvSpPr>
        <p:spPr>
          <a:xfrm>
            <a:off x="1435608" y="3858768"/>
            <a:ext cx="4312768" cy="310896"/>
          </a:xfrm>
          <a:prstGeom prst="rect">
            <a:avLst/>
          </a:prstGeom>
          <a:noFill/>
          <a:ln/>
        </p:spPr>
        <p:txBody>
          <a:bodyPr wrap="square" lIns="0" tIns="0" rIns="0" bIns="0" rtlCol="0" anchor="ctr"/>
          <a:lstStyle/>
          <a:p>
            <a:pPr indent="0" marL="0">
              <a:buNone/>
            </a:pPr>
            <a:r>
              <a:rPr lang="en-US" sz="1350" b="1" dirty="0">
                <a:solidFill>
                  <a:srgbClr val="56633F"/>
                </a:solidFill>
                <a:latin typeface="Arial" pitchFamily="34" charset="0"/>
                <a:ea typeface="Arial" pitchFamily="34" charset="-122"/>
                <a:cs typeface="Arial" pitchFamily="34" charset="-120"/>
              </a:rPr>
              <a:t>Có chịu được truy vấn gõ không dấu?</a:t>
            </a:r>
            <a:endParaRPr lang="en-US" sz="1350" dirty="0"/>
          </a:p>
        </p:txBody>
      </p:sp>
      <p:sp>
        <p:nvSpPr>
          <p:cNvPr id="20" name="Text 18"/>
          <p:cNvSpPr txBox="1"/>
          <p:nvPr/>
        </p:nvSpPr>
        <p:spPr>
          <a:xfrm>
            <a:off x="941832" y="4279392"/>
            <a:ext cx="4769968" cy="457200"/>
          </a:xfrm>
          <a:prstGeom prst="rect">
            <a:avLst/>
          </a:prstGeom>
          <a:noFill/>
          <a:ln/>
        </p:spPr>
        <p:txBody>
          <a:bodyPr wrap="square" lIns="0" tIns="0" rIns="0" bIns="0" rtlCol="0" anchor="ctr"/>
          <a:lstStyle/>
          <a:p>
            <a:pPr indent="0" marL="0">
              <a:lnSpc>
                <a:spcPts val="1400"/>
              </a:lnSpc>
              <a:buNone/>
            </a:pPr>
            <a:r>
              <a:rPr lang="en-US" sz="1050" b="1" dirty="0">
                <a:solidFill>
                  <a:srgbClr val="201E1D"/>
                </a:solidFill>
                <a:latin typeface="Courier New" pitchFamily="34" charset="0"/>
                <a:ea typeface="Courier New" pitchFamily="34" charset="-122"/>
                <a:cs typeface="Courier New" pitchFamily="34" charset="-120"/>
              </a:rPr>
              <a:t>Bỏ dấu toàn bộ: Top-1 76,67% · Top-5 95,00% · phân lớp 95,83%</a:t>
            </a:r>
            <a:endParaRPr lang="en-US" sz="1050" dirty="0"/>
          </a:p>
        </p:txBody>
      </p:sp>
      <p:sp>
        <p:nvSpPr>
          <p:cNvPr id="21" name="Text 19"/>
          <p:cNvSpPr txBox="1"/>
          <p:nvPr/>
        </p:nvSpPr>
        <p:spPr>
          <a:xfrm>
            <a:off x="941832" y="4773168"/>
            <a:ext cx="4769968" cy="841248"/>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TRÙNG KHỚP tuyệt đối với bản có dấu ở cả bảy lớp. Vì mọi keyphrase đều lưu kèm bản không dấu và B1 chuẩn hoá về bản đó — dấu không tham gia vào so khớp.</a:t>
            </a:r>
            <a:endParaRPr lang="en-US" sz="1100" dirty="0"/>
          </a:p>
        </p:txBody>
      </p:sp>
      <p:sp>
        <p:nvSpPr>
          <p:cNvPr id="22" name="Shape 20"/>
          <p:cNvSpPr/>
          <p:nvPr/>
        </p:nvSpPr>
        <p:spPr>
          <a:xfrm>
            <a:off x="6223864" y="3675888"/>
            <a:ext cx="5282032" cy="2029968"/>
          </a:xfrm>
          <a:prstGeom prst="roundRect">
            <a:avLst>
              <a:gd name="adj" fmla="val 6306"/>
            </a:avLst>
          </a:prstGeom>
          <a:solidFill>
            <a:srgbClr val="F9F4ED"/>
          </a:solidFill>
          <a:ln w="12700">
            <a:solidFill>
              <a:srgbClr val="DCD3C4"/>
            </a:solidFill>
            <a:prstDash val="solid"/>
          </a:ln>
        </p:spPr>
      </p:sp>
      <p:sp>
        <p:nvSpPr>
          <p:cNvPr id="23" name="Shape 21"/>
          <p:cNvSpPr/>
          <p:nvPr/>
        </p:nvSpPr>
        <p:spPr>
          <a:xfrm>
            <a:off x="6479896" y="3877056"/>
            <a:ext cx="365760" cy="274320"/>
          </a:xfrm>
          <a:prstGeom prst="roundRect">
            <a:avLst>
              <a:gd name="adj" fmla="val 50000"/>
            </a:avLst>
          </a:prstGeom>
          <a:solidFill>
            <a:srgbClr val="C67139"/>
          </a:solidFill>
          <a:ln/>
        </p:spPr>
      </p:sp>
      <p:sp>
        <p:nvSpPr>
          <p:cNvPr id="24" name="Text 22"/>
          <p:cNvSpPr txBox="1"/>
          <p:nvPr/>
        </p:nvSpPr>
        <p:spPr>
          <a:xfrm>
            <a:off x="6479896" y="3877056"/>
            <a:ext cx="36576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D</a:t>
            </a:r>
            <a:endParaRPr lang="en-US" sz="900" dirty="0"/>
          </a:p>
        </p:txBody>
      </p:sp>
      <p:sp>
        <p:nvSpPr>
          <p:cNvPr id="25" name="Text 23"/>
          <p:cNvSpPr txBox="1"/>
          <p:nvPr/>
        </p:nvSpPr>
        <p:spPr>
          <a:xfrm>
            <a:off x="6973672" y="3858768"/>
            <a:ext cx="4312768" cy="310896"/>
          </a:xfrm>
          <a:prstGeom prst="rect">
            <a:avLst/>
          </a:prstGeom>
          <a:noFill/>
          <a:ln/>
        </p:spPr>
        <p:txBody>
          <a:bodyPr wrap="square" lIns="0" tIns="0" rIns="0" bIns="0" rtlCol="0" anchor="ctr"/>
          <a:lstStyle/>
          <a:p>
            <a:pPr indent="0" marL="0">
              <a:buNone/>
            </a:pPr>
            <a:r>
              <a:rPr lang="en-US" sz="1350" b="1" dirty="0">
                <a:solidFill>
                  <a:srgbClr val="201E1D"/>
                </a:solidFill>
                <a:latin typeface="Arial" pitchFamily="34" charset="0"/>
                <a:ea typeface="Arial" pitchFamily="34" charset="-122"/>
                <a:cs typeface="Arial" pitchFamily="34" charset="-120"/>
              </a:rPr>
              <a:t>Mọi câu hỏi có thật sự chấm được?</a:t>
            </a:r>
            <a:endParaRPr lang="en-US" sz="1350" dirty="0"/>
          </a:p>
        </p:txBody>
      </p:sp>
      <p:sp>
        <p:nvSpPr>
          <p:cNvPr id="26" name="Text 24"/>
          <p:cNvSpPr txBox="1"/>
          <p:nvPr/>
        </p:nvSpPr>
        <p:spPr>
          <a:xfrm>
            <a:off x="6479896" y="4279392"/>
            <a:ext cx="4769968" cy="457200"/>
          </a:xfrm>
          <a:prstGeom prst="rect">
            <a:avLst/>
          </a:prstGeom>
          <a:noFill/>
          <a:ln/>
        </p:spPr>
        <p:txBody>
          <a:bodyPr wrap="square" lIns="0" tIns="0" rIns="0" bIns="0" rtlCol="0" anchor="ctr"/>
          <a:lstStyle/>
          <a:p>
            <a:pPr indent="0" marL="0">
              <a:lnSpc>
                <a:spcPts val="1400"/>
              </a:lnSpc>
              <a:buNone/>
            </a:pPr>
            <a:r>
              <a:rPr lang="en-US" sz="1050" b="1" dirty="0">
                <a:solidFill>
                  <a:srgbClr val="201E1D"/>
                </a:solidFill>
                <a:latin typeface="Courier New" pitchFamily="34" charset="0"/>
                <a:ea typeface="Courier New" pitchFamily="34" charset="-122"/>
                <a:cs typeface="Courier New" pitchFamily="34" charset="-120"/>
              </a:rPr>
              <a:t>120/120 câu có đáp án chuẩn giải được về tri thức CÓ THẬT — 0 định danh treo</a:t>
            </a:r>
            <a:endParaRPr lang="en-US" sz="1050" dirty="0"/>
          </a:p>
        </p:txBody>
      </p:sp>
      <p:sp>
        <p:nvSpPr>
          <p:cNvPr id="27" name="Text 25"/>
          <p:cNvSpPr txBox="1"/>
          <p:nvPr/>
        </p:nvSpPr>
        <p:spPr>
          <a:xfrm>
            <a:off x="6479896" y="4773168"/>
            <a:ext cx="4769968" cy="841248"/>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Có test kiểm chứng riêng. Nếu bước này không được kiểm thì mọi chỉ số ở trên đều vô nghĩa, vì có thể hệ đang bị chấm trên những câu không thể đúng.</a:t>
            </a:r>
            <a:endParaRPr lang="en-US" sz="1100" dirty="0"/>
          </a:p>
        </p:txBody>
      </p:sp>
      <p:sp>
        <p:nvSpPr>
          <p:cNvPr id="28" name="Text 26"/>
          <p:cNvSpPr txBox="1"/>
          <p:nvPr/>
        </p:nvSpPr>
        <p:spPr>
          <a:xfrm>
            <a:off x="685800" y="5760720"/>
            <a:ext cx="10820095" cy="420624"/>
          </a:xfrm>
          <a:prstGeom prst="rect">
            <a:avLst/>
          </a:prstGeom>
          <a:noFill/>
          <a:ln/>
        </p:spPr>
        <p:txBody>
          <a:bodyPr wrap="square" lIns="0" tIns="0" rIns="0" bIns="0" rtlCol="0" anchor="t"/>
          <a:lstStyle/>
          <a:p>
            <a:pPr indent="0" marL="0">
              <a:lnSpc>
                <a:spcPts val="1400"/>
              </a:lnSpc>
              <a:buNone/>
            </a:pPr>
            <a:r>
              <a:rPr lang="en-US" sz="1100" b="1" dirty="0">
                <a:solidFill>
                  <a:srgbClr val="201E1D"/>
                </a:solidFill>
                <a:latin typeface="Arial" pitchFamily="34" charset="0"/>
                <a:ea typeface="Arial" pitchFamily="34" charset="-122"/>
                <a:cs typeface="Arial" pitchFamily="34" charset="-120"/>
              </a:rPr>
              <a:t>Và một lưu ý về cỡ mẫu:  </a:t>
            </a:r>
            <a:pPr indent="0" marL="0">
              <a:lnSpc>
                <a:spcPts val="1400"/>
              </a:lnSpc>
              <a:buNone/>
            </a:pPr>
            <a:r>
              <a:rPr lang="en-US" sz="1100" dirty="0">
                <a:solidFill>
                  <a:srgbClr val="645C50"/>
                </a:solidFill>
                <a:latin typeface="Arial" pitchFamily="34" charset="0"/>
                <a:ea typeface="Arial" pitchFamily="34" charset="-122"/>
                <a:cs typeface="Arial" pitchFamily="34" charset="-120"/>
              </a:rPr>
              <a:t>với 120 câu, Top-1 76,67% thực chất nằm trong khoảng tin cậy 95% [68,3% – 83,3%]. Một thay đổi làm Top-1 nhích 1–2 điểm phần trăm thì KHÔNG kết luận được là cải tiến.</a:t>
            </a:r>
            <a:endParaRPr lang="en-US" sz="1100" dirty="0"/>
          </a:p>
        </p:txBody>
      </p:sp>
      <p:sp>
        <p:nvSpPr>
          <p:cNvPr id="29" name="Text 27"/>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python eval/kiem_dinh.py — khoảng tin cậy Wilson, McNemar, trần precision</a:t>
            </a:r>
            <a:endParaRPr lang="en-US" sz="1000" dirty="0"/>
          </a:p>
        </p:txBody>
      </p:sp>
      <p:sp>
        <p:nvSpPr>
          <p:cNvPr id="30" name="Text 28"/>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5 · KẾT QUẢ</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Ablation — từng thành phần đóng góp bao nhiêu?</a:t>
            </a:r>
            <a:endParaRPr lang="en-US" sz="3000" dirty="0"/>
          </a:p>
        </p:txBody>
      </p:sp>
      <p:graphicFrame>
        <p:nvGraphicFramePr>
          <p:cNvPr id="4" name="Chart 0" descr=""/>
          <p:cNvGraphicFramePr/>
          <p:nvPr/>
        </p:nvGraphicFramePr>
        <p:xfrm>
          <a:off x="685800" y="1536192"/>
          <a:ext cx="6675120" cy="2377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36192"/>
            <a:ext cx="3824935" cy="2377440"/>
          </a:xfrm>
          <a:prstGeom prst="roundRect">
            <a:avLst>
              <a:gd name="adj" fmla="val 5385"/>
            </a:avLst>
          </a:prstGeom>
          <a:solidFill>
            <a:srgbClr val="FFF2EB"/>
          </a:solidFill>
          <a:ln w="12700">
            <a:solidFill>
              <a:srgbClr val="FFC6A5"/>
            </a:solidFill>
            <a:prstDash val="solid"/>
          </a:ln>
        </p:spPr>
      </p:sp>
      <p:sp>
        <p:nvSpPr>
          <p:cNvPr id="6" name="Text 3"/>
          <p:cNvSpPr txBox="1"/>
          <p:nvPr/>
        </p:nvSpPr>
        <p:spPr>
          <a:xfrm>
            <a:off x="7973568" y="1773936"/>
            <a:ext cx="3246120" cy="1920240"/>
          </a:xfrm>
          <a:prstGeom prst="rect">
            <a:avLst/>
          </a:prstGeom>
          <a:noFill/>
          <a:ln/>
        </p:spPr>
        <p:txBody>
          <a:bodyPr wrap="square" lIns="0" tIns="0" rIns="0" bIns="0" rtlCol="0" anchor="ctr"/>
          <a:lstStyle/>
          <a:p>
            <a:pPr indent="0" marL="0">
              <a:lnSpc>
                <a:spcPts val="1600"/>
              </a:lnSpc>
              <a:buNone/>
            </a:pPr>
            <a:r>
              <a:rPr lang="en-US" sz="1200" b="1" dirty="0">
                <a:solidFill>
                  <a:srgbClr val="8C491A"/>
                </a:solidFill>
                <a:latin typeface="Arial" pitchFamily="34" charset="0"/>
                <a:ea typeface="Arial" pitchFamily="34" charset="-122"/>
                <a:cs typeface="Arial" pitchFamily="34" charset="-120"/>
              </a:rPr>
              <a:t>Keyphrase đứng riêng YẾU HƠN TF-IDF
</a:t>
            </a:r>
            <a:endParaRPr lang="en-US" sz="1200" dirty="0"/>
          </a:p>
          <a:p>
            <a:pPr indent="0" marL="0">
              <a:lnSpc>
                <a:spcPts val="1600"/>
              </a:lnSpc>
              <a:buNone/>
            </a:pPr>
            <a:r>
              <a:rPr lang="en-US" sz="1200" dirty="0">
                <a:solidFill>
                  <a:srgbClr val="5A4032"/>
                </a:solidFill>
                <a:latin typeface="Arial" pitchFamily="34" charset="0"/>
                <a:ea typeface="Arial" pitchFamily="34" charset="-122"/>
                <a:cs typeface="Arial" pitchFamily="34" charset="-120"/>
              </a:rPr>
              <a:t>35,8% so với 58,3% — nhưng vẫn xứng trọng số cao nhất 0,55. Nó thua về ĐỘ PHỦ, không thua về ĐỘ CHÍNH XÁC. Lai lại: TF-IDF lo phần phủ, keyphrase lo phần chuẩn.</a:t>
            </a:r>
            <a:endParaRPr lang="en-US" sz="1200" dirty="0"/>
          </a:p>
        </p:txBody>
      </p:sp>
      <p:sp>
        <p:nvSpPr>
          <p:cNvPr id="7" name="Shape 4"/>
          <p:cNvSpPr/>
          <p:nvPr/>
        </p:nvSpPr>
        <p:spPr>
          <a:xfrm>
            <a:off x="685800" y="4114800"/>
            <a:ext cx="10820095" cy="1975104"/>
          </a:xfrm>
          <a:prstGeom prst="roundRect">
            <a:avLst>
              <a:gd name="adj" fmla="val 6481"/>
            </a:avLst>
          </a:prstGeom>
          <a:solidFill>
            <a:srgbClr val="EBDDC5"/>
          </a:solidFill>
          <a:ln/>
        </p:spPr>
      </p:sp>
      <p:sp>
        <p:nvSpPr>
          <p:cNvPr id="8" name="Shape 5"/>
          <p:cNvSpPr/>
          <p:nvPr/>
        </p:nvSpPr>
        <p:spPr>
          <a:xfrm>
            <a:off x="1014984" y="4315968"/>
            <a:ext cx="2242109" cy="274320"/>
          </a:xfrm>
          <a:prstGeom prst="roundRect">
            <a:avLst>
              <a:gd name="adj" fmla="val 50000"/>
            </a:avLst>
          </a:prstGeom>
          <a:solidFill>
            <a:srgbClr val="7A8A5E"/>
          </a:solidFill>
          <a:ln/>
        </p:spPr>
      </p:sp>
      <p:sp>
        <p:nvSpPr>
          <p:cNvPr id="9" name="Text 6"/>
          <p:cNvSpPr txBox="1"/>
          <p:nvPr/>
        </p:nvSpPr>
        <p:spPr>
          <a:xfrm>
            <a:off x="1014984" y="4315968"/>
            <a:ext cx="2242109" cy="274320"/>
          </a:xfrm>
          <a:prstGeom prst="rect">
            <a:avLst/>
          </a:prstGeom>
          <a:noFill/>
          <a:ln/>
        </p:spPr>
        <p:txBody>
          <a:bodyPr wrap="square" lIns="0" tIns="0" rIns="0" bIns="0" rtlCol="0" anchor="ctr"/>
          <a:lstStyle/>
          <a:p>
            <a:pPr algn="ctr" indent="0" marL="0">
              <a:buNone/>
            </a:pPr>
            <a:r>
              <a:rPr lang="en-US" sz="1000" b="1" dirty="0">
                <a:solidFill>
                  <a:srgbClr val="F5EAD8"/>
                </a:solidFill>
                <a:latin typeface="Arial" pitchFamily="34" charset="0"/>
                <a:ea typeface="Arial" pitchFamily="34" charset="-122"/>
                <a:cs typeface="Arial" pitchFamily="34" charset="-120"/>
              </a:rPr>
              <a:t>22 CÂU HỎI CÓ GIÁ TRỊ SỐ</a:t>
            </a:r>
            <a:endParaRPr lang="en-US" sz="1000" dirty="0"/>
          </a:p>
        </p:txBody>
      </p:sp>
      <p:sp>
        <p:nvSpPr>
          <p:cNvPr id="10" name="Text 7"/>
          <p:cNvSpPr txBox="1"/>
          <p:nvPr/>
        </p:nvSpPr>
        <p:spPr>
          <a:xfrm>
            <a:off x="1014984" y="4754880"/>
            <a:ext cx="1828800" cy="658368"/>
          </a:xfrm>
          <a:prstGeom prst="rect">
            <a:avLst/>
          </a:prstGeom>
          <a:noFill/>
          <a:ln/>
        </p:spPr>
        <p:txBody>
          <a:bodyPr wrap="square" lIns="0" tIns="0" rIns="0" bIns="0" rtlCol="0" anchor="ctr"/>
          <a:lstStyle/>
          <a:p>
            <a:pPr algn="ctr" indent="0" marL="0">
              <a:buNone/>
            </a:pPr>
            <a:r>
              <a:rPr lang="en-US" sz="3600" b="1" dirty="0">
                <a:solidFill>
                  <a:srgbClr val="82796A"/>
                </a:solidFill>
                <a:latin typeface="Arial" pitchFamily="34" charset="0"/>
                <a:ea typeface="Arial" pitchFamily="34" charset="-122"/>
                <a:cs typeface="Arial" pitchFamily="34" charset="-120"/>
              </a:rPr>
              <a:t>40,9%</a:t>
            </a:r>
            <a:endParaRPr lang="en-US" sz="3600" dirty="0"/>
          </a:p>
        </p:txBody>
      </p:sp>
      <p:sp>
        <p:nvSpPr>
          <p:cNvPr id="11" name="Text 8"/>
          <p:cNvSpPr txBox="1"/>
          <p:nvPr/>
        </p:nvSpPr>
        <p:spPr>
          <a:xfrm>
            <a:off x="1014984" y="5413248"/>
            <a:ext cx="1828800" cy="274320"/>
          </a:xfrm>
          <a:prstGeom prst="rect">
            <a:avLst/>
          </a:prstGeom>
          <a:noFill/>
          <a:ln/>
        </p:spPr>
        <p:txBody>
          <a:bodyPr wrap="square" lIns="0" tIns="0" rIns="0" bIns="0" rtlCol="0" anchor="ctr"/>
          <a:lstStyle/>
          <a:p>
            <a:pPr algn="ctr" indent="0" marL="0">
              <a:buNone/>
            </a:pPr>
            <a:r>
              <a:rPr lang="en-US" sz="1100" dirty="0">
                <a:solidFill>
                  <a:srgbClr val="645C50"/>
                </a:solidFill>
                <a:latin typeface="Arial" pitchFamily="34" charset="0"/>
                <a:ea typeface="Arial" pitchFamily="34" charset="-122"/>
                <a:cs typeface="Arial" pitchFamily="34" charset="-120"/>
              </a:rPr>
              <a:t>chưa suy diễn số học</a:t>
            </a:r>
            <a:endParaRPr lang="en-US" sz="1100" dirty="0"/>
          </a:p>
        </p:txBody>
      </p:sp>
      <p:sp>
        <p:nvSpPr>
          <p:cNvPr id="12" name="Text 9"/>
          <p:cNvSpPr txBox="1"/>
          <p:nvPr/>
        </p:nvSpPr>
        <p:spPr>
          <a:xfrm>
            <a:off x="2935224" y="4754880"/>
            <a:ext cx="731520" cy="658368"/>
          </a:xfrm>
          <a:prstGeom prst="rect">
            <a:avLst/>
          </a:prstGeom>
          <a:noFill/>
          <a:ln/>
        </p:spPr>
        <p:txBody>
          <a:bodyPr wrap="square" lIns="0" tIns="0" rIns="0" bIns="0" rtlCol="0" anchor="ctr"/>
          <a:lstStyle/>
          <a:p>
            <a:pPr algn="ctr" indent="0" marL="0">
              <a:buNone/>
            </a:pPr>
            <a:r>
              <a:rPr lang="en-US" sz="3000" b="1" dirty="0">
                <a:solidFill>
                  <a:srgbClr val="C67139"/>
                </a:solidFill>
                <a:latin typeface="Arial" pitchFamily="34" charset="0"/>
                <a:ea typeface="Arial" pitchFamily="34" charset="-122"/>
                <a:cs typeface="Arial" pitchFamily="34" charset="-120"/>
              </a:rPr>
              <a:t>→</a:t>
            </a:r>
            <a:endParaRPr lang="en-US" sz="3000" dirty="0"/>
          </a:p>
        </p:txBody>
      </p:sp>
      <p:sp>
        <p:nvSpPr>
          <p:cNvPr id="13" name="Text 10"/>
          <p:cNvSpPr txBox="1"/>
          <p:nvPr/>
        </p:nvSpPr>
        <p:spPr>
          <a:xfrm>
            <a:off x="3703320" y="4754880"/>
            <a:ext cx="1828800" cy="658368"/>
          </a:xfrm>
          <a:prstGeom prst="rect">
            <a:avLst/>
          </a:prstGeom>
          <a:noFill/>
          <a:ln/>
        </p:spPr>
        <p:txBody>
          <a:bodyPr wrap="square" lIns="0" tIns="0" rIns="0" bIns="0" rtlCol="0" anchor="ctr"/>
          <a:lstStyle/>
          <a:p>
            <a:pPr algn="ctr" indent="0" marL="0">
              <a:buNone/>
            </a:pPr>
            <a:r>
              <a:rPr lang="en-US" sz="3600" b="1" dirty="0">
                <a:solidFill>
                  <a:srgbClr val="C67139"/>
                </a:solidFill>
                <a:latin typeface="Arial" pitchFamily="34" charset="0"/>
                <a:ea typeface="Arial" pitchFamily="34" charset="-122"/>
                <a:cs typeface="Arial" pitchFamily="34" charset="-120"/>
              </a:rPr>
              <a:t>95,5%</a:t>
            </a:r>
            <a:endParaRPr lang="en-US" sz="3600" dirty="0"/>
          </a:p>
        </p:txBody>
      </p:sp>
      <p:sp>
        <p:nvSpPr>
          <p:cNvPr id="14" name="Text 11"/>
          <p:cNvSpPr txBox="1"/>
          <p:nvPr/>
        </p:nvSpPr>
        <p:spPr>
          <a:xfrm>
            <a:off x="3703320" y="5413248"/>
            <a:ext cx="1828800" cy="274320"/>
          </a:xfrm>
          <a:prstGeom prst="rect">
            <a:avLst/>
          </a:prstGeom>
          <a:noFill/>
          <a:ln/>
        </p:spPr>
        <p:txBody>
          <a:bodyPr wrap="square" lIns="0" tIns="0" rIns="0" bIns="0" rtlCol="0" anchor="ctr"/>
          <a:lstStyle/>
          <a:p>
            <a:pPr algn="ctr" indent="0" marL="0">
              <a:buNone/>
            </a:pPr>
            <a:r>
              <a:rPr lang="en-US" sz="1100" dirty="0">
                <a:solidFill>
                  <a:srgbClr val="645C50"/>
                </a:solidFill>
                <a:latin typeface="Arial" pitchFamily="34" charset="0"/>
                <a:ea typeface="Arial" pitchFamily="34" charset="-122"/>
                <a:cs typeface="Arial" pitchFamily="34" charset="-120"/>
              </a:rPr>
              <a:t>có suy diễn số học</a:t>
            </a:r>
            <a:endParaRPr lang="en-US" sz="1100" dirty="0"/>
          </a:p>
        </p:txBody>
      </p:sp>
      <p:sp>
        <p:nvSpPr>
          <p:cNvPr id="15" name="Text 12"/>
          <p:cNvSpPr txBox="1"/>
          <p:nvPr/>
        </p:nvSpPr>
        <p:spPr>
          <a:xfrm>
            <a:off x="5897880" y="4718304"/>
            <a:ext cx="5303520" cy="1188720"/>
          </a:xfrm>
          <a:prstGeom prst="rect">
            <a:avLst/>
          </a:prstGeom>
          <a:noFill/>
          <a:ln/>
        </p:spPr>
        <p:txBody>
          <a:bodyPr wrap="square" lIns="0" tIns="0" rIns="0" bIns="0" rtlCol="0" anchor="ctr"/>
          <a:lstStyle/>
          <a:p>
            <a:pPr indent="0" marL="0">
              <a:lnSpc>
                <a:spcPts val="1700"/>
              </a:lnSpc>
              <a:buNone/>
            </a:pPr>
            <a:r>
              <a:rPr lang="en-US" sz="1250" b="1" dirty="0">
                <a:solidFill>
                  <a:srgbClr val="201E1D"/>
                </a:solidFill>
                <a:latin typeface="Arial" pitchFamily="34" charset="0"/>
                <a:ea typeface="Arial" pitchFamily="34" charset="-122"/>
                <a:cs typeface="Arial" pitchFamily="34" charset="-120"/>
              </a:rPr>
              <a:t>Trong khi đó Top-5 gần như không đổi: 95,5% → 100,0%.
</a:t>
            </a:r>
            <a:endParaRPr lang="en-US" sz="1250" dirty="0"/>
          </a:p>
          <a:p>
            <a:pPr indent="0" marL="0">
              <a:lnSpc>
                <a:spcPts val="1700"/>
              </a:lnSpc>
              <a:buNone/>
            </a:pPr>
            <a:r>
              <a:rPr lang="en-US" sz="1250" dirty="0">
                <a:solidFill>
                  <a:srgbClr val="645C50"/>
                </a:solidFill>
                <a:latin typeface="Arial" pitchFamily="34" charset="0"/>
                <a:ea typeface="Arial" pitchFamily="34" charset="-122"/>
                <a:cs typeface="Arial" pitchFamily="34" charset="-120"/>
              </a:rPr>
              <a:t>Con số này nói đúng một điều: so khớp từ khoá VẪN TÌM RA đủ các khung phạt, nó chỉ không biết CHỌN KHUNG NÀO. NumericReasoner rút ngưỡng từ chính nguyên văn điều khoản rồi so sánh khoảng — giải quyết đúng khâu đó.</a:t>
            </a:r>
            <a:endParaRPr lang="en-US" sz="1250" dirty="0"/>
          </a:p>
        </p:txBody>
      </p:sp>
      <p:sp>
        <p:nvSpPr>
          <p:cNvPr id="16" name="Text 13"/>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python eval/ablation.py</a:t>
            </a:r>
            <a:endParaRPr lang="en-US" sz="1000" dirty="0"/>
          </a:p>
        </p:txBody>
      </p:sp>
      <p:sp>
        <p:nvSpPr>
          <p:cNvPr id="17" name="Text 14"/>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5 · KẾT QUẢ</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Phân tích lỗi sâu — mỗi ca quy về một nguyên nhân gốc</a:t>
            </a:r>
            <a:endParaRPr lang="en-US" sz="3000" dirty="0"/>
          </a:p>
        </p:txBody>
      </p:sp>
      <p:pic>
        <p:nvPicPr>
          <p:cNvPr id="4" name="Image 0" descr="/sessions/rcw-01xwxtelkytbuqrqalcz7dcn/mnt/AI/uit-traffic-law-lookup-system/docs/so_do/hinh6_phan_tich_loi.png">    </p:cNvPr>
          <p:cNvPicPr>
            <a:picLocks noChangeAspect="1"/>
          </p:cNvPicPr>
          <p:nvPr/>
        </p:nvPicPr>
        <p:blipFill>
          <a:blip r:embed="rId1"/>
          <a:stretch>
            <a:fillRect/>
          </a:stretch>
        </p:blipFill>
        <p:spPr>
          <a:xfrm>
            <a:off x="502920" y="1316736"/>
            <a:ext cx="7589520" cy="2916936"/>
          </a:xfrm>
          <a:prstGeom prst="rect">
            <a:avLst/>
          </a:prstGeom>
        </p:spPr>
      </p:pic>
      <p:sp>
        <p:nvSpPr>
          <p:cNvPr id="5" name="Shape 2"/>
          <p:cNvSpPr/>
          <p:nvPr/>
        </p:nvSpPr>
        <p:spPr>
          <a:xfrm>
            <a:off x="8275320" y="1371600"/>
            <a:ext cx="3230575" cy="2834640"/>
          </a:xfrm>
          <a:prstGeom prst="roundRect">
            <a:avLst>
              <a:gd name="adj" fmla="val 4516"/>
            </a:avLst>
          </a:prstGeom>
          <a:solidFill>
            <a:srgbClr val="FFF2EB"/>
          </a:solidFill>
          <a:ln w="12700">
            <a:solidFill>
              <a:srgbClr val="FFC6A5"/>
            </a:solidFill>
            <a:prstDash val="solid"/>
          </a:ln>
        </p:spPr>
      </p:sp>
      <p:sp>
        <p:nvSpPr>
          <p:cNvPr id="6" name="Text 3"/>
          <p:cNvSpPr txBox="1"/>
          <p:nvPr/>
        </p:nvSpPr>
        <p:spPr>
          <a:xfrm>
            <a:off x="8522208" y="1591056"/>
            <a:ext cx="3108960" cy="2468880"/>
          </a:xfrm>
          <a:prstGeom prst="rect">
            <a:avLst/>
          </a:prstGeom>
          <a:noFill/>
          <a:ln/>
        </p:spPr>
        <p:txBody>
          <a:bodyPr wrap="square" lIns="0" tIns="0" rIns="0" bIns="0" rtlCol="0" anchor="ctr"/>
          <a:lstStyle/>
          <a:p>
            <a:pPr indent="0" marL="0">
              <a:lnSpc>
                <a:spcPts val="1500"/>
              </a:lnSpc>
              <a:buNone/>
            </a:pPr>
            <a:r>
              <a:rPr lang="en-US" sz="1400" b="1" dirty="0">
                <a:solidFill>
                  <a:srgbClr val="8C491A"/>
                </a:solidFill>
                <a:latin typeface="Arial" pitchFamily="34" charset="0"/>
                <a:ea typeface="Arial" pitchFamily="34" charset="-122"/>
                <a:cs typeface="Arial" pitchFamily="34" charset="-120"/>
              </a:rPr>
              <a:t>Phần lớn là lỗi XẾP HẠNG,
không phải lỗi tìm kiếm.
</a:t>
            </a:r>
            <a:endParaRPr lang="en-US" sz="1150" dirty="0"/>
          </a:p>
          <a:p>
            <a:pPr indent="0" marL="0">
              <a:lnSpc>
                <a:spcPts val="1500"/>
              </a:lnSpc>
              <a:buNone/>
            </a:pPr>
            <a:r>
              <a:rPr lang="en-US" sz="1150" b="1" dirty="0">
                <a:solidFill>
                  <a:srgbClr val="5A4032"/>
                </a:solidFill>
                <a:latin typeface="Arial" pitchFamily="34" charset="0"/>
                <a:ea typeface="Arial" pitchFamily="34" charset="-122"/>
                <a:cs typeface="Arial" pitchFamily="34" charset="-120"/>
              </a:rPr>
              <a:t>31/120 ca chưa tối ưu: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 6 ca đáp án rơi hẳn ngoài Top-5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 22 ca đáp án CÓ trong danh sách nhưng không đứng đầu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 3 ca đáp án đã ở hạng 1 nhưng câu bị gán sai lớp</a:t>
            </a:r>
            <a:endParaRPr lang="en-US" sz="1150" dirty="0"/>
          </a:p>
        </p:txBody>
      </p:sp>
      <p:sp>
        <p:nvSpPr>
          <p:cNvPr id="7" name="Shape 4"/>
          <p:cNvSpPr/>
          <p:nvPr/>
        </p:nvSpPr>
        <p:spPr>
          <a:xfrm>
            <a:off x="685800" y="4407408"/>
            <a:ext cx="2743200" cy="1664208"/>
          </a:xfrm>
          <a:prstGeom prst="roundRect">
            <a:avLst>
              <a:gd name="adj" fmla="val 7692"/>
            </a:avLst>
          </a:prstGeom>
          <a:solidFill>
            <a:srgbClr val="F0FAE1"/>
          </a:solidFill>
          <a:ln w="12700">
            <a:solidFill>
              <a:srgbClr val="CCDBB2"/>
            </a:solidFill>
            <a:prstDash val="solid"/>
          </a:ln>
        </p:spPr>
      </p:sp>
      <p:sp>
        <p:nvSpPr>
          <p:cNvPr id="8" name="Shape 5"/>
          <p:cNvSpPr/>
          <p:nvPr/>
        </p:nvSpPr>
        <p:spPr>
          <a:xfrm>
            <a:off x="905256" y="4572000"/>
            <a:ext cx="457200" cy="274320"/>
          </a:xfrm>
          <a:prstGeom prst="roundRect">
            <a:avLst>
              <a:gd name="adj" fmla="val 50000"/>
            </a:avLst>
          </a:prstGeom>
          <a:solidFill>
            <a:srgbClr val="7A8A5E"/>
          </a:solidFill>
          <a:ln/>
        </p:spPr>
      </p:sp>
      <p:sp>
        <p:nvSpPr>
          <p:cNvPr id="9" name="Text 6"/>
          <p:cNvSpPr txBox="1"/>
          <p:nvPr/>
        </p:nvSpPr>
        <p:spPr>
          <a:xfrm>
            <a:off x="905256" y="4572000"/>
            <a:ext cx="45720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L5</a:t>
            </a:r>
            <a:endParaRPr lang="en-US" sz="900" dirty="0"/>
          </a:p>
        </p:txBody>
      </p:sp>
      <p:sp>
        <p:nvSpPr>
          <p:cNvPr id="10" name="Text 7"/>
          <p:cNvSpPr txBox="1"/>
          <p:nvPr/>
        </p:nvSpPr>
        <p:spPr>
          <a:xfrm>
            <a:off x="1453896" y="4553712"/>
            <a:ext cx="1783080" cy="274320"/>
          </a:xfrm>
          <a:prstGeom prst="rect">
            <a:avLst/>
          </a:prstGeom>
          <a:noFill/>
          <a:ln/>
        </p:spPr>
        <p:txBody>
          <a:bodyPr wrap="square" lIns="0" tIns="0" rIns="0" bIns="0" rtlCol="0" anchor="ctr"/>
          <a:lstStyle/>
          <a:p>
            <a:pPr indent="0" marL="0">
              <a:buNone/>
            </a:pPr>
            <a:r>
              <a:rPr lang="en-US" sz="1150" b="1" dirty="0">
                <a:solidFill>
                  <a:srgbClr val="56633F"/>
                </a:solidFill>
                <a:latin typeface="Arial" pitchFamily="34" charset="0"/>
                <a:ea typeface="Arial" pitchFamily="34" charset="-122"/>
                <a:cs typeface="Arial" pitchFamily="34" charset="-120"/>
              </a:rPr>
              <a:t>Khoảng trống từ vựng</a:t>
            </a:r>
            <a:endParaRPr lang="en-US" sz="1150" dirty="0"/>
          </a:p>
        </p:txBody>
      </p:sp>
      <p:sp>
        <p:nvSpPr>
          <p:cNvPr id="11" name="Text 8"/>
          <p:cNvSpPr txBox="1"/>
          <p:nvPr/>
        </p:nvSpPr>
        <p:spPr>
          <a:xfrm>
            <a:off x="905256" y="4882896"/>
            <a:ext cx="2304288" cy="219456"/>
          </a:xfrm>
          <a:prstGeom prst="rect">
            <a:avLst/>
          </a:prstGeom>
          <a:noFill/>
          <a:ln/>
        </p:spPr>
        <p:txBody>
          <a:bodyPr wrap="square" lIns="0" tIns="0" rIns="0" bIns="0" rtlCol="0" anchor="ctr"/>
          <a:lstStyle/>
          <a:p>
            <a:pPr indent="0" marL="0">
              <a:buNone/>
            </a:pPr>
            <a:r>
              <a:rPr lang="en-US" sz="1100" b="1" dirty="0">
                <a:solidFill>
                  <a:srgbClr val="7A8A5E"/>
                </a:solidFill>
                <a:latin typeface="Arial" pitchFamily="34" charset="0"/>
                <a:ea typeface="Arial" pitchFamily="34" charset="-122"/>
                <a:cs typeface="Arial" pitchFamily="34" charset="-120"/>
              </a:rPr>
              <a:t>15 ca</a:t>
            </a:r>
            <a:endParaRPr lang="en-US" sz="1100" dirty="0"/>
          </a:p>
        </p:txBody>
      </p:sp>
      <p:sp>
        <p:nvSpPr>
          <p:cNvPr id="12" name="Text 9"/>
          <p:cNvSpPr txBox="1"/>
          <p:nvPr/>
        </p:nvSpPr>
        <p:spPr>
          <a:xfrm>
            <a:off x="905256" y="5084064"/>
            <a:ext cx="2304288" cy="603504"/>
          </a:xfrm>
          <a:prstGeom prst="rect">
            <a:avLst/>
          </a:prstGeom>
          <a:noFill/>
          <a:ln/>
        </p:spPr>
        <p:txBody>
          <a:bodyPr wrap="square" lIns="0" tIns="0" rIns="0" bIns="0" rtlCol="0" anchor="t"/>
          <a:lstStyle/>
          <a:p>
            <a:pPr indent="0" marL="0">
              <a:lnSpc>
                <a:spcPts val="1250"/>
              </a:lnSpc>
              <a:buNone/>
            </a:pPr>
            <a:r>
              <a:rPr lang="en-US" sz="960" dirty="0">
                <a:solidFill>
                  <a:srgbClr val="645C50"/>
                </a:solidFill>
                <a:latin typeface="Arial" pitchFamily="34" charset="0"/>
                <a:ea typeface="Arial" pitchFamily="34" charset="-122"/>
                <a:cs typeface="Arial" pitchFamily="34" charset="-120"/>
              </a:rPr>
              <a:t>“nón bảo hiểm” thay vì “mũ bảo hiểm”, “bằng lái” thay vì “giấy phép lái xe”. Làn keyphrase im lặng, chỉ còn TF-IDF gánh.</a:t>
            </a:r>
            <a:endParaRPr lang="en-US" sz="960" dirty="0"/>
          </a:p>
        </p:txBody>
      </p:sp>
      <p:sp>
        <p:nvSpPr>
          <p:cNvPr id="13" name="Text 10"/>
          <p:cNvSpPr txBox="1"/>
          <p:nvPr/>
        </p:nvSpPr>
        <p:spPr>
          <a:xfrm>
            <a:off x="905256" y="5687568"/>
            <a:ext cx="2304288" cy="329184"/>
          </a:xfrm>
          <a:prstGeom prst="rect">
            <a:avLst/>
          </a:prstGeom>
          <a:noFill/>
          <a:ln/>
        </p:spPr>
        <p:txBody>
          <a:bodyPr wrap="square" lIns="0" tIns="0" rIns="0" bIns="0" rtlCol="0" anchor="t"/>
          <a:lstStyle/>
          <a:p>
            <a:pPr indent="0" marL="0">
              <a:buNone/>
            </a:pPr>
            <a:r>
              <a:rPr lang="en-US" sz="930" i="1" dirty="0">
                <a:solidFill>
                  <a:srgbClr val="56633F"/>
                </a:solidFill>
                <a:latin typeface="Arial" pitchFamily="34" charset="0"/>
                <a:ea typeface="Arial" pitchFamily="34" charset="-122"/>
                <a:cs typeface="Arial" pitchFamily="34" charset="-120"/>
              </a:rPr>
              <a:t>→ Sửa bằng DỮ LIỆU, không cần đổi thuật giải</a:t>
            </a:r>
            <a:endParaRPr lang="en-US" sz="930" dirty="0"/>
          </a:p>
        </p:txBody>
      </p:sp>
      <p:sp>
        <p:nvSpPr>
          <p:cNvPr id="14" name="Shape 11"/>
          <p:cNvSpPr/>
          <p:nvPr/>
        </p:nvSpPr>
        <p:spPr>
          <a:xfrm>
            <a:off x="3602736" y="4407408"/>
            <a:ext cx="2743200" cy="1664208"/>
          </a:xfrm>
          <a:prstGeom prst="roundRect">
            <a:avLst>
              <a:gd name="adj" fmla="val 7692"/>
            </a:avLst>
          </a:prstGeom>
          <a:solidFill>
            <a:srgbClr val="FFF2EB"/>
          </a:solidFill>
          <a:ln w="12700">
            <a:solidFill>
              <a:srgbClr val="FFC6A5"/>
            </a:solidFill>
            <a:prstDash val="solid"/>
          </a:ln>
        </p:spPr>
      </p:sp>
      <p:sp>
        <p:nvSpPr>
          <p:cNvPr id="15" name="Shape 12"/>
          <p:cNvSpPr/>
          <p:nvPr/>
        </p:nvSpPr>
        <p:spPr>
          <a:xfrm>
            <a:off x="3822192" y="4572000"/>
            <a:ext cx="457200" cy="274320"/>
          </a:xfrm>
          <a:prstGeom prst="roundRect">
            <a:avLst>
              <a:gd name="adj" fmla="val 50000"/>
            </a:avLst>
          </a:prstGeom>
          <a:solidFill>
            <a:srgbClr val="C67139"/>
          </a:solidFill>
          <a:ln/>
        </p:spPr>
      </p:sp>
      <p:sp>
        <p:nvSpPr>
          <p:cNvPr id="16" name="Text 13"/>
          <p:cNvSpPr txBox="1"/>
          <p:nvPr/>
        </p:nvSpPr>
        <p:spPr>
          <a:xfrm>
            <a:off x="3822192" y="4572000"/>
            <a:ext cx="45720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L1</a:t>
            </a:r>
            <a:endParaRPr lang="en-US" sz="900" dirty="0"/>
          </a:p>
        </p:txBody>
      </p:sp>
      <p:sp>
        <p:nvSpPr>
          <p:cNvPr id="17" name="Text 14"/>
          <p:cNvSpPr txBox="1"/>
          <p:nvPr/>
        </p:nvSpPr>
        <p:spPr>
          <a:xfrm>
            <a:off x="4370832" y="4553712"/>
            <a:ext cx="1783080" cy="274320"/>
          </a:xfrm>
          <a:prstGeom prst="rect">
            <a:avLst/>
          </a:prstGeom>
          <a:noFill/>
          <a:ln/>
        </p:spPr>
        <p:txBody>
          <a:bodyPr wrap="square" lIns="0" tIns="0" rIns="0" bIns="0" rtlCol="0" anchor="ctr"/>
          <a:lstStyle/>
          <a:p>
            <a:pPr indent="0" marL="0">
              <a:buNone/>
            </a:pPr>
            <a:r>
              <a:rPr lang="en-US" sz="1150" b="1" dirty="0">
                <a:solidFill>
                  <a:srgbClr val="8C491A"/>
                </a:solidFill>
                <a:latin typeface="Arial" pitchFamily="34" charset="0"/>
                <a:ea typeface="Arial" pitchFamily="34" charset="-122"/>
                <a:cs typeface="Arial" pitchFamily="34" charset="-120"/>
              </a:rPr>
              <a:t>Định tuyến sai lớp</a:t>
            </a:r>
            <a:endParaRPr lang="en-US" sz="1150" dirty="0"/>
          </a:p>
        </p:txBody>
      </p:sp>
      <p:sp>
        <p:nvSpPr>
          <p:cNvPr id="18" name="Text 15"/>
          <p:cNvSpPr txBox="1"/>
          <p:nvPr/>
        </p:nvSpPr>
        <p:spPr>
          <a:xfrm>
            <a:off x="3822192" y="4882896"/>
            <a:ext cx="2304288" cy="219456"/>
          </a:xfrm>
          <a:prstGeom prst="rect">
            <a:avLst/>
          </a:prstGeom>
          <a:noFill/>
          <a:ln/>
        </p:spPr>
        <p:txBody>
          <a:bodyPr wrap="square" lIns="0" tIns="0" rIns="0" bIns="0" rtlCol="0" anchor="ctr"/>
          <a:lstStyle/>
          <a:p>
            <a:pPr indent="0" marL="0">
              <a:buNone/>
            </a:pPr>
            <a:r>
              <a:rPr lang="en-US" sz="1100" b="1" dirty="0">
                <a:solidFill>
                  <a:srgbClr val="C67139"/>
                </a:solidFill>
                <a:latin typeface="Arial" pitchFamily="34" charset="0"/>
                <a:ea typeface="Arial" pitchFamily="34" charset="-122"/>
                <a:cs typeface="Arial" pitchFamily="34" charset="-120"/>
              </a:rPr>
              <a:t>5 ca</a:t>
            </a:r>
            <a:endParaRPr lang="en-US" sz="1100" dirty="0"/>
          </a:p>
        </p:txBody>
      </p:sp>
      <p:sp>
        <p:nvSpPr>
          <p:cNvPr id="19" name="Text 16"/>
          <p:cNvSpPr txBox="1"/>
          <p:nvPr/>
        </p:nvSpPr>
        <p:spPr>
          <a:xfrm>
            <a:off x="3822192" y="5084064"/>
            <a:ext cx="2304288" cy="603504"/>
          </a:xfrm>
          <a:prstGeom prst="rect">
            <a:avLst/>
          </a:prstGeom>
          <a:noFill/>
          <a:ln/>
        </p:spPr>
        <p:txBody>
          <a:bodyPr wrap="square" lIns="0" tIns="0" rIns="0" bIns="0" rtlCol="0" anchor="t"/>
          <a:lstStyle/>
          <a:p>
            <a:pPr indent="0" marL="0">
              <a:lnSpc>
                <a:spcPts val="1250"/>
              </a:lnSpc>
              <a:buNone/>
            </a:pPr>
            <a:r>
              <a:rPr lang="en-US" sz="960" dirty="0">
                <a:solidFill>
                  <a:srgbClr val="645C50"/>
                </a:solidFill>
                <a:latin typeface="Arial" pitchFamily="34" charset="0"/>
                <a:ea typeface="Arial" pitchFamily="34" charset="-122"/>
                <a:cs typeface="Arial" pitchFamily="34" charset="-120"/>
              </a:rPr>
              <a:t>“Đèn giao thông có mấy màu?” bị đẩy sang P7 vì câu quá ngắn; con số 12 trong câu hỏi kích hoạt nhầm mẫu tra cứu ngược.</a:t>
            </a:r>
            <a:endParaRPr lang="en-US" sz="960" dirty="0"/>
          </a:p>
        </p:txBody>
      </p:sp>
      <p:sp>
        <p:nvSpPr>
          <p:cNvPr id="20" name="Text 17"/>
          <p:cNvSpPr txBox="1"/>
          <p:nvPr/>
        </p:nvSpPr>
        <p:spPr>
          <a:xfrm>
            <a:off x="3822192" y="5687568"/>
            <a:ext cx="2304288" cy="329184"/>
          </a:xfrm>
          <a:prstGeom prst="rect">
            <a:avLst/>
          </a:prstGeom>
          <a:noFill/>
          <a:ln/>
        </p:spPr>
        <p:txBody>
          <a:bodyPr wrap="square" lIns="0" tIns="0" rIns="0" bIns="0" rtlCol="0" anchor="t"/>
          <a:lstStyle/>
          <a:p>
            <a:pPr indent="0" marL="0">
              <a:buNone/>
            </a:pPr>
            <a:r>
              <a:rPr lang="en-US" sz="930" i="1" dirty="0">
                <a:solidFill>
                  <a:srgbClr val="8C491A"/>
                </a:solidFill>
                <a:latin typeface="Arial" pitchFamily="34" charset="0"/>
                <a:ea typeface="Arial" pitchFamily="34" charset="-122"/>
                <a:cs typeface="Arial" pitchFamily="34" charset="-120"/>
              </a:rPr>
              <a:t>→ Bộ giải sai kiểu chạy — lỗi nặng nhất</a:t>
            </a:r>
            <a:endParaRPr lang="en-US" sz="930" dirty="0"/>
          </a:p>
        </p:txBody>
      </p:sp>
      <p:sp>
        <p:nvSpPr>
          <p:cNvPr id="21" name="Shape 18"/>
          <p:cNvSpPr/>
          <p:nvPr/>
        </p:nvSpPr>
        <p:spPr>
          <a:xfrm>
            <a:off x="6519672" y="4407408"/>
            <a:ext cx="2743200" cy="1664208"/>
          </a:xfrm>
          <a:prstGeom prst="roundRect">
            <a:avLst>
              <a:gd name="adj" fmla="val 7692"/>
            </a:avLst>
          </a:prstGeom>
          <a:solidFill>
            <a:srgbClr val="F9F4ED"/>
          </a:solidFill>
          <a:ln w="12700">
            <a:solidFill>
              <a:srgbClr val="DCD3C4"/>
            </a:solidFill>
            <a:prstDash val="solid"/>
          </a:ln>
        </p:spPr>
      </p:sp>
      <p:sp>
        <p:nvSpPr>
          <p:cNvPr id="22" name="Shape 19"/>
          <p:cNvSpPr/>
          <p:nvPr/>
        </p:nvSpPr>
        <p:spPr>
          <a:xfrm>
            <a:off x="6739128" y="4572000"/>
            <a:ext cx="457200" cy="274320"/>
          </a:xfrm>
          <a:prstGeom prst="roundRect">
            <a:avLst>
              <a:gd name="adj" fmla="val 50000"/>
            </a:avLst>
          </a:prstGeom>
          <a:solidFill>
            <a:srgbClr val="8C491A"/>
          </a:solidFill>
          <a:ln/>
        </p:spPr>
      </p:sp>
      <p:sp>
        <p:nvSpPr>
          <p:cNvPr id="23" name="Text 20"/>
          <p:cNvSpPr txBox="1"/>
          <p:nvPr/>
        </p:nvSpPr>
        <p:spPr>
          <a:xfrm>
            <a:off x="6739128" y="4572000"/>
            <a:ext cx="45720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L2</a:t>
            </a:r>
            <a:endParaRPr lang="en-US" sz="900" dirty="0"/>
          </a:p>
        </p:txBody>
      </p:sp>
      <p:sp>
        <p:nvSpPr>
          <p:cNvPr id="24" name="Text 21"/>
          <p:cNvSpPr txBox="1"/>
          <p:nvPr/>
        </p:nvSpPr>
        <p:spPr>
          <a:xfrm>
            <a:off x="7287768" y="4553712"/>
            <a:ext cx="178308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Trượt hẳn ngoài Top-5</a:t>
            </a:r>
            <a:endParaRPr lang="en-US" sz="1150" dirty="0"/>
          </a:p>
        </p:txBody>
      </p:sp>
      <p:sp>
        <p:nvSpPr>
          <p:cNvPr id="25" name="Text 22"/>
          <p:cNvSpPr txBox="1"/>
          <p:nvPr/>
        </p:nvSpPr>
        <p:spPr>
          <a:xfrm>
            <a:off x="6739128" y="4882896"/>
            <a:ext cx="2304288" cy="219456"/>
          </a:xfrm>
          <a:prstGeom prst="rect">
            <a:avLst/>
          </a:prstGeom>
          <a:noFill/>
          <a:ln/>
        </p:spPr>
        <p:txBody>
          <a:bodyPr wrap="square" lIns="0" tIns="0" rIns="0" bIns="0" rtlCol="0" anchor="ctr"/>
          <a:lstStyle/>
          <a:p>
            <a:pPr indent="0" marL="0">
              <a:buNone/>
            </a:pPr>
            <a:r>
              <a:rPr lang="en-US" sz="1100" b="1" dirty="0">
                <a:solidFill>
                  <a:srgbClr val="8C491A"/>
                </a:solidFill>
                <a:latin typeface="Arial" pitchFamily="34" charset="0"/>
                <a:ea typeface="Arial" pitchFamily="34" charset="-122"/>
                <a:cs typeface="Arial" pitchFamily="34" charset="-120"/>
              </a:rPr>
              <a:t>4 ca</a:t>
            </a:r>
            <a:endParaRPr lang="en-US" sz="1100" dirty="0"/>
          </a:p>
        </p:txBody>
      </p:sp>
      <p:sp>
        <p:nvSpPr>
          <p:cNvPr id="26" name="Text 23"/>
          <p:cNvSpPr txBox="1"/>
          <p:nvPr/>
        </p:nvSpPr>
        <p:spPr>
          <a:xfrm>
            <a:off x="6739128" y="5084064"/>
            <a:ext cx="2304288" cy="603504"/>
          </a:xfrm>
          <a:prstGeom prst="rect">
            <a:avLst/>
          </a:prstGeom>
          <a:noFill/>
          <a:ln/>
        </p:spPr>
        <p:txBody>
          <a:bodyPr wrap="square" lIns="0" tIns="0" rIns="0" bIns="0" rtlCol="0" anchor="t"/>
          <a:lstStyle/>
          <a:p>
            <a:pPr indent="0" marL="0">
              <a:lnSpc>
                <a:spcPts val="1250"/>
              </a:lnSpc>
              <a:buNone/>
            </a:pPr>
            <a:r>
              <a:rPr lang="en-US" sz="960" dirty="0">
                <a:solidFill>
                  <a:srgbClr val="645C50"/>
                </a:solidFill>
                <a:latin typeface="Arial" pitchFamily="34" charset="0"/>
                <a:ea typeface="Arial" pitchFamily="34" charset="-122"/>
                <a:cs typeface="Arial" pitchFamily="34" charset="-120"/>
              </a:rPr>
              <a:t>Câu khẩu ngữ dài kể tình huống, hoặc câu dạng có/không: người hỏi chờ một câu khẳng định, hệ trả điều khoản gần nghĩa nhất.</a:t>
            </a:r>
            <a:endParaRPr lang="en-US" sz="960" dirty="0"/>
          </a:p>
        </p:txBody>
      </p:sp>
      <p:sp>
        <p:nvSpPr>
          <p:cNvPr id="27" name="Text 24"/>
          <p:cNvSpPr txBox="1"/>
          <p:nvPr/>
        </p:nvSpPr>
        <p:spPr>
          <a:xfrm>
            <a:off x="6739128" y="5687568"/>
            <a:ext cx="2304288" cy="329184"/>
          </a:xfrm>
          <a:prstGeom prst="rect">
            <a:avLst/>
          </a:prstGeom>
          <a:noFill/>
          <a:ln/>
        </p:spPr>
        <p:txBody>
          <a:bodyPr wrap="square" lIns="0" tIns="0" rIns="0" bIns="0" rtlCol="0" anchor="t"/>
          <a:lstStyle/>
          <a:p>
            <a:pPr indent="0" marL="0">
              <a:buNone/>
            </a:pPr>
            <a:r>
              <a:rPr lang="en-US" sz="930" i="1" dirty="0">
                <a:solidFill>
                  <a:srgbClr val="201E1D"/>
                </a:solidFill>
                <a:latin typeface="Arial" pitchFamily="34" charset="0"/>
                <a:ea typeface="Arial" pitchFamily="34" charset="-122"/>
                <a:cs typeface="Arial" pitchFamily="34" charset="-120"/>
              </a:rPr>
              <a:t>→ Lỗi người dùng thật sự cảm nhận được</a:t>
            </a:r>
            <a:endParaRPr lang="en-US" sz="930" dirty="0"/>
          </a:p>
        </p:txBody>
      </p:sp>
      <p:sp>
        <p:nvSpPr>
          <p:cNvPr id="28" name="Shape 25"/>
          <p:cNvSpPr/>
          <p:nvPr/>
        </p:nvSpPr>
        <p:spPr>
          <a:xfrm>
            <a:off x="9436608" y="4407408"/>
            <a:ext cx="2743200" cy="1664208"/>
          </a:xfrm>
          <a:prstGeom prst="roundRect">
            <a:avLst>
              <a:gd name="adj" fmla="val 7692"/>
            </a:avLst>
          </a:prstGeom>
          <a:solidFill>
            <a:srgbClr val="F9F4ED"/>
          </a:solidFill>
          <a:ln w="12700">
            <a:solidFill>
              <a:srgbClr val="DCD3C4"/>
            </a:solidFill>
            <a:prstDash val="solid"/>
          </a:ln>
        </p:spPr>
      </p:sp>
      <p:sp>
        <p:nvSpPr>
          <p:cNvPr id="29" name="Shape 26"/>
          <p:cNvSpPr/>
          <p:nvPr/>
        </p:nvSpPr>
        <p:spPr>
          <a:xfrm>
            <a:off x="9656064" y="4572000"/>
            <a:ext cx="457200" cy="274320"/>
          </a:xfrm>
          <a:prstGeom prst="roundRect">
            <a:avLst>
              <a:gd name="adj" fmla="val 50000"/>
            </a:avLst>
          </a:prstGeom>
          <a:solidFill>
            <a:srgbClr val="82796A"/>
          </a:solidFill>
          <a:ln/>
        </p:spPr>
      </p:sp>
      <p:sp>
        <p:nvSpPr>
          <p:cNvPr id="30" name="Text 27"/>
          <p:cNvSpPr txBox="1"/>
          <p:nvPr/>
        </p:nvSpPr>
        <p:spPr>
          <a:xfrm>
            <a:off x="9656064" y="4572000"/>
            <a:ext cx="457200" cy="274320"/>
          </a:xfrm>
          <a:prstGeom prst="rect">
            <a:avLst/>
          </a:prstGeom>
          <a:noFill/>
          <a:ln/>
        </p:spPr>
        <p:txBody>
          <a:bodyPr wrap="square" lIns="0" tIns="0" rIns="0" bIns="0" rtlCol="0" anchor="ctr"/>
          <a:lstStyle/>
          <a:p>
            <a:pPr algn="ctr" indent="0" marL="0">
              <a:buNone/>
            </a:pPr>
            <a:r>
              <a:rPr lang="en-US" sz="900" b="1" dirty="0">
                <a:solidFill>
                  <a:srgbClr val="F5EAD8"/>
                </a:solidFill>
                <a:latin typeface="Arial" pitchFamily="34" charset="0"/>
                <a:ea typeface="Arial" pitchFamily="34" charset="-122"/>
                <a:cs typeface="Arial" pitchFamily="34" charset="-120"/>
              </a:rPr>
              <a:t>L3</a:t>
            </a:r>
            <a:endParaRPr lang="en-US" sz="900" dirty="0"/>
          </a:p>
        </p:txBody>
      </p:sp>
      <p:sp>
        <p:nvSpPr>
          <p:cNvPr id="31" name="Text 28"/>
          <p:cNvSpPr txBox="1"/>
          <p:nvPr/>
        </p:nvSpPr>
        <p:spPr>
          <a:xfrm>
            <a:off x="10204704" y="4553712"/>
            <a:ext cx="1783080" cy="274320"/>
          </a:xfrm>
          <a:prstGeom prst="rect">
            <a:avLst/>
          </a:prstGeom>
          <a:noFill/>
          <a:ln/>
        </p:spPr>
        <p:txBody>
          <a:bodyPr wrap="square" lIns="0" tIns="0" rIns="0" bIns="0" rtlCol="0" anchor="ctr"/>
          <a:lstStyle/>
          <a:p>
            <a:pPr indent="0" marL="0">
              <a:buNone/>
            </a:pPr>
            <a:r>
              <a:rPr lang="en-US" sz="1150" b="1" dirty="0">
                <a:solidFill>
                  <a:srgbClr val="201E1D"/>
                </a:solidFill>
                <a:latin typeface="Arial" pitchFamily="34" charset="0"/>
                <a:ea typeface="Arial" pitchFamily="34" charset="-122"/>
                <a:cs typeface="Arial" pitchFamily="34" charset="-120"/>
              </a:rPr>
              <a:t>Thứ tự trong tập trả về</a:t>
            </a:r>
            <a:endParaRPr lang="en-US" sz="1150" dirty="0"/>
          </a:p>
        </p:txBody>
      </p:sp>
      <p:sp>
        <p:nvSpPr>
          <p:cNvPr id="32" name="Text 29"/>
          <p:cNvSpPr txBox="1"/>
          <p:nvPr/>
        </p:nvSpPr>
        <p:spPr>
          <a:xfrm>
            <a:off x="9656064" y="4882896"/>
            <a:ext cx="2304288" cy="219456"/>
          </a:xfrm>
          <a:prstGeom prst="rect">
            <a:avLst/>
          </a:prstGeom>
          <a:noFill/>
          <a:ln/>
        </p:spPr>
        <p:txBody>
          <a:bodyPr wrap="square" lIns="0" tIns="0" rIns="0" bIns="0" rtlCol="0" anchor="ctr"/>
          <a:lstStyle/>
          <a:p>
            <a:pPr indent="0" marL="0">
              <a:buNone/>
            </a:pPr>
            <a:r>
              <a:rPr lang="en-US" sz="1100" b="1" dirty="0">
                <a:solidFill>
                  <a:srgbClr val="645C50"/>
                </a:solidFill>
                <a:latin typeface="Arial" pitchFamily="34" charset="0"/>
                <a:ea typeface="Arial" pitchFamily="34" charset="-122"/>
                <a:cs typeface="Arial" pitchFamily="34" charset="-120"/>
              </a:rPr>
              <a:t>5 ca</a:t>
            </a:r>
            <a:endParaRPr lang="en-US" sz="1100" dirty="0"/>
          </a:p>
        </p:txBody>
      </p:sp>
      <p:sp>
        <p:nvSpPr>
          <p:cNvPr id="33" name="Text 30"/>
          <p:cNvSpPr txBox="1"/>
          <p:nvPr/>
        </p:nvSpPr>
        <p:spPr>
          <a:xfrm>
            <a:off x="9656064" y="5084064"/>
            <a:ext cx="2304288" cy="603504"/>
          </a:xfrm>
          <a:prstGeom prst="rect">
            <a:avLst/>
          </a:prstGeom>
          <a:noFill/>
          <a:ln/>
        </p:spPr>
        <p:txBody>
          <a:bodyPr wrap="square" lIns="0" tIns="0" rIns="0" bIns="0" rtlCol="0" anchor="t"/>
          <a:lstStyle/>
          <a:p>
            <a:pPr indent="0" marL="0">
              <a:lnSpc>
                <a:spcPts val="1250"/>
              </a:lnSpc>
              <a:buNone/>
            </a:pPr>
            <a:r>
              <a:rPr lang="en-US" sz="960" dirty="0">
                <a:solidFill>
                  <a:srgbClr val="645C50"/>
                </a:solidFill>
                <a:latin typeface="Arial" pitchFamily="34" charset="0"/>
                <a:ea typeface="Arial" pitchFamily="34" charset="-122"/>
                <a:cs typeface="Arial" pitchFamily="34" charset="-120"/>
              </a:rPr>
              <a:t>Toàn bộ thuộc P4/P6/P7, nơi hệ trả NGUYÊN MỘT TẬP thoả ràng buộc. Đáp án có trong tập, chỉ không đứng đầu.</a:t>
            </a:r>
            <a:endParaRPr lang="en-US" sz="960" dirty="0"/>
          </a:p>
        </p:txBody>
      </p:sp>
      <p:sp>
        <p:nvSpPr>
          <p:cNvPr id="34" name="Text 31"/>
          <p:cNvSpPr txBox="1"/>
          <p:nvPr/>
        </p:nvSpPr>
        <p:spPr>
          <a:xfrm>
            <a:off x="9656064" y="5687568"/>
            <a:ext cx="2304288" cy="329184"/>
          </a:xfrm>
          <a:prstGeom prst="rect">
            <a:avLst/>
          </a:prstGeom>
          <a:noFill/>
          <a:ln/>
        </p:spPr>
        <p:txBody>
          <a:bodyPr wrap="square" lIns="0" tIns="0" rIns="0" bIns="0" rtlCol="0" anchor="t"/>
          <a:lstStyle/>
          <a:p>
            <a:pPr indent="0" marL="0">
              <a:buNone/>
            </a:pPr>
            <a:r>
              <a:rPr lang="en-US" sz="930" i="1" dirty="0">
                <a:solidFill>
                  <a:srgbClr val="201E1D"/>
                </a:solidFill>
                <a:latin typeface="Arial" pitchFamily="34" charset="0"/>
                <a:ea typeface="Arial" pitchFamily="34" charset="-122"/>
                <a:cs typeface="Arial" pitchFamily="34" charset="-120"/>
              </a:rPr>
              <a:t>→ Recall đủ — vấn đề trình bày, không phải truy hồi</a:t>
            </a:r>
            <a:endParaRPr lang="en-US" sz="930" dirty="0"/>
          </a:p>
        </p:txBody>
      </p:sp>
      <p:sp>
        <p:nvSpPr>
          <p:cNvPr id="35" name="Text 32"/>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python eval/phan_tich_loi.py — mỗi ca quy về đúng một nguyên nhân, theo thứ tự ưu tiên</a:t>
            </a:r>
            <a:endParaRPr lang="en-US" sz="1000" dirty="0"/>
          </a:p>
        </p:txBody>
      </p:sp>
      <p:sp>
        <p:nvSpPr>
          <p:cNvPr id="36" name="Text 33"/>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5 · KẾT QUẢ</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Giải thích: vì sao các con số lại như vậy</a:t>
            </a:r>
            <a:endParaRPr lang="en-US" sz="3000" dirty="0"/>
          </a:p>
        </p:txBody>
      </p:sp>
      <p:sp>
        <p:nvSpPr>
          <p:cNvPr id="4" name="Shape 2"/>
          <p:cNvSpPr/>
          <p:nvPr/>
        </p:nvSpPr>
        <p:spPr>
          <a:xfrm>
            <a:off x="685800" y="1536192"/>
            <a:ext cx="5282032" cy="2084832"/>
          </a:xfrm>
          <a:prstGeom prst="roundRect">
            <a:avLst>
              <a:gd name="adj" fmla="val 6140"/>
            </a:avLst>
          </a:prstGeom>
          <a:solidFill>
            <a:srgbClr val="F9F4ED"/>
          </a:solidFill>
          <a:ln w="12700">
            <a:solidFill>
              <a:srgbClr val="DCD3C4"/>
            </a:solidFill>
            <a:prstDash val="solid"/>
          </a:ln>
        </p:spPr>
      </p:sp>
      <p:sp>
        <p:nvSpPr>
          <p:cNvPr id="5" name="Shape 3"/>
          <p:cNvSpPr/>
          <p:nvPr/>
        </p:nvSpPr>
        <p:spPr>
          <a:xfrm>
            <a:off x="685800" y="1536192"/>
            <a:ext cx="5282032" cy="64008"/>
          </a:xfrm>
          <a:prstGeom prst="rect">
            <a:avLst/>
          </a:prstGeom>
          <a:solidFill>
            <a:srgbClr val="C67139"/>
          </a:solidFill>
          <a:ln/>
        </p:spPr>
      </p:sp>
      <p:sp>
        <p:nvSpPr>
          <p:cNvPr id="6" name="Text 4"/>
          <p:cNvSpPr txBox="1"/>
          <p:nvPr/>
        </p:nvSpPr>
        <p:spPr>
          <a:xfrm>
            <a:off x="960120" y="1773936"/>
            <a:ext cx="4733392" cy="566928"/>
          </a:xfrm>
          <a:prstGeom prst="rect">
            <a:avLst/>
          </a:prstGeom>
          <a:noFill/>
          <a:ln/>
        </p:spPr>
        <p:txBody>
          <a:bodyPr wrap="square" lIns="0" tIns="0" rIns="0" bIns="0" rtlCol="0" anchor="ctr"/>
          <a:lstStyle/>
          <a:p>
            <a:pPr indent="0" marL="0">
              <a:lnSpc>
                <a:spcPts val="1600"/>
              </a:lnSpc>
              <a:buNone/>
            </a:pPr>
            <a:r>
              <a:rPr lang="en-US" sz="1300" b="1" dirty="0">
                <a:solidFill>
                  <a:srgbClr val="201E1D"/>
                </a:solidFill>
                <a:latin typeface="Arial" pitchFamily="34" charset="0"/>
                <a:ea typeface="Arial" pitchFamily="34" charset="-122"/>
                <a:cs typeface="Arial" pitchFamily="34" charset="-120"/>
              </a:rPr>
              <a:t>Vì sao Top-5 (95,0%) bỏ xa Top-1 (76,7%)?</a:t>
            </a:r>
            <a:endParaRPr lang="en-US" sz="1300" dirty="0"/>
          </a:p>
        </p:txBody>
      </p:sp>
      <p:sp>
        <p:nvSpPr>
          <p:cNvPr id="7" name="Text 5"/>
          <p:cNvSpPr txBox="1"/>
          <p:nvPr/>
        </p:nvSpPr>
        <p:spPr>
          <a:xfrm>
            <a:off x="960120" y="2395728"/>
            <a:ext cx="4733392" cy="658368"/>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Vì phân lớp KHÔNG chặn kết quả: kể cả khi B3 chọn sai lớp, hệ vẫn nạp thêm tri thức của các loại còn thiếu nếu điểm ≥ 0,40.</a:t>
            </a:r>
            <a:endParaRPr lang="en-US" sz="1150" dirty="0"/>
          </a:p>
        </p:txBody>
      </p:sp>
      <p:sp>
        <p:nvSpPr>
          <p:cNvPr id="8" name="Shape 6"/>
          <p:cNvSpPr/>
          <p:nvPr/>
        </p:nvSpPr>
        <p:spPr>
          <a:xfrm>
            <a:off x="960120" y="3072384"/>
            <a:ext cx="4733392" cy="10973"/>
          </a:xfrm>
          <a:prstGeom prst="rect">
            <a:avLst/>
          </a:prstGeom>
          <a:solidFill>
            <a:srgbClr val="DCD3C4"/>
          </a:solidFill>
          <a:ln/>
        </p:spPr>
      </p:sp>
      <p:sp>
        <p:nvSpPr>
          <p:cNvPr id="9" name="Text 7"/>
          <p:cNvSpPr txBox="1"/>
          <p:nvPr/>
        </p:nvSpPr>
        <p:spPr>
          <a:xfrm>
            <a:off x="960120" y="3163824"/>
            <a:ext cx="4733392" cy="402336"/>
          </a:xfrm>
          <a:prstGeom prst="rect">
            <a:avLst/>
          </a:prstGeom>
          <a:noFill/>
          <a:ln/>
        </p:spPr>
        <p:txBody>
          <a:bodyPr wrap="square" lIns="0" tIns="0" rIns="0" bIns="0" rtlCol="0" anchor="ctr"/>
          <a:lstStyle/>
          <a:p>
            <a:pPr indent="0" marL="0">
              <a:lnSpc>
                <a:spcPts val="1400"/>
              </a:lnSpc>
              <a:buNone/>
            </a:pPr>
            <a:r>
              <a:rPr lang="en-US" sz="1100" dirty="0">
                <a:solidFill>
                  <a:srgbClr val="8C491A"/>
                </a:solidFill>
                <a:latin typeface="Arial" pitchFamily="34" charset="0"/>
                <a:ea typeface="Arial" pitchFamily="34" charset="-122"/>
                <a:cs typeface="Arial" pitchFamily="34" charset="-120"/>
              </a:rPr>
              <a:t>Hệ quả: đáp án đúng hiếm khi biến mất khỏi danh sách — 22 ca nằm trong danh sách mà không ở hạng 1.</a:t>
            </a:r>
            <a:endParaRPr lang="en-US" sz="1100" dirty="0"/>
          </a:p>
        </p:txBody>
      </p:sp>
      <p:sp>
        <p:nvSpPr>
          <p:cNvPr id="10" name="Shape 8"/>
          <p:cNvSpPr/>
          <p:nvPr/>
        </p:nvSpPr>
        <p:spPr>
          <a:xfrm>
            <a:off x="6223864" y="1536192"/>
            <a:ext cx="5282032" cy="2084832"/>
          </a:xfrm>
          <a:prstGeom prst="roundRect">
            <a:avLst>
              <a:gd name="adj" fmla="val 6140"/>
            </a:avLst>
          </a:prstGeom>
          <a:solidFill>
            <a:srgbClr val="F9F4ED"/>
          </a:solidFill>
          <a:ln w="12700">
            <a:solidFill>
              <a:srgbClr val="DCD3C4"/>
            </a:solidFill>
            <a:prstDash val="solid"/>
          </a:ln>
        </p:spPr>
      </p:sp>
      <p:sp>
        <p:nvSpPr>
          <p:cNvPr id="11" name="Shape 9"/>
          <p:cNvSpPr/>
          <p:nvPr/>
        </p:nvSpPr>
        <p:spPr>
          <a:xfrm>
            <a:off x="6223864" y="1536192"/>
            <a:ext cx="5282032" cy="64008"/>
          </a:xfrm>
          <a:prstGeom prst="rect">
            <a:avLst/>
          </a:prstGeom>
          <a:solidFill>
            <a:srgbClr val="C67139"/>
          </a:solidFill>
          <a:ln/>
        </p:spPr>
      </p:sp>
      <p:sp>
        <p:nvSpPr>
          <p:cNvPr id="12" name="Text 10"/>
          <p:cNvSpPr txBox="1"/>
          <p:nvPr/>
        </p:nvSpPr>
        <p:spPr>
          <a:xfrm>
            <a:off x="6498184" y="1773936"/>
            <a:ext cx="4733392" cy="566928"/>
          </a:xfrm>
          <a:prstGeom prst="rect">
            <a:avLst/>
          </a:prstGeom>
          <a:noFill/>
          <a:ln/>
        </p:spPr>
        <p:txBody>
          <a:bodyPr wrap="square" lIns="0" tIns="0" rIns="0" bIns="0" rtlCol="0" anchor="ctr"/>
          <a:lstStyle/>
          <a:p>
            <a:pPr indent="0" marL="0">
              <a:lnSpc>
                <a:spcPts val="1600"/>
              </a:lnSpc>
              <a:buNone/>
            </a:pPr>
            <a:r>
              <a:rPr lang="en-US" sz="1300" b="1" dirty="0">
                <a:solidFill>
                  <a:srgbClr val="201E1D"/>
                </a:solidFill>
                <a:latin typeface="Arial" pitchFamily="34" charset="0"/>
                <a:ea typeface="Arial" pitchFamily="34" charset="-122"/>
                <a:cs typeface="Arial" pitchFamily="34" charset="-120"/>
              </a:rPr>
              <a:t>Vì sao khoảng cách đó lớn nhất ở P2?</a:t>
            </a:r>
            <a:endParaRPr lang="en-US" sz="1300" dirty="0"/>
          </a:p>
        </p:txBody>
      </p:sp>
      <p:sp>
        <p:nvSpPr>
          <p:cNvPr id="13" name="Text 11"/>
          <p:cNvSpPr txBox="1"/>
          <p:nvPr/>
        </p:nvSpPr>
        <p:spPr>
          <a:xfrm>
            <a:off x="6498184" y="2395728"/>
            <a:ext cx="4733392" cy="658368"/>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Vì quy tắc giao thông là loại tri thức có nhiều điều khoản gần nghĩa nhất — nhường đường, chuyển hướng, quay đầu chia sẻ rất nhiều từ vựng.</a:t>
            </a:r>
            <a:endParaRPr lang="en-US" sz="1150" dirty="0"/>
          </a:p>
        </p:txBody>
      </p:sp>
      <p:sp>
        <p:nvSpPr>
          <p:cNvPr id="14" name="Shape 12"/>
          <p:cNvSpPr/>
          <p:nvPr/>
        </p:nvSpPr>
        <p:spPr>
          <a:xfrm>
            <a:off x="6498184" y="3072384"/>
            <a:ext cx="4733392" cy="10973"/>
          </a:xfrm>
          <a:prstGeom prst="rect">
            <a:avLst/>
          </a:prstGeom>
          <a:solidFill>
            <a:srgbClr val="DCD3C4"/>
          </a:solidFill>
          <a:ln/>
        </p:spPr>
      </p:sp>
      <p:sp>
        <p:nvSpPr>
          <p:cNvPr id="15" name="Text 13"/>
          <p:cNvSpPr txBox="1"/>
          <p:nvPr/>
        </p:nvSpPr>
        <p:spPr>
          <a:xfrm>
            <a:off x="6498184" y="3163824"/>
            <a:ext cx="4733392" cy="402336"/>
          </a:xfrm>
          <a:prstGeom prst="rect">
            <a:avLst/>
          </a:prstGeom>
          <a:noFill/>
          <a:ln/>
        </p:spPr>
        <p:txBody>
          <a:bodyPr wrap="square" lIns="0" tIns="0" rIns="0" bIns="0" rtlCol="0" anchor="ctr"/>
          <a:lstStyle/>
          <a:p>
            <a:pPr indent="0" marL="0">
              <a:lnSpc>
                <a:spcPts val="1400"/>
              </a:lnSpc>
              <a:buNone/>
            </a:pPr>
            <a:r>
              <a:rPr lang="en-US" sz="1100" dirty="0">
                <a:solidFill>
                  <a:srgbClr val="8C491A"/>
                </a:solidFill>
                <a:latin typeface="Arial" pitchFamily="34" charset="0"/>
                <a:ea typeface="Arial" pitchFamily="34" charset="-122"/>
                <a:cs typeface="Arial" pitchFamily="34" charset="-120"/>
              </a:rPr>
              <a:t>Cả ba làn điểm cho các ứng viên này số gần nhau; hệ chưa có tín hiệu nào tách chúng ngoài độ tương đồng văn bản.</a:t>
            </a:r>
            <a:endParaRPr lang="en-US" sz="1100" dirty="0"/>
          </a:p>
        </p:txBody>
      </p:sp>
      <p:sp>
        <p:nvSpPr>
          <p:cNvPr id="16" name="Shape 14"/>
          <p:cNvSpPr/>
          <p:nvPr/>
        </p:nvSpPr>
        <p:spPr>
          <a:xfrm>
            <a:off x="685800" y="3822192"/>
            <a:ext cx="5282032" cy="2084832"/>
          </a:xfrm>
          <a:prstGeom prst="roundRect">
            <a:avLst>
              <a:gd name="adj" fmla="val 6140"/>
            </a:avLst>
          </a:prstGeom>
          <a:solidFill>
            <a:srgbClr val="F9F4ED"/>
          </a:solidFill>
          <a:ln w="12700">
            <a:solidFill>
              <a:srgbClr val="DCD3C4"/>
            </a:solidFill>
            <a:prstDash val="solid"/>
          </a:ln>
        </p:spPr>
      </p:sp>
      <p:sp>
        <p:nvSpPr>
          <p:cNvPr id="17" name="Shape 15"/>
          <p:cNvSpPr/>
          <p:nvPr/>
        </p:nvSpPr>
        <p:spPr>
          <a:xfrm>
            <a:off x="685800" y="3822192"/>
            <a:ext cx="5282032" cy="64008"/>
          </a:xfrm>
          <a:prstGeom prst="rect">
            <a:avLst/>
          </a:prstGeom>
          <a:solidFill>
            <a:srgbClr val="7A8A5E"/>
          </a:solidFill>
          <a:ln/>
        </p:spPr>
      </p:sp>
      <p:sp>
        <p:nvSpPr>
          <p:cNvPr id="18" name="Text 16"/>
          <p:cNvSpPr txBox="1"/>
          <p:nvPr/>
        </p:nvSpPr>
        <p:spPr>
          <a:xfrm>
            <a:off x="960120" y="4059936"/>
            <a:ext cx="4733392" cy="566928"/>
          </a:xfrm>
          <a:prstGeom prst="rect">
            <a:avLst/>
          </a:prstGeom>
          <a:noFill/>
          <a:ln/>
        </p:spPr>
        <p:txBody>
          <a:bodyPr wrap="square" lIns="0" tIns="0" rIns="0" bIns="0" rtlCol="0" anchor="ctr"/>
          <a:lstStyle/>
          <a:p>
            <a:pPr indent="0" marL="0">
              <a:lnSpc>
                <a:spcPts val="1600"/>
              </a:lnSpc>
              <a:buNone/>
            </a:pPr>
            <a:r>
              <a:rPr lang="en-US" sz="1300" b="1" dirty="0">
                <a:solidFill>
                  <a:srgbClr val="201E1D"/>
                </a:solidFill>
                <a:latin typeface="Arial" pitchFamily="34" charset="0"/>
                <a:ea typeface="Arial" pitchFamily="34" charset="-122"/>
                <a:cs typeface="Arial" pitchFamily="34" charset="-120"/>
              </a:rPr>
              <a:t>Vì sao suy diễn số học tạo khác biệt lớn (40,9% → 95,5%) mà Top-5 gần như không đổi?</a:t>
            </a:r>
            <a:endParaRPr lang="en-US" sz="1300" dirty="0"/>
          </a:p>
        </p:txBody>
      </p:sp>
      <p:sp>
        <p:nvSpPr>
          <p:cNvPr id="19" name="Text 17"/>
          <p:cNvSpPr txBox="1"/>
          <p:nvPr/>
        </p:nvSpPr>
        <p:spPr>
          <a:xfrm>
            <a:off x="960120" y="4681728"/>
            <a:ext cx="4733392" cy="658368"/>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Vì bài toán ở nhóm câu này không phải TÌM mà là CHỌN. Các khung phạt của cùng một hành vi có văn bản gần như giống hệt, chỉ khác con số ngưỡng.</a:t>
            </a:r>
            <a:endParaRPr lang="en-US" sz="1150" dirty="0"/>
          </a:p>
        </p:txBody>
      </p:sp>
      <p:sp>
        <p:nvSpPr>
          <p:cNvPr id="20" name="Shape 18"/>
          <p:cNvSpPr/>
          <p:nvPr/>
        </p:nvSpPr>
        <p:spPr>
          <a:xfrm>
            <a:off x="960120" y="5358384"/>
            <a:ext cx="4733392" cy="10973"/>
          </a:xfrm>
          <a:prstGeom prst="rect">
            <a:avLst/>
          </a:prstGeom>
          <a:solidFill>
            <a:srgbClr val="DCD3C4"/>
          </a:solidFill>
          <a:ln/>
        </p:spPr>
      </p:sp>
      <p:sp>
        <p:nvSpPr>
          <p:cNvPr id="21" name="Text 19"/>
          <p:cNvSpPr txBox="1"/>
          <p:nvPr/>
        </p:nvSpPr>
        <p:spPr>
          <a:xfrm>
            <a:off x="960120" y="5449824"/>
            <a:ext cx="4733392" cy="402336"/>
          </a:xfrm>
          <a:prstGeom prst="rect">
            <a:avLst/>
          </a:prstGeom>
          <a:noFill/>
          <a:ln/>
        </p:spPr>
        <p:txBody>
          <a:bodyPr wrap="square" lIns="0" tIns="0" rIns="0" bIns="0" rtlCol="0" anchor="ctr"/>
          <a:lstStyle/>
          <a:p>
            <a:pPr indent="0" marL="0">
              <a:lnSpc>
                <a:spcPts val="1400"/>
              </a:lnSpc>
              <a:buNone/>
            </a:pPr>
            <a:r>
              <a:rPr lang="en-US" sz="1100" dirty="0">
                <a:solidFill>
                  <a:srgbClr val="56633F"/>
                </a:solidFill>
                <a:latin typeface="Arial" pitchFamily="34" charset="0"/>
                <a:ea typeface="Arial" pitchFamily="34" charset="-122"/>
                <a:cs typeface="Arial" pitchFamily="34" charset="-120"/>
              </a:rPr>
              <a:t>So khớp văn bản đưa cả bốn khung vào top-5 nhưng không có cơ sở xếp hạng giữa chúng. Chỉ khi so sánh KHOẢNG SỐ mới chọn đúng.</a:t>
            </a:r>
            <a:endParaRPr lang="en-US" sz="1100" dirty="0"/>
          </a:p>
        </p:txBody>
      </p:sp>
      <p:sp>
        <p:nvSpPr>
          <p:cNvPr id="22" name="Shape 20"/>
          <p:cNvSpPr/>
          <p:nvPr/>
        </p:nvSpPr>
        <p:spPr>
          <a:xfrm>
            <a:off x="6223864" y="3822192"/>
            <a:ext cx="5282032" cy="2084832"/>
          </a:xfrm>
          <a:prstGeom prst="roundRect">
            <a:avLst>
              <a:gd name="adj" fmla="val 6140"/>
            </a:avLst>
          </a:prstGeom>
          <a:solidFill>
            <a:srgbClr val="F9F4ED"/>
          </a:solidFill>
          <a:ln w="12700">
            <a:solidFill>
              <a:srgbClr val="DCD3C4"/>
            </a:solidFill>
            <a:prstDash val="solid"/>
          </a:ln>
        </p:spPr>
      </p:sp>
      <p:sp>
        <p:nvSpPr>
          <p:cNvPr id="23" name="Shape 21"/>
          <p:cNvSpPr/>
          <p:nvPr/>
        </p:nvSpPr>
        <p:spPr>
          <a:xfrm>
            <a:off x="6223864" y="3822192"/>
            <a:ext cx="5282032" cy="64008"/>
          </a:xfrm>
          <a:prstGeom prst="rect">
            <a:avLst/>
          </a:prstGeom>
          <a:solidFill>
            <a:srgbClr val="7A8A5E"/>
          </a:solidFill>
          <a:ln/>
        </p:spPr>
      </p:sp>
      <p:sp>
        <p:nvSpPr>
          <p:cNvPr id="24" name="Text 22"/>
          <p:cNvSpPr txBox="1"/>
          <p:nvPr/>
        </p:nvSpPr>
        <p:spPr>
          <a:xfrm>
            <a:off x="6498184" y="4059936"/>
            <a:ext cx="4733392" cy="566928"/>
          </a:xfrm>
          <a:prstGeom prst="rect">
            <a:avLst/>
          </a:prstGeom>
          <a:noFill/>
          <a:ln/>
        </p:spPr>
        <p:txBody>
          <a:bodyPr wrap="square" lIns="0" tIns="0" rIns="0" bIns="0" rtlCol="0" anchor="ctr"/>
          <a:lstStyle/>
          <a:p>
            <a:pPr indent="0" marL="0">
              <a:lnSpc>
                <a:spcPts val="1600"/>
              </a:lnSpc>
              <a:buNone/>
            </a:pPr>
            <a:r>
              <a:rPr lang="en-US" sz="1300" b="1" dirty="0">
                <a:solidFill>
                  <a:srgbClr val="201E1D"/>
                </a:solidFill>
                <a:latin typeface="Arial" pitchFamily="34" charset="0"/>
                <a:ea typeface="Arial" pitchFamily="34" charset="-122"/>
                <a:cs typeface="Arial" pitchFamily="34" charset="-120"/>
              </a:rPr>
              <a:t>Vì sao hệ chưa từ chối được truy vấn nào trong 40 truy vấn ngoài lĩnh vực?</a:t>
            </a:r>
            <a:endParaRPr lang="en-US" sz="1300" dirty="0"/>
          </a:p>
        </p:txBody>
      </p:sp>
      <p:sp>
        <p:nvSpPr>
          <p:cNvPr id="25" name="Text 23"/>
          <p:cNvSpPr txBox="1"/>
          <p:nvPr/>
        </p:nvSpPr>
        <p:spPr>
          <a:xfrm>
            <a:off x="6498184" y="4681728"/>
            <a:ext cx="4733392" cy="658368"/>
          </a:xfrm>
          <a:prstGeom prst="rect">
            <a:avLst/>
          </a:prstGeom>
          <a:noFill/>
          <a:ln/>
        </p:spPr>
        <p:txBody>
          <a:bodyPr wrap="square" lIns="0" tIns="0" rIns="0" bIns="0" rtlCol="0" anchor="ctr"/>
          <a:lstStyle/>
          <a:p>
            <a:pPr indent="0" marL="0">
              <a:lnSpc>
                <a:spcPts val="1500"/>
              </a:lnSpc>
              <a:buNone/>
            </a:pPr>
            <a:r>
              <a:rPr lang="en-US" sz="1150" dirty="0">
                <a:solidFill>
                  <a:srgbClr val="645C50"/>
                </a:solidFill>
                <a:latin typeface="Arial" pitchFamily="34" charset="0"/>
                <a:ea typeface="Arial" pitchFamily="34" charset="-122"/>
                <a:cs typeface="Arial" pitchFamily="34" charset="-120"/>
              </a:rPr>
              <a:t>Vì đặc trưng TF-IDF không tách được hai phân bố: 56/120 câu HỢP LỆ chấm điểm thấp hơn hoặc bằng truy vấn rác.</a:t>
            </a:r>
            <a:endParaRPr lang="en-US" sz="1150" dirty="0"/>
          </a:p>
        </p:txBody>
      </p:sp>
      <p:sp>
        <p:nvSpPr>
          <p:cNvPr id="26" name="Shape 24"/>
          <p:cNvSpPr/>
          <p:nvPr/>
        </p:nvSpPr>
        <p:spPr>
          <a:xfrm>
            <a:off x="6498184" y="5358384"/>
            <a:ext cx="4733392" cy="10973"/>
          </a:xfrm>
          <a:prstGeom prst="rect">
            <a:avLst/>
          </a:prstGeom>
          <a:solidFill>
            <a:srgbClr val="DCD3C4"/>
          </a:solidFill>
          <a:ln/>
        </p:spPr>
      </p:sp>
      <p:sp>
        <p:nvSpPr>
          <p:cNvPr id="27" name="Text 25"/>
          <p:cNvSpPr txBox="1"/>
          <p:nvPr/>
        </p:nvSpPr>
        <p:spPr>
          <a:xfrm>
            <a:off x="6498184" y="5449824"/>
            <a:ext cx="4733392" cy="402336"/>
          </a:xfrm>
          <a:prstGeom prst="rect">
            <a:avLst/>
          </a:prstGeom>
          <a:noFill/>
          <a:ln/>
        </p:spPr>
        <p:txBody>
          <a:bodyPr wrap="square" lIns="0" tIns="0" rIns="0" bIns="0" rtlCol="0" anchor="ctr"/>
          <a:lstStyle/>
          <a:p>
            <a:pPr indent="0" marL="0">
              <a:lnSpc>
                <a:spcPts val="1400"/>
              </a:lnSpc>
              <a:buNone/>
            </a:pPr>
            <a:r>
              <a:rPr lang="en-US" sz="1100" dirty="0">
                <a:solidFill>
                  <a:srgbClr val="56633F"/>
                </a:solidFill>
                <a:latin typeface="Arial" pitchFamily="34" charset="0"/>
                <a:ea typeface="Arial" pitchFamily="34" charset="-122"/>
                <a:cs typeface="Arial" pitchFamily="34" charset="-120"/>
              </a:rPr>
              <a:t>Không tồn tại ngưỡng nào vừa loại hết rác vừa không từ chối oan. Số đo đầy đủ ở slide hạn chế.</a:t>
            </a:r>
            <a:endParaRPr lang="en-US" sz="1100" dirty="0"/>
          </a:p>
        </p:txBody>
      </p:sp>
      <p:sp>
        <p:nvSpPr>
          <p:cNvPr id="28" name="Text 26"/>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Bốn cơ chế này giải thích gần như toàn bộ hình dạng của kết quả</a:t>
            </a:r>
            <a:endParaRPr lang="en-US" sz="1000" dirty="0"/>
          </a:p>
        </p:txBody>
      </p:sp>
      <p:sp>
        <p:nvSpPr>
          <p:cNvPr id="29" name="Text 27"/>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E2B25"/>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F6A06B"/>
                </a:solidFill>
                <a:latin typeface="Arial" pitchFamily="34" charset="0"/>
                <a:ea typeface="Arial" pitchFamily="34" charset="-122"/>
                <a:cs typeface="Arial" pitchFamily="34" charset="-120"/>
              </a:rPr>
              <a:t>6 · ỨNG DỤNG</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F9F4ED"/>
                </a:solidFill>
                <a:latin typeface="Arial" pitchFamily="34" charset="0"/>
                <a:ea typeface="Arial" pitchFamily="34" charset="-122"/>
                <a:cs typeface="Arial" pitchFamily="34" charset="-120"/>
              </a:rPr>
              <a:t>Demo trực tiếp — năm điều muốn chứng minh</a:t>
            </a:r>
            <a:endParaRPr lang="en-US" sz="3000" dirty="0"/>
          </a:p>
        </p:txBody>
      </p:sp>
      <p:sp>
        <p:nvSpPr>
          <p:cNvPr id="4" name="Shape 2"/>
          <p:cNvSpPr/>
          <p:nvPr/>
        </p:nvSpPr>
        <p:spPr>
          <a:xfrm>
            <a:off x="685800" y="1481328"/>
            <a:ext cx="10820095" cy="822960"/>
          </a:xfrm>
          <a:prstGeom prst="roundRect">
            <a:avLst>
              <a:gd name="adj" fmla="val 13333"/>
            </a:avLst>
          </a:prstGeom>
          <a:solidFill>
            <a:srgbClr val="3A352D"/>
          </a:solidFill>
          <a:ln/>
        </p:spPr>
      </p:sp>
      <p:sp>
        <p:nvSpPr>
          <p:cNvPr id="5" name="Text 3"/>
          <p:cNvSpPr txBox="1"/>
          <p:nvPr/>
        </p:nvSpPr>
        <p:spPr>
          <a:xfrm>
            <a:off x="923544" y="1572768"/>
            <a:ext cx="548640" cy="640080"/>
          </a:xfrm>
          <a:prstGeom prst="rect">
            <a:avLst/>
          </a:prstGeom>
          <a:noFill/>
          <a:ln/>
        </p:spPr>
        <p:txBody>
          <a:bodyPr wrap="square" lIns="0" tIns="0" rIns="0" bIns="0" rtlCol="0" anchor="ctr"/>
          <a:lstStyle/>
          <a:p>
            <a:pPr algn="ctr" indent="0" marL="0">
              <a:buNone/>
            </a:pPr>
            <a:r>
              <a:rPr lang="en-US" sz="2000" b="1" dirty="0">
                <a:solidFill>
                  <a:srgbClr val="F6A06B"/>
                </a:solidFill>
                <a:latin typeface="Arial" pitchFamily="34" charset="0"/>
                <a:ea typeface="Arial" pitchFamily="34" charset="-122"/>
                <a:cs typeface="Arial" pitchFamily="34" charset="-120"/>
              </a:rPr>
              <a:t>01</a:t>
            </a:r>
            <a:endParaRPr lang="en-US" sz="2000" dirty="0"/>
          </a:p>
        </p:txBody>
      </p:sp>
      <p:sp>
        <p:nvSpPr>
          <p:cNvPr id="6" name="Text 4"/>
          <p:cNvSpPr txBox="1"/>
          <p:nvPr/>
        </p:nvSpPr>
        <p:spPr>
          <a:xfrm>
            <a:off x="1554480" y="1600200"/>
            <a:ext cx="4206240" cy="292608"/>
          </a:xfrm>
          <a:prstGeom prst="rect">
            <a:avLst/>
          </a:prstGeom>
          <a:noFill/>
          <a:ln/>
        </p:spPr>
        <p:txBody>
          <a:bodyPr wrap="square" lIns="0" tIns="0" rIns="0" bIns="0" rtlCol="0" anchor="ctr"/>
          <a:lstStyle/>
          <a:p>
            <a:pPr indent="0" marL="0">
              <a:buNone/>
            </a:pPr>
            <a:r>
              <a:rPr lang="en-US" sz="1300" b="1" dirty="0">
                <a:solidFill>
                  <a:srgbClr val="F9F4ED"/>
                </a:solidFill>
                <a:latin typeface="Arial" pitchFamily="34" charset="0"/>
                <a:ea typeface="Arial" pitchFamily="34" charset="-122"/>
                <a:cs typeface="Arial" pitchFamily="34" charset="-120"/>
              </a:rPr>
              <a:t>Vượt đèn đỏ xe máy phạt bao nhiêu?</a:t>
            </a:r>
            <a:endParaRPr lang="en-US" sz="1300" dirty="0"/>
          </a:p>
        </p:txBody>
      </p:sp>
      <p:sp>
        <p:nvSpPr>
          <p:cNvPr id="7" name="Text 5"/>
          <p:cNvSpPr txBox="1"/>
          <p:nvPr/>
        </p:nvSpPr>
        <p:spPr>
          <a:xfrm>
            <a:off x="1554480" y="1911096"/>
            <a:ext cx="4206240" cy="274320"/>
          </a:xfrm>
          <a:prstGeom prst="rect">
            <a:avLst/>
          </a:prstGeom>
          <a:noFill/>
          <a:ln/>
        </p:spPr>
        <p:txBody>
          <a:bodyPr wrap="square" lIns="0" tIns="0" rIns="0" bIns="0" rtlCol="0" anchor="ctr"/>
          <a:lstStyle/>
          <a:p>
            <a:pPr indent="0" marL="0">
              <a:buNone/>
            </a:pPr>
            <a:r>
              <a:rPr lang="en-US" sz="1150" dirty="0">
                <a:solidFill>
                  <a:srgbClr val="F6A06B"/>
                </a:solidFill>
                <a:latin typeface="Arial" pitchFamily="34" charset="0"/>
                <a:ea typeface="Arial" pitchFamily="34" charset="-122"/>
                <a:cs typeface="Arial" pitchFamily="34" charset="-120"/>
              </a:rPr>
              <a:t>→  4.000.000 – 6.000.000 đ · trừ 4 điểm</a:t>
            </a:r>
            <a:endParaRPr lang="en-US" sz="1150" dirty="0"/>
          </a:p>
        </p:txBody>
      </p:sp>
      <p:sp>
        <p:nvSpPr>
          <p:cNvPr id="8" name="Text 6"/>
          <p:cNvSpPr txBox="1"/>
          <p:nvPr/>
        </p:nvSpPr>
        <p:spPr>
          <a:xfrm>
            <a:off x="6035040" y="1627632"/>
            <a:ext cx="5150815" cy="566928"/>
          </a:xfrm>
          <a:prstGeom prst="rect">
            <a:avLst/>
          </a:prstGeom>
          <a:noFill/>
          <a:ln/>
        </p:spPr>
        <p:txBody>
          <a:bodyPr wrap="square" lIns="0" tIns="0" rIns="0" bIns="0" rtlCol="0" anchor="ctr"/>
          <a:lstStyle/>
          <a:p>
            <a:pPr indent="0" marL="0">
              <a:lnSpc>
                <a:spcPts val="1500"/>
              </a:lnSpc>
              <a:buNone/>
            </a:pPr>
            <a:r>
              <a:rPr lang="en-US" sz="1150" dirty="0">
                <a:solidFill>
                  <a:srgbClr val="CFC6B6"/>
                </a:solidFill>
                <a:latin typeface="Arial" pitchFamily="34" charset="0"/>
                <a:ea typeface="Arial" pitchFamily="34" charset="-122"/>
                <a:cs typeface="Arial" pitchFamily="34" charset="-120"/>
              </a:rPr>
              <a:t>Căn cứ Điều 7 khoản 7 điểm c NĐ 168/2024 hiện ngay dưới thẻ — mọi câu trả lời đều truy nguyên được</a:t>
            </a:r>
            <a:endParaRPr lang="en-US" sz="1150" dirty="0"/>
          </a:p>
        </p:txBody>
      </p:sp>
      <p:sp>
        <p:nvSpPr>
          <p:cNvPr id="9" name="Shape 7"/>
          <p:cNvSpPr/>
          <p:nvPr/>
        </p:nvSpPr>
        <p:spPr>
          <a:xfrm>
            <a:off x="685800" y="2414016"/>
            <a:ext cx="10820095" cy="822960"/>
          </a:xfrm>
          <a:prstGeom prst="roundRect">
            <a:avLst>
              <a:gd name="adj" fmla="val 13333"/>
            </a:avLst>
          </a:prstGeom>
          <a:solidFill>
            <a:srgbClr val="3A352D"/>
          </a:solidFill>
          <a:ln/>
        </p:spPr>
      </p:sp>
      <p:sp>
        <p:nvSpPr>
          <p:cNvPr id="10" name="Text 8"/>
          <p:cNvSpPr txBox="1"/>
          <p:nvPr/>
        </p:nvSpPr>
        <p:spPr>
          <a:xfrm>
            <a:off x="923544" y="2505456"/>
            <a:ext cx="548640" cy="640080"/>
          </a:xfrm>
          <a:prstGeom prst="rect">
            <a:avLst/>
          </a:prstGeom>
          <a:noFill/>
          <a:ln/>
        </p:spPr>
        <p:txBody>
          <a:bodyPr wrap="square" lIns="0" tIns="0" rIns="0" bIns="0" rtlCol="0" anchor="ctr"/>
          <a:lstStyle/>
          <a:p>
            <a:pPr algn="ctr" indent="0" marL="0">
              <a:buNone/>
            </a:pPr>
            <a:r>
              <a:rPr lang="en-US" sz="2000" b="1" dirty="0">
                <a:solidFill>
                  <a:srgbClr val="F6A06B"/>
                </a:solidFill>
                <a:latin typeface="Arial" pitchFamily="34" charset="0"/>
                <a:ea typeface="Arial" pitchFamily="34" charset="-122"/>
                <a:cs typeface="Arial" pitchFamily="34" charset="-120"/>
              </a:rPr>
              <a:t>02</a:t>
            </a:r>
            <a:endParaRPr lang="en-US" sz="2000" dirty="0"/>
          </a:p>
        </p:txBody>
      </p:sp>
      <p:sp>
        <p:nvSpPr>
          <p:cNvPr id="11" name="Text 9"/>
          <p:cNvSpPr txBox="1"/>
          <p:nvPr/>
        </p:nvSpPr>
        <p:spPr>
          <a:xfrm>
            <a:off x="1554480" y="2532888"/>
            <a:ext cx="4206240" cy="292608"/>
          </a:xfrm>
          <a:prstGeom prst="rect">
            <a:avLst/>
          </a:prstGeom>
          <a:noFill/>
          <a:ln/>
        </p:spPr>
        <p:txBody>
          <a:bodyPr wrap="square" lIns="0" tIns="0" rIns="0" bIns="0" rtlCol="0" anchor="ctr"/>
          <a:lstStyle/>
          <a:p>
            <a:pPr indent="0" marL="0">
              <a:buNone/>
            </a:pPr>
            <a:r>
              <a:rPr lang="en-US" sz="1300" b="1" dirty="0">
                <a:solidFill>
                  <a:srgbClr val="F9F4ED"/>
                </a:solidFill>
                <a:latin typeface="Arial" pitchFamily="34" charset="0"/>
                <a:ea typeface="Arial" pitchFamily="34" charset="-122"/>
                <a:cs typeface="Arial" pitchFamily="34" charset="-120"/>
              </a:rPr>
              <a:t>nhậu xong lái xe máy bị phạt nhiêu tiền</a:t>
            </a:r>
            <a:endParaRPr lang="en-US" sz="1300" dirty="0"/>
          </a:p>
        </p:txBody>
      </p:sp>
      <p:sp>
        <p:nvSpPr>
          <p:cNvPr id="12" name="Text 10"/>
          <p:cNvSpPr txBox="1"/>
          <p:nvPr/>
        </p:nvSpPr>
        <p:spPr>
          <a:xfrm>
            <a:off x="1554480" y="2843784"/>
            <a:ext cx="4206240" cy="274320"/>
          </a:xfrm>
          <a:prstGeom prst="rect">
            <a:avLst/>
          </a:prstGeom>
          <a:noFill/>
          <a:ln/>
        </p:spPr>
        <p:txBody>
          <a:bodyPr wrap="square" lIns="0" tIns="0" rIns="0" bIns="0" rtlCol="0" anchor="ctr"/>
          <a:lstStyle/>
          <a:p>
            <a:pPr indent="0" marL="0">
              <a:buNone/>
            </a:pPr>
            <a:r>
              <a:rPr lang="en-US" sz="1150" dirty="0">
                <a:solidFill>
                  <a:srgbClr val="F6A06B"/>
                </a:solidFill>
                <a:latin typeface="Arial" pitchFamily="34" charset="0"/>
                <a:ea typeface="Arial" pitchFamily="34" charset="-122"/>
                <a:cs typeface="Arial" pitchFamily="34" charset="-120"/>
              </a:rPr>
              <a:t>→  đúng khung nồng độ cồn</a:t>
            </a:r>
            <a:endParaRPr lang="en-US" sz="1150" dirty="0"/>
          </a:p>
        </p:txBody>
      </p:sp>
      <p:sp>
        <p:nvSpPr>
          <p:cNvPr id="13" name="Text 11"/>
          <p:cNvSpPr txBox="1"/>
          <p:nvPr/>
        </p:nvSpPr>
        <p:spPr>
          <a:xfrm>
            <a:off x="6035040" y="2560320"/>
            <a:ext cx="5150815" cy="566928"/>
          </a:xfrm>
          <a:prstGeom prst="rect">
            <a:avLst/>
          </a:prstGeom>
          <a:noFill/>
          <a:ln/>
        </p:spPr>
        <p:txBody>
          <a:bodyPr wrap="square" lIns="0" tIns="0" rIns="0" bIns="0" rtlCol="0" anchor="ctr"/>
          <a:lstStyle/>
          <a:p>
            <a:pPr indent="0" marL="0">
              <a:lnSpc>
                <a:spcPts val="1500"/>
              </a:lnSpc>
              <a:buNone/>
            </a:pPr>
            <a:r>
              <a:rPr lang="en-US" sz="1150" dirty="0">
                <a:solidFill>
                  <a:srgbClr val="CFC6B6"/>
                </a:solidFill>
                <a:latin typeface="Arial" pitchFamily="34" charset="0"/>
                <a:ea typeface="Arial" pitchFamily="34" charset="-122"/>
                <a:cs typeface="Arial" pitchFamily="34" charset="-120"/>
              </a:rPr>
              <a:t>Chữ “nhậu” KHÔNG có trong bất kỳ văn bản luật nào — đây chính là phần “ngữ nghĩa” của đề bài</a:t>
            </a:r>
            <a:endParaRPr lang="en-US" sz="1150" dirty="0"/>
          </a:p>
        </p:txBody>
      </p:sp>
      <p:sp>
        <p:nvSpPr>
          <p:cNvPr id="14" name="Shape 12"/>
          <p:cNvSpPr/>
          <p:nvPr/>
        </p:nvSpPr>
        <p:spPr>
          <a:xfrm>
            <a:off x="685800" y="3346704"/>
            <a:ext cx="10820095" cy="822960"/>
          </a:xfrm>
          <a:prstGeom prst="roundRect">
            <a:avLst>
              <a:gd name="adj" fmla="val 13333"/>
            </a:avLst>
          </a:prstGeom>
          <a:solidFill>
            <a:srgbClr val="3A352D"/>
          </a:solidFill>
          <a:ln/>
        </p:spPr>
      </p:sp>
      <p:sp>
        <p:nvSpPr>
          <p:cNvPr id="15" name="Text 13"/>
          <p:cNvSpPr txBox="1"/>
          <p:nvPr/>
        </p:nvSpPr>
        <p:spPr>
          <a:xfrm>
            <a:off x="923544" y="3438144"/>
            <a:ext cx="548640" cy="640080"/>
          </a:xfrm>
          <a:prstGeom prst="rect">
            <a:avLst/>
          </a:prstGeom>
          <a:noFill/>
          <a:ln/>
        </p:spPr>
        <p:txBody>
          <a:bodyPr wrap="square" lIns="0" tIns="0" rIns="0" bIns="0" rtlCol="0" anchor="ctr"/>
          <a:lstStyle/>
          <a:p>
            <a:pPr algn="ctr" indent="0" marL="0">
              <a:buNone/>
            </a:pPr>
            <a:r>
              <a:rPr lang="en-US" sz="2000" b="1" dirty="0">
                <a:solidFill>
                  <a:srgbClr val="F6A06B"/>
                </a:solidFill>
                <a:latin typeface="Arial" pitchFamily="34" charset="0"/>
                <a:ea typeface="Arial" pitchFamily="34" charset="-122"/>
                <a:cs typeface="Arial" pitchFamily="34" charset="-120"/>
              </a:rPr>
              <a:t>03</a:t>
            </a:r>
            <a:endParaRPr lang="en-US" sz="2000" dirty="0"/>
          </a:p>
        </p:txBody>
      </p:sp>
      <p:sp>
        <p:nvSpPr>
          <p:cNvPr id="16" name="Text 14"/>
          <p:cNvSpPr txBox="1"/>
          <p:nvPr/>
        </p:nvSpPr>
        <p:spPr>
          <a:xfrm>
            <a:off x="1554480" y="3465576"/>
            <a:ext cx="4206240" cy="292608"/>
          </a:xfrm>
          <a:prstGeom prst="rect">
            <a:avLst/>
          </a:prstGeom>
          <a:noFill/>
          <a:ln/>
        </p:spPr>
        <p:txBody>
          <a:bodyPr wrap="square" lIns="0" tIns="0" rIns="0" bIns="0" rtlCol="0" anchor="ctr"/>
          <a:lstStyle/>
          <a:p>
            <a:pPr indent="0" marL="0">
              <a:buNone/>
            </a:pPr>
            <a:r>
              <a:rPr lang="en-US" sz="1300" b="1" dirty="0">
                <a:solidFill>
                  <a:srgbClr val="F9F4ED"/>
                </a:solidFill>
                <a:latin typeface="Arial" pitchFamily="34" charset="0"/>
                <a:ea typeface="Arial" pitchFamily="34" charset="-122"/>
                <a:cs typeface="Arial" pitchFamily="34" charset="-120"/>
              </a:rPr>
              <a:t>xe máy nồng độ cồn 0,2 → 0,3 → 0,5 mg/l</a:t>
            </a:r>
            <a:endParaRPr lang="en-US" sz="1300" dirty="0"/>
          </a:p>
        </p:txBody>
      </p:sp>
      <p:sp>
        <p:nvSpPr>
          <p:cNvPr id="17" name="Text 15"/>
          <p:cNvSpPr txBox="1"/>
          <p:nvPr/>
        </p:nvSpPr>
        <p:spPr>
          <a:xfrm>
            <a:off x="1554480" y="3776472"/>
            <a:ext cx="4206240" cy="274320"/>
          </a:xfrm>
          <a:prstGeom prst="rect">
            <a:avLst/>
          </a:prstGeom>
          <a:noFill/>
          <a:ln/>
        </p:spPr>
        <p:txBody>
          <a:bodyPr wrap="square" lIns="0" tIns="0" rIns="0" bIns="0" rtlCol="0" anchor="ctr"/>
          <a:lstStyle/>
          <a:p>
            <a:pPr indent="0" marL="0">
              <a:buNone/>
            </a:pPr>
            <a:r>
              <a:rPr lang="en-US" sz="1150" dirty="0">
                <a:solidFill>
                  <a:srgbClr val="F6A06B"/>
                </a:solidFill>
                <a:latin typeface="Arial" pitchFamily="34" charset="0"/>
                <a:ea typeface="Arial" pitchFamily="34" charset="-122"/>
                <a:cs typeface="Arial" pitchFamily="34" charset="-120"/>
              </a:rPr>
              <a:t>→  ba khung phạt khác nhau</a:t>
            </a:r>
            <a:endParaRPr lang="en-US" sz="1150" dirty="0"/>
          </a:p>
        </p:txBody>
      </p:sp>
      <p:sp>
        <p:nvSpPr>
          <p:cNvPr id="18" name="Text 16"/>
          <p:cNvSpPr txBox="1"/>
          <p:nvPr/>
        </p:nvSpPr>
        <p:spPr>
          <a:xfrm>
            <a:off x="6035040" y="3493008"/>
            <a:ext cx="5150815" cy="566928"/>
          </a:xfrm>
          <a:prstGeom prst="rect">
            <a:avLst/>
          </a:prstGeom>
          <a:noFill/>
          <a:ln/>
        </p:spPr>
        <p:txBody>
          <a:bodyPr wrap="square" lIns="0" tIns="0" rIns="0" bIns="0" rtlCol="0" anchor="ctr"/>
          <a:lstStyle/>
          <a:p>
            <a:pPr indent="0" marL="0">
              <a:lnSpc>
                <a:spcPts val="1500"/>
              </a:lnSpc>
              <a:buNone/>
            </a:pPr>
            <a:r>
              <a:rPr lang="en-US" sz="1150" dirty="0">
                <a:solidFill>
                  <a:srgbClr val="CFC6B6"/>
                </a:solidFill>
                <a:latin typeface="Arial" pitchFamily="34" charset="0"/>
                <a:ea typeface="Arial" pitchFamily="34" charset="-122"/>
                <a:cs typeface="Arial" pitchFamily="34" charset="-120"/>
              </a:rPr>
              <a:t>So khớp từ khoá trả về cả bốn khung; hệ rút ngưỡng từ nguyên văn rồi so khoảng</a:t>
            </a:r>
            <a:endParaRPr lang="en-US" sz="1150" dirty="0"/>
          </a:p>
        </p:txBody>
      </p:sp>
      <p:sp>
        <p:nvSpPr>
          <p:cNvPr id="19" name="Shape 17"/>
          <p:cNvSpPr/>
          <p:nvPr/>
        </p:nvSpPr>
        <p:spPr>
          <a:xfrm>
            <a:off x="685800" y="4279392"/>
            <a:ext cx="10820095" cy="822960"/>
          </a:xfrm>
          <a:prstGeom prst="roundRect">
            <a:avLst>
              <a:gd name="adj" fmla="val 13333"/>
            </a:avLst>
          </a:prstGeom>
          <a:solidFill>
            <a:srgbClr val="3A352D"/>
          </a:solidFill>
          <a:ln/>
        </p:spPr>
      </p:sp>
      <p:sp>
        <p:nvSpPr>
          <p:cNvPr id="20" name="Text 18"/>
          <p:cNvSpPr txBox="1"/>
          <p:nvPr/>
        </p:nvSpPr>
        <p:spPr>
          <a:xfrm>
            <a:off x="923544" y="4370832"/>
            <a:ext cx="548640" cy="640080"/>
          </a:xfrm>
          <a:prstGeom prst="rect">
            <a:avLst/>
          </a:prstGeom>
          <a:noFill/>
          <a:ln/>
        </p:spPr>
        <p:txBody>
          <a:bodyPr wrap="square" lIns="0" tIns="0" rIns="0" bIns="0" rtlCol="0" anchor="ctr"/>
          <a:lstStyle/>
          <a:p>
            <a:pPr algn="ctr" indent="0" marL="0">
              <a:buNone/>
            </a:pPr>
            <a:r>
              <a:rPr lang="en-US" sz="2000" b="1" dirty="0">
                <a:solidFill>
                  <a:srgbClr val="F6A06B"/>
                </a:solidFill>
                <a:latin typeface="Arial" pitchFamily="34" charset="0"/>
                <a:ea typeface="Arial" pitchFamily="34" charset="-122"/>
                <a:cs typeface="Arial" pitchFamily="34" charset="-120"/>
              </a:rPr>
              <a:t>04</a:t>
            </a:r>
            <a:endParaRPr lang="en-US" sz="2000" dirty="0"/>
          </a:p>
        </p:txBody>
      </p:sp>
      <p:sp>
        <p:nvSpPr>
          <p:cNvPr id="21" name="Text 19"/>
          <p:cNvSpPr txBox="1"/>
          <p:nvPr/>
        </p:nvSpPr>
        <p:spPr>
          <a:xfrm>
            <a:off x="1554480" y="4398264"/>
            <a:ext cx="4206240" cy="292608"/>
          </a:xfrm>
          <a:prstGeom prst="rect">
            <a:avLst/>
          </a:prstGeom>
          <a:noFill/>
          <a:ln/>
        </p:spPr>
        <p:txBody>
          <a:bodyPr wrap="square" lIns="0" tIns="0" rIns="0" bIns="0" rtlCol="0" anchor="ctr"/>
          <a:lstStyle/>
          <a:p>
            <a:pPr indent="0" marL="0">
              <a:buNone/>
            </a:pPr>
            <a:r>
              <a:rPr lang="en-US" sz="1300" b="1" dirty="0">
                <a:solidFill>
                  <a:srgbClr val="F9F4ED"/>
                </a:solidFill>
                <a:latin typeface="Arial" pitchFamily="34" charset="0"/>
                <a:ea typeface="Arial" pitchFamily="34" charset="-122"/>
                <a:cs typeface="Arial" pitchFamily="34" charset="-120"/>
              </a:rPr>
              <a:t>Điều 6 khoản 9 điểm a NĐ 168/2024 nói về lỗi gì?</a:t>
            </a:r>
            <a:endParaRPr lang="en-US" sz="1300" dirty="0"/>
          </a:p>
        </p:txBody>
      </p:sp>
      <p:sp>
        <p:nvSpPr>
          <p:cNvPr id="22" name="Text 20"/>
          <p:cNvSpPr txBox="1"/>
          <p:nvPr/>
        </p:nvSpPr>
        <p:spPr>
          <a:xfrm>
            <a:off x="1554480" y="4709160"/>
            <a:ext cx="4206240" cy="274320"/>
          </a:xfrm>
          <a:prstGeom prst="rect">
            <a:avLst/>
          </a:prstGeom>
          <a:noFill/>
          <a:ln/>
        </p:spPr>
        <p:txBody>
          <a:bodyPr wrap="square" lIns="0" tIns="0" rIns="0" bIns="0" rtlCol="0" anchor="ctr"/>
          <a:lstStyle/>
          <a:p>
            <a:pPr indent="0" marL="0">
              <a:buNone/>
            </a:pPr>
            <a:r>
              <a:rPr lang="en-US" sz="1150" dirty="0">
                <a:solidFill>
                  <a:srgbClr val="F6A06B"/>
                </a:solidFill>
                <a:latin typeface="Arial" pitchFamily="34" charset="0"/>
                <a:ea typeface="Arial" pitchFamily="34" charset="-122"/>
                <a:cs typeface="Arial" pitchFamily="34" charset="-120"/>
              </a:rPr>
              <a:t>→  đúng 1 kết quả</a:t>
            </a:r>
            <a:endParaRPr lang="en-US" sz="1150" dirty="0"/>
          </a:p>
        </p:txBody>
      </p:sp>
      <p:sp>
        <p:nvSpPr>
          <p:cNvPr id="23" name="Text 21"/>
          <p:cNvSpPr txBox="1"/>
          <p:nvPr/>
        </p:nvSpPr>
        <p:spPr>
          <a:xfrm>
            <a:off x="6035040" y="4425696"/>
            <a:ext cx="5150815" cy="566928"/>
          </a:xfrm>
          <a:prstGeom prst="rect">
            <a:avLst/>
          </a:prstGeom>
          <a:noFill/>
          <a:ln/>
        </p:spPr>
        <p:txBody>
          <a:bodyPr wrap="square" lIns="0" tIns="0" rIns="0" bIns="0" rtlCol="0" anchor="ctr"/>
          <a:lstStyle/>
          <a:p>
            <a:pPr indent="0" marL="0">
              <a:lnSpc>
                <a:spcPts val="1500"/>
              </a:lnSpc>
              <a:buNone/>
            </a:pPr>
            <a:r>
              <a:rPr lang="en-US" sz="1150" dirty="0">
                <a:solidFill>
                  <a:srgbClr val="CFC6B6"/>
                </a:solidFill>
                <a:latin typeface="Arial" pitchFamily="34" charset="0"/>
                <a:ea typeface="Arial" pitchFamily="34" charset="-122"/>
                <a:cs typeface="Arial" pitchFamily="34" charset="-120"/>
              </a:rPr>
              <a:t>Tra theo căn cứ mà trả về 5 kết quả là sai</a:t>
            </a:r>
            <a:endParaRPr lang="en-US" sz="1150" dirty="0"/>
          </a:p>
        </p:txBody>
      </p:sp>
      <p:sp>
        <p:nvSpPr>
          <p:cNvPr id="24" name="Shape 22"/>
          <p:cNvSpPr/>
          <p:nvPr/>
        </p:nvSpPr>
        <p:spPr>
          <a:xfrm>
            <a:off x="685800" y="5212080"/>
            <a:ext cx="10820095" cy="822960"/>
          </a:xfrm>
          <a:prstGeom prst="roundRect">
            <a:avLst>
              <a:gd name="adj" fmla="val 13333"/>
            </a:avLst>
          </a:prstGeom>
          <a:solidFill>
            <a:srgbClr val="3D472B"/>
          </a:solidFill>
          <a:ln/>
        </p:spPr>
      </p:sp>
      <p:sp>
        <p:nvSpPr>
          <p:cNvPr id="25" name="Text 23"/>
          <p:cNvSpPr txBox="1"/>
          <p:nvPr/>
        </p:nvSpPr>
        <p:spPr>
          <a:xfrm>
            <a:off x="923544" y="5303520"/>
            <a:ext cx="548640" cy="640080"/>
          </a:xfrm>
          <a:prstGeom prst="rect">
            <a:avLst/>
          </a:prstGeom>
          <a:noFill/>
          <a:ln/>
        </p:spPr>
        <p:txBody>
          <a:bodyPr wrap="square" lIns="0" tIns="0" rIns="0" bIns="0" rtlCol="0" anchor="ctr"/>
          <a:lstStyle/>
          <a:p>
            <a:pPr algn="ctr" indent="0" marL="0">
              <a:buNone/>
            </a:pPr>
            <a:r>
              <a:rPr lang="en-US" sz="2000" b="1" dirty="0">
                <a:solidFill>
                  <a:srgbClr val="AEBF92"/>
                </a:solidFill>
                <a:latin typeface="Arial" pitchFamily="34" charset="0"/>
                <a:ea typeface="Arial" pitchFamily="34" charset="-122"/>
                <a:cs typeface="Arial" pitchFamily="34" charset="-120"/>
              </a:rPr>
              <a:t>05</a:t>
            </a:r>
            <a:endParaRPr lang="en-US" sz="2000" dirty="0"/>
          </a:p>
        </p:txBody>
      </p:sp>
      <p:sp>
        <p:nvSpPr>
          <p:cNvPr id="26" name="Text 24"/>
          <p:cNvSpPr txBox="1"/>
          <p:nvPr/>
        </p:nvSpPr>
        <p:spPr>
          <a:xfrm>
            <a:off x="1554480" y="5330952"/>
            <a:ext cx="4206240" cy="292608"/>
          </a:xfrm>
          <a:prstGeom prst="rect">
            <a:avLst/>
          </a:prstGeom>
          <a:noFill/>
          <a:ln/>
        </p:spPr>
        <p:txBody>
          <a:bodyPr wrap="square" lIns="0" tIns="0" rIns="0" bIns="0" rtlCol="0" anchor="ctr"/>
          <a:lstStyle/>
          <a:p>
            <a:pPr indent="0" marL="0">
              <a:buNone/>
            </a:pPr>
            <a:r>
              <a:rPr lang="en-US" sz="1300" b="1" dirty="0">
                <a:solidFill>
                  <a:srgbClr val="F9F4ED"/>
                </a:solidFill>
                <a:latin typeface="Arial" pitchFamily="34" charset="0"/>
                <a:ea typeface="Arial" pitchFamily="34" charset="-122"/>
                <a:cs typeface="Arial" pitchFamily="34" charset="-120"/>
              </a:rPr>
              <a:t>Màn /hieu-luc — hiệu lực theo thời gian</a:t>
            </a:r>
            <a:endParaRPr lang="en-US" sz="1300" dirty="0"/>
          </a:p>
        </p:txBody>
      </p:sp>
      <p:sp>
        <p:nvSpPr>
          <p:cNvPr id="27" name="Text 25"/>
          <p:cNvSpPr txBox="1"/>
          <p:nvPr/>
        </p:nvSpPr>
        <p:spPr>
          <a:xfrm>
            <a:off x="1554480" y="5641848"/>
            <a:ext cx="4206240" cy="274320"/>
          </a:xfrm>
          <a:prstGeom prst="rect">
            <a:avLst/>
          </a:prstGeom>
          <a:noFill/>
          <a:ln/>
        </p:spPr>
        <p:txBody>
          <a:bodyPr wrap="square" lIns="0" tIns="0" rIns="0" bIns="0" rtlCol="0" anchor="ctr"/>
          <a:lstStyle/>
          <a:p>
            <a:pPr indent="0" marL="0">
              <a:buNone/>
            </a:pPr>
            <a:r>
              <a:rPr lang="en-US" sz="1150" dirty="0">
                <a:solidFill>
                  <a:srgbClr val="AEBF92"/>
                </a:solidFill>
                <a:latin typeface="Arial" pitchFamily="34" charset="0"/>
                <a:ea typeface="Arial" pitchFamily="34" charset="-122"/>
                <a:cs typeface="Arial" pitchFamily="34" charset="-120"/>
              </a:rPr>
              <a:t>→  R15 có hiệu lực từ 01/7/2026</a:t>
            </a:r>
            <a:endParaRPr lang="en-US" sz="1150" dirty="0"/>
          </a:p>
        </p:txBody>
      </p:sp>
      <p:sp>
        <p:nvSpPr>
          <p:cNvPr id="28" name="Text 26"/>
          <p:cNvSpPr txBox="1"/>
          <p:nvPr/>
        </p:nvSpPr>
        <p:spPr>
          <a:xfrm>
            <a:off x="6035040" y="5358384"/>
            <a:ext cx="5150815" cy="566928"/>
          </a:xfrm>
          <a:prstGeom prst="rect">
            <a:avLst/>
          </a:prstGeom>
          <a:noFill/>
          <a:ln/>
        </p:spPr>
        <p:txBody>
          <a:bodyPr wrap="square" lIns="0" tIns="0" rIns="0" bIns="0" rtlCol="0" anchor="ctr"/>
          <a:lstStyle/>
          <a:p>
            <a:pPr indent="0" marL="0">
              <a:lnSpc>
                <a:spcPts val="1500"/>
              </a:lnSpc>
              <a:buNone/>
            </a:pPr>
            <a:r>
              <a:rPr lang="en-US" sz="1150" dirty="0">
                <a:solidFill>
                  <a:srgbClr val="CFC6B6"/>
                </a:solidFill>
                <a:latin typeface="Arial" pitchFamily="34" charset="0"/>
                <a:ea typeface="Arial" pitchFamily="34" charset="-122"/>
                <a:cs typeface="Arial" pitchFamily="34" charset="-120"/>
              </a:rPr>
              <a:t>Sửa đổi lưu như DỮ LIỆU, không hợp nhất cứng lúc dựng cơ sở tri thức</a:t>
            </a:r>
            <a:endParaRPr lang="en-US" sz="1150" dirty="0"/>
          </a:p>
        </p:txBody>
      </p:sp>
      <p:sp>
        <p:nvSpPr>
          <p:cNvPr id="29" name="Text 27"/>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docker/chay_demo.sh  ·  http://localhost:8000  ·  chạy hoàn toàn offline</a:t>
            </a:r>
            <a:endParaRPr lang="en-US" sz="1000" dirty="0"/>
          </a:p>
        </p:txBody>
      </p:sp>
      <p:sp>
        <p:nvSpPr>
          <p:cNvPr id="30" name="Text 28"/>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EAD8"/>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8C491A"/>
                </a:solidFill>
                <a:latin typeface="Arial" pitchFamily="34" charset="0"/>
                <a:ea typeface="Arial" pitchFamily="34" charset="-122"/>
                <a:cs typeface="Arial" pitchFamily="34" charset="-120"/>
              </a:rPr>
              <a:t>6 · HẠN CHẾ</a:t>
            </a:r>
            <a:endParaRPr lang="en-US" sz="1200" dirty="0"/>
          </a:p>
        </p:txBody>
      </p:sp>
      <p:sp>
        <p:nvSpPr>
          <p:cNvPr id="3" name="Text 1"/>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201E1D"/>
                </a:solidFill>
                <a:latin typeface="Arial" pitchFamily="34" charset="0"/>
                <a:ea typeface="Arial" pitchFamily="34" charset="-122"/>
                <a:cs typeface="Arial" pitchFamily="34" charset="-120"/>
              </a:rPr>
              <a:t>Đã đo, đã ghi lại — kể cả những hướng đã bác bỏ</a:t>
            </a:r>
            <a:endParaRPr lang="en-US" sz="3000" dirty="0"/>
          </a:p>
        </p:txBody>
      </p:sp>
      <p:graphicFrame>
        <p:nvGraphicFramePr>
          <p:cNvPr id="4" name="Chart 0" descr=""/>
          <p:cNvGraphicFramePr/>
          <p:nvPr/>
        </p:nvGraphicFramePr>
        <p:xfrm>
          <a:off x="685800" y="1554480"/>
          <a:ext cx="5943600" cy="2286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858000" y="1554480"/>
            <a:ext cx="4647895" cy="2286000"/>
          </a:xfrm>
          <a:prstGeom prst="roundRect">
            <a:avLst>
              <a:gd name="adj" fmla="val 5600"/>
            </a:avLst>
          </a:prstGeom>
          <a:solidFill>
            <a:srgbClr val="FFF2EB"/>
          </a:solidFill>
          <a:ln w="12700">
            <a:solidFill>
              <a:srgbClr val="FFC6A5"/>
            </a:solidFill>
            <a:prstDash val="solid"/>
          </a:ln>
        </p:spPr>
      </p:sp>
      <p:sp>
        <p:nvSpPr>
          <p:cNvPr id="6" name="Text 3"/>
          <p:cNvSpPr txBox="1"/>
          <p:nvPr/>
        </p:nvSpPr>
        <p:spPr>
          <a:xfrm>
            <a:off x="7150608" y="1792224"/>
            <a:ext cx="4059936" cy="1883664"/>
          </a:xfrm>
          <a:prstGeom prst="rect">
            <a:avLst/>
          </a:prstGeom>
          <a:noFill/>
          <a:ln/>
        </p:spPr>
        <p:txBody>
          <a:bodyPr wrap="square" lIns="0" tIns="0" rIns="0" bIns="0" rtlCol="0" anchor="ctr"/>
          <a:lstStyle/>
          <a:p>
            <a:pPr indent="0" marL="0">
              <a:lnSpc>
                <a:spcPts val="1500"/>
              </a:lnSpc>
              <a:buNone/>
            </a:pPr>
            <a:r>
              <a:rPr lang="en-US" sz="1150" b="1" dirty="0">
                <a:solidFill>
                  <a:srgbClr val="8C491A"/>
                </a:solidFill>
                <a:latin typeface="Arial" pitchFamily="34" charset="0"/>
                <a:ea typeface="Arial" pitchFamily="34" charset="-122"/>
                <a:cs typeface="Arial" pitchFamily="34" charset="-120"/>
              </a:rPr>
              <a:t>Truy vấn ngoài lĩnh vực vẫn trả về kết quả.
</a:t>
            </a:r>
            <a:endParaRPr lang="en-US" sz="1150" dirty="0"/>
          </a:p>
          <a:p>
            <a:pPr indent="0" marL="0">
              <a:lnSpc>
                <a:spcPts val="1500"/>
              </a:lnSpc>
              <a:buNone/>
            </a:pPr>
            <a:r>
              <a:rPr lang="en-US" sz="1150" dirty="0">
                <a:solidFill>
                  <a:srgbClr val="5A4032"/>
                </a:solidFill>
                <a:latin typeface="Arial" pitchFamily="34" charset="0"/>
                <a:ea typeface="Arial" pitchFamily="34" charset="-122"/>
                <a:cs typeface="Arial" pitchFamily="34" charset="-120"/>
              </a:rPr>
              <a:t>Hỏi “cách nấu phở bò” thì hệ vẫn đưa ra một hành vi vi phạm. Đặc trưng TF-IDF quá yếu để tách miền: 56/120 câu hợp lệ chấm điểm thấp hơn hoặc bằng truy vấn rác. Không ngưỡng nào tách được.</a:t>
            </a:r>
            <a:endParaRPr lang="en-US" sz="1150" dirty="0"/>
          </a:p>
        </p:txBody>
      </p:sp>
      <p:sp>
        <p:nvSpPr>
          <p:cNvPr id="7" name="Shape 4"/>
          <p:cNvSpPr/>
          <p:nvPr/>
        </p:nvSpPr>
        <p:spPr>
          <a:xfrm>
            <a:off x="685800" y="4041648"/>
            <a:ext cx="5943600" cy="1481328"/>
          </a:xfrm>
          <a:prstGeom prst="roundRect">
            <a:avLst>
              <a:gd name="adj" fmla="val 8642"/>
            </a:avLst>
          </a:prstGeom>
          <a:solidFill>
            <a:srgbClr val="F0FAE1"/>
          </a:solidFill>
          <a:ln w="12700">
            <a:solidFill>
              <a:srgbClr val="CCDBB2"/>
            </a:solidFill>
            <a:prstDash val="solid"/>
          </a:ln>
        </p:spPr>
      </p:sp>
      <p:sp>
        <p:nvSpPr>
          <p:cNvPr id="8" name="Text 5"/>
          <p:cNvSpPr txBox="1"/>
          <p:nvPr/>
        </p:nvSpPr>
        <p:spPr>
          <a:xfrm>
            <a:off x="941832" y="4206240"/>
            <a:ext cx="5431536" cy="1188720"/>
          </a:xfrm>
          <a:prstGeom prst="rect">
            <a:avLst/>
          </a:prstGeom>
          <a:noFill/>
          <a:ln/>
        </p:spPr>
        <p:txBody>
          <a:bodyPr wrap="square" lIns="0" tIns="0" rIns="0" bIns="0" rtlCol="0" anchor="ctr"/>
          <a:lstStyle/>
          <a:p>
            <a:pPr indent="0" marL="0">
              <a:lnSpc>
                <a:spcPts val="1400"/>
              </a:lnSpc>
              <a:buNone/>
            </a:pPr>
            <a:r>
              <a:rPr lang="en-US" sz="1050" b="1" dirty="0">
                <a:solidFill>
                  <a:srgbClr val="56633F"/>
                </a:solidFill>
                <a:latin typeface="Arial" pitchFamily="34" charset="0"/>
                <a:ea typeface="Arial" pitchFamily="34" charset="-122"/>
                <a:cs typeface="Arial" pitchFamily="34" charset="-120"/>
              </a:rPr>
              <a:t>Đã thử dense embedding — và đã từ chối đánh đổi.
</a:t>
            </a:r>
            <a:endParaRPr lang="en-US" sz="1050" dirty="0"/>
          </a:p>
          <a:p>
            <a:pPr indent="0" marL="0">
              <a:lnSpc>
                <a:spcPts val="1400"/>
              </a:lnSpc>
              <a:buNone/>
            </a:pPr>
            <a:r>
              <a:rPr lang="en-US" sz="1050" dirty="0">
                <a:solidFill>
                  <a:srgbClr val="3F4A2E"/>
                </a:solidFill>
                <a:latin typeface="Arial" pitchFamily="34" charset="0"/>
                <a:ea typeface="Arial" pitchFamily="34" charset="-122"/>
                <a:cs typeface="Arial" pitchFamily="34" charset="-120"/>
              </a:rPr>
              <a:t>AUC 0,8746 → 0,9958, loại được 77,5% truy vấn rác mà không từ chối oan câu nào. Nhưng hai phân bố VẪN chồng lấn: trần điểm của rác 0,5158 còn nằm trên sàn 0,3919 của câu hợp lệ không có keyphrase. Loại 100% rác thì phải làm oan 5,8% câu hợp lệ.</a:t>
            </a:r>
            <a:endParaRPr lang="en-US" sz="1050" dirty="0"/>
          </a:p>
        </p:txBody>
      </p:sp>
      <p:sp>
        <p:nvSpPr>
          <p:cNvPr id="9" name="Shape 6"/>
          <p:cNvSpPr/>
          <p:nvPr/>
        </p:nvSpPr>
        <p:spPr>
          <a:xfrm>
            <a:off x="6858000" y="4041648"/>
            <a:ext cx="4647895" cy="1481328"/>
          </a:xfrm>
          <a:prstGeom prst="roundRect">
            <a:avLst>
              <a:gd name="adj" fmla="val 8642"/>
            </a:avLst>
          </a:prstGeom>
          <a:solidFill>
            <a:srgbClr val="F9F4ED"/>
          </a:solidFill>
          <a:ln w="12700">
            <a:solidFill>
              <a:srgbClr val="DCD3C4"/>
            </a:solidFill>
            <a:prstDash val="solid"/>
          </a:ln>
        </p:spPr>
      </p:sp>
      <p:sp>
        <p:nvSpPr>
          <p:cNvPr id="10" name="Text 7"/>
          <p:cNvSpPr txBox="1"/>
          <p:nvPr/>
        </p:nvSpPr>
        <p:spPr>
          <a:xfrm>
            <a:off x="7150608" y="4206240"/>
            <a:ext cx="4059936" cy="1188720"/>
          </a:xfrm>
          <a:prstGeom prst="rect">
            <a:avLst/>
          </a:prstGeom>
          <a:noFill/>
          <a:ln/>
        </p:spPr>
        <p:txBody>
          <a:bodyPr wrap="square" lIns="0" tIns="0" rIns="0" bIns="0" rtlCol="0" anchor="ctr"/>
          <a:lstStyle/>
          <a:p>
            <a:pPr indent="0" marL="0">
              <a:lnSpc>
                <a:spcPts val="1500"/>
              </a:lnSpc>
              <a:buNone/>
            </a:pPr>
            <a:r>
              <a:rPr lang="en-US" sz="1150" b="1" dirty="0">
                <a:solidFill>
                  <a:srgbClr val="201E1D"/>
                </a:solidFill>
                <a:latin typeface="Arial" pitchFamily="34" charset="0"/>
                <a:ea typeface="Arial" pitchFamily="34" charset="-122"/>
                <a:cs typeface="Arial" pitchFamily="34" charset="-120"/>
              </a:rPr>
              <a:t>Kết quả âm cũng là kết quả.
</a:t>
            </a:r>
            <a:endParaRPr lang="en-US" sz="1150" dirty="0"/>
          </a:p>
          <a:p>
            <a:pPr indent="0" marL="0">
              <a:lnSpc>
                <a:spcPts val="1500"/>
              </a:lnSpc>
              <a:buNone/>
            </a:pPr>
            <a:r>
              <a:rPr lang="en-US" sz="1150" dirty="0">
                <a:solidFill>
                  <a:srgbClr val="645C50"/>
                </a:solidFill>
                <a:latin typeface="Arial" pitchFamily="34" charset="0"/>
                <a:ea typeface="Arial" pitchFamily="34" charset="-122"/>
                <a:cs typeface="Arial" pitchFamily="34" charset="-120"/>
              </a:rPr>
              <a:t>Phủ từ vựng cơ sở tri thức là tín hiệu vô dụng cho việc tách miền — AUC 0,7243, thấp hơn cả TF-IDF thô. Hướng này đã thử và đã bác bỏ.</a:t>
            </a:r>
            <a:endParaRPr lang="en-US" sz="1150" dirty="0"/>
          </a:p>
        </p:txBody>
      </p:sp>
      <p:sp>
        <p:nvSpPr>
          <p:cNvPr id="11" name="Text 8"/>
          <p:cNvSpPr txBox="1"/>
          <p:nvPr/>
        </p:nvSpPr>
        <p:spPr>
          <a:xfrm>
            <a:off x="685800" y="5669280"/>
            <a:ext cx="10820095" cy="402336"/>
          </a:xfrm>
          <a:prstGeom prst="rect">
            <a:avLst/>
          </a:prstGeom>
          <a:noFill/>
          <a:ln/>
        </p:spPr>
        <p:txBody>
          <a:bodyPr wrap="square" lIns="0" tIns="0" rIns="0" bIns="0" rtlCol="0" anchor="ctr"/>
          <a:lstStyle/>
          <a:p>
            <a:pPr indent="0" marL="0">
              <a:lnSpc>
                <a:spcPts val="1400"/>
              </a:lnSpc>
              <a:buNone/>
            </a:pPr>
            <a:r>
              <a:rPr lang="en-US" sz="1100" dirty="0">
                <a:solidFill>
                  <a:srgbClr val="645C50"/>
                </a:solidFill>
                <a:latin typeface="Arial" pitchFamily="34" charset="0"/>
                <a:ea typeface="Arial" pitchFamily="34" charset="-122"/>
                <a:cs typeface="Arial" pitchFamily="34" charset="-120"/>
              </a:rPr>
              <a:t>Còn lại: 12/120 câu hợp lệ không rút được keyphrase nào  ·  46 chú thích sửa đổi của Luật 118/2025 chưa mô hình hoá ở mức từng khoản  ·  hệ không sinh ngôn ngữ tự nhiên (lựa chọn có chủ đích)</a:t>
            </a:r>
            <a:endParaRPr lang="en-US" sz="1100" dirty="0"/>
          </a:p>
        </p:txBody>
      </p:sp>
      <p:sp>
        <p:nvSpPr>
          <p:cNvPr id="12" name="Text 9"/>
          <p:cNvSpPr txBox="1"/>
          <p:nvPr/>
        </p:nvSpPr>
        <p:spPr>
          <a:xfrm>
            <a:off x="685800" y="6291072"/>
            <a:ext cx="9997135" cy="274320"/>
          </a:xfrm>
          <a:prstGeom prst="rect">
            <a:avLst/>
          </a:prstGeom>
          <a:noFill/>
          <a:ln/>
        </p:spPr>
        <p:txBody>
          <a:bodyPr wrap="square" lIns="0" tIns="0" rIns="0" bIns="0" rtlCol="0" anchor="ctr"/>
          <a:lstStyle/>
          <a:p>
            <a:pPr indent="0" marL="0">
              <a:buNone/>
            </a:pPr>
            <a:r>
              <a:rPr lang="en-US" sz="1000" i="1" dirty="0">
                <a:solidFill>
                  <a:srgbClr val="82796A"/>
                </a:solidFill>
                <a:latin typeface="Arial" pitchFamily="34" charset="0"/>
                <a:ea typeface="Arial" pitchFamily="34" charset="-122"/>
                <a:cs typeface="Arial" pitchFamily="34" charset="-120"/>
              </a:rPr>
              <a:t>5 test xfail strict — ngày nào chúng bất ngờ đạt, CI báo lỗi và buộc cập nhật tài liệu</a:t>
            </a:r>
            <a:endParaRPr lang="en-US" sz="1000" dirty="0"/>
          </a:p>
        </p:txBody>
      </p:sp>
      <p:sp>
        <p:nvSpPr>
          <p:cNvPr id="13" name="Text 10"/>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E2B25"/>
        </a:solidFill>
      </p:bgPr>
    </p:bg>
    <p:spTree>
      <p:nvGrpSpPr>
        <p:cNvPr id="1" name=""/>
        <p:cNvGrpSpPr/>
        <p:nvPr/>
      </p:nvGrpSpPr>
      <p:grpSpPr>
        <a:xfrm>
          <a:off x="0" y="0"/>
          <a:ext cx="0" cy="0"/>
          <a:chOff x="0" y="0"/>
          <a:chExt cx="0" cy="0"/>
        </a:xfrm>
      </p:grpSpPr>
      <p:sp>
        <p:nvSpPr>
          <p:cNvPr id="2" name="Shape 0"/>
          <p:cNvSpPr/>
          <p:nvPr/>
        </p:nvSpPr>
        <p:spPr>
          <a:xfrm>
            <a:off x="10180015" y="-1554480"/>
            <a:ext cx="4023360" cy="4023360"/>
          </a:xfrm>
          <a:prstGeom prst="ellipse">
            <a:avLst/>
          </a:prstGeom>
          <a:solidFill>
            <a:srgbClr val="402310"/>
          </a:solidFill>
          <a:ln/>
        </p:spPr>
      </p:sp>
      <p:sp>
        <p:nvSpPr>
          <p:cNvPr id="3" name="Text 1"/>
          <p:cNvSpPr txBox="1"/>
          <p:nvPr/>
        </p:nvSpPr>
        <p:spPr>
          <a:xfrm>
            <a:off x="685800" y="384048"/>
            <a:ext cx="10820095" cy="237744"/>
          </a:xfrm>
          <a:prstGeom prst="rect">
            <a:avLst/>
          </a:prstGeom>
          <a:noFill/>
          <a:ln/>
        </p:spPr>
        <p:txBody>
          <a:bodyPr wrap="square" lIns="0" tIns="0" rIns="0" bIns="0" rtlCol="0" anchor="ctr"/>
          <a:lstStyle/>
          <a:p>
            <a:pPr indent="0" marL="0">
              <a:buNone/>
            </a:pPr>
            <a:r>
              <a:rPr lang="en-US" sz="1200" b="1" spc="200" kern="0" dirty="0">
                <a:solidFill>
                  <a:srgbClr val="F6A06B"/>
                </a:solidFill>
                <a:latin typeface="Arial" pitchFamily="34" charset="0"/>
                <a:ea typeface="Arial" pitchFamily="34" charset="-122"/>
                <a:cs typeface="Arial" pitchFamily="34" charset="-120"/>
              </a:rPr>
              <a:t>6 · KẾT LUẬN</a:t>
            </a:r>
            <a:endParaRPr lang="en-US" sz="1200" dirty="0"/>
          </a:p>
        </p:txBody>
      </p:sp>
      <p:sp>
        <p:nvSpPr>
          <p:cNvPr id="4" name="Text 2"/>
          <p:cNvSpPr txBox="1"/>
          <p:nvPr/>
        </p:nvSpPr>
        <p:spPr>
          <a:xfrm>
            <a:off x="685800" y="658368"/>
            <a:ext cx="10820095" cy="566928"/>
          </a:xfrm>
          <a:prstGeom prst="rect">
            <a:avLst/>
          </a:prstGeom>
          <a:noFill/>
          <a:ln/>
        </p:spPr>
        <p:txBody>
          <a:bodyPr wrap="square" lIns="0" tIns="0" rIns="0" bIns="0" rtlCol="0" anchor="ctr"/>
          <a:lstStyle/>
          <a:p>
            <a:pPr indent="0" marL="0">
              <a:buNone/>
            </a:pPr>
            <a:r>
              <a:rPr lang="en-US" sz="3000" b="1" dirty="0">
                <a:solidFill>
                  <a:srgbClr val="F9F4ED"/>
                </a:solidFill>
                <a:latin typeface="Arial" pitchFamily="34" charset="0"/>
                <a:ea typeface="Arial" pitchFamily="34" charset="-122"/>
                <a:cs typeface="Arial" pitchFamily="34" charset="-120"/>
              </a:rPr>
              <a:t>Điều nhóm giữ lại không phải con số Top-1</a:t>
            </a:r>
            <a:endParaRPr lang="en-US" sz="3000" dirty="0"/>
          </a:p>
        </p:txBody>
      </p:sp>
      <p:sp>
        <p:nvSpPr>
          <p:cNvPr id="5" name="Text 3"/>
          <p:cNvSpPr txBox="1"/>
          <p:nvPr/>
        </p:nvSpPr>
        <p:spPr>
          <a:xfrm>
            <a:off x="685800" y="1627632"/>
            <a:ext cx="5120640" cy="365760"/>
          </a:xfrm>
          <a:prstGeom prst="rect">
            <a:avLst/>
          </a:prstGeom>
          <a:noFill/>
          <a:ln/>
        </p:spPr>
        <p:txBody>
          <a:bodyPr wrap="square" lIns="0" tIns="0" rIns="0" bIns="0" rtlCol="0" anchor="ctr"/>
          <a:lstStyle/>
          <a:p>
            <a:pPr indent="0" marL="0">
              <a:buNone/>
            </a:pPr>
            <a:r>
              <a:rPr lang="en-US" sz="1900" b="1" dirty="0">
                <a:solidFill>
                  <a:srgbClr val="F6A06B"/>
                </a:solidFill>
                <a:latin typeface="Arial" pitchFamily="34" charset="0"/>
                <a:ea typeface="Arial" pitchFamily="34" charset="-122"/>
                <a:cs typeface="Arial" pitchFamily="34" charset="-120"/>
              </a:rPr>
              <a:t>73 · 482 · 109 · 345</a:t>
            </a:r>
            <a:endParaRPr lang="en-US" sz="1900" dirty="0"/>
          </a:p>
        </p:txBody>
      </p:sp>
      <p:sp>
        <p:nvSpPr>
          <p:cNvPr id="6" name="Text 4"/>
          <p:cNvSpPr txBox="1"/>
          <p:nvPr/>
        </p:nvSpPr>
        <p:spPr>
          <a:xfrm>
            <a:off x="685800" y="2011680"/>
            <a:ext cx="5120640" cy="420624"/>
          </a:xfrm>
          <a:prstGeom prst="rect">
            <a:avLst/>
          </a:prstGeom>
          <a:noFill/>
          <a:ln/>
        </p:spPr>
        <p:txBody>
          <a:bodyPr wrap="square" lIns="0" tIns="0" rIns="0" bIns="0" rtlCol="0" anchor="ctr"/>
          <a:lstStyle/>
          <a:p>
            <a:pPr indent="0" marL="0">
              <a:lnSpc>
                <a:spcPts val="1500"/>
              </a:lnSpc>
              <a:buNone/>
            </a:pPr>
            <a:r>
              <a:rPr lang="en-US" sz="1200" dirty="0">
                <a:solidFill>
                  <a:srgbClr val="C0B6A5"/>
                </a:solidFill>
                <a:latin typeface="Arial" pitchFamily="34" charset="0"/>
                <a:ea typeface="Arial" pitchFamily="34" charset="-122"/>
                <a:cs typeface="Arial" pitchFamily="34" charset="-120"/>
              </a:rPr>
              <a:t>khái niệm · quan hệ · quy tắc · hành vi vi phạm, 100% có căn cứ pháp lý</a:t>
            </a:r>
            <a:endParaRPr lang="en-US" sz="1200" dirty="0"/>
          </a:p>
        </p:txBody>
      </p:sp>
      <p:sp>
        <p:nvSpPr>
          <p:cNvPr id="7" name="Text 5"/>
          <p:cNvSpPr txBox="1"/>
          <p:nvPr/>
        </p:nvSpPr>
        <p:spPr>
          <a:xfrm>
            <a:off x="685800" y="2542032"/>
            <a:ext cx="5120640" cy="365760"/>
          </a:xfrm>
          <a:prstGeom prst="rect">
            <a:avLst/>
          </a:prstGeom>
          <a:noFill/>
          <a:ln/>
        </p:spPr>
        <p:txBody>
          <a:bodyPr wrap="square" lIns="0" tIns="0" rIns="0" bIns="0" rtlCol="0" anchor="ctr"/>
          <a:lstStyle/>
          <a:p>
            <a:pPr indent="0" marL="0">
              <a:buNone/>
            </a:pPr>
            <a:r>
              <a:rPr lang="en-US" sz="1900" b="1" dirty="0">
                <a:solidFill>
                  <a:srgbClr val="F6A06B"/>
                </a:solidFill>
                <a:latin typeface="Arial" pitchFamily="34" charset="0"/>
                <a:ea typeface="Arial" pitchFamily="34" charset="-122"/>
                <a:cs typeface="Arial" pitchFamily="34" charset="-120"/>
              </a:rPr>
              <a:t>1.674 keyphrase</a:t>
            </a:r>
            <a:endParaRPr lang="en-US" sz="1900" dirty="0"/>
          </a:p>
        </p:txBody>
      </p:sp>
      <p:sp>
        <p:nvSpPr>
          <p:cNvPr id="8" name="Text 6"/>
          <p:cNvSpPr txBox="1"/>
          <p:nvPr/>
        </p:nvSpPr>
        <p:spPr>
          <a:xfrm>
            <a:off x="685800" y="2926080"/>
            <a:ext cx="5120640" cy="420624"/>
          </a:xfrm>
          <a:prstGeom prst="rect">
            <a:avLst/>
          </a:prstGeom>
          <a:noFill/>
          <a:ln/>
        </p:spPr>
        <p:txBody>
          <a:bodyPr wrap="square" lIns="0" tIns="0" rIns="0" bIns="0" rtlCol="0" anchor="ctr"/>
          <a:lstStyle/>
          <a:p>
            <a:pPr indent="0" marL="0">
              <a:lnSpc>
                <a:spcPts val="1500"/>
              </a:lnSpc>
              <a:buNone/>
            </a:pPr>
            <a:r>
              <a:rPr lang="en-US" sz="1200" dirty="0">
                <a:solidFill>
                  <a:srgbClr val="C0B6A5"/>
                </a:solidFill>
                <a:latin typeface="Arial" pitchFamily="34" charset="0"/>
                <a:ea typeface="Arial" pitchFamily="34" charset="-122"/>
                <a:cs typeface="Arial" pitchFamily="34" charset="-120"/>
              </a:rPr>
              <a:t>120 câu hỏi có đáp án chuẩn · 12/12 ca nghiệm thu đạt</a:t>
            </a:r>
            <a:endParaRPr lang="en-US" sz="1200" dirty="0"/>
          </a:p>
        </p:txBody>
      </p:sp>
      <p:sp>
        <p:nvSpPr>
          <p:cNvPr id="9" name="Text 7"/>
          <p:cNvSpPr txBox="1"/>
          <p:nvPr/>
        </p:nvSpPr>
        <p:spPr>
          <a:xfrm>
            <a:off x="685800" y="3456432"/>
            <a:ext cx="5120640" cy="365760"/>
          </a:xfrm>
          <a:prstGeom prst="rect">
            <a:avLst/>
          </a:prstGeom>
          <a:noFill/>
          <a:ln/>
        </p:spPr>
        <p:txBody>
          <a:bodyPr wrap="square" lIns="0" tIns="0" rIns="0" bIns="0" rtlCol="0" anchor="ctr"/>
          <a:lstStyle/>
          <a:p>
            <a:pPr indent="0" marL="0">
              <a:buNone/>
            </a:pPr>
            <a:r>
              <a:rPr lang="en-US" sz="1900" b="1" dirty="0">
                <a:solidFill>
                  <a:srgbClr val="F6A06B"/>
                </a:solidFill>
                <a:latin typeface="Arial" pitchFamily="34" charset="0"/>
                <a:ea typeface="Arial" pitchFamily="34" charset="-122"/>
                <a:cs typeface="Arial" pitchFamily="34" charset="-120"/>
              </a:rPr>
              <a:t>286 test · phủ 90%</a:t>
            </a:r>
            <a:endParaRPr lang="en-US" sz="1900" dirty="0"/>
          </a:p>
        </p:txBody>
      </p:sp>
      <p:sp>
        <p:nvSpPr>
          <p:cNvPr id="10" name="Text 8"/>
          <p:cNvSpPr txBox="1"/>
          <p:nvPr/>
        </p:nvSpPr>
        <p:spPr>
          <a:xfrm>
            <a:off x="685800" y="3840480"/>
            <a:ext cx="5120640" cy="420624"/>
          </a:xfrm>
          <a:prstGeom prst="rect">
            <a:avLst/>
          </a:prstGeom>
          <a:noFill/>
          <a:ln/>
        </p:spPr>
        <p:txBody>
          <a:bodyPr wrap="square" lIns="0" tIns="0" rIns="0" bIns="0" rtlCol="0" anchor="ctr"/>
          <a:lstStyle/>
          <a:p>
            <a:pPr indent="0" marL="0">
              <a:lnSpc>
                <a:spcPts val="1500"/>
              </a:lnSpc>
              <a:buNone/>
            </a:pPr>
            <a:r>
              <a:rPr lang="en-US" sz="1200" dirty="0">
                <a:solidFill>
                  <a:srgbClr val="C0B6A5"/>
                </a:solidFill>
                <a:latin typeface="Arial" pitchFamily="34" charset="0"/>
                <a:ea typeface="Arial" pitchFamily="34" charset="-122"/>
                <a:cs typeface="Arial" pitchFamily="34" charset="-120"/>
              </a:rPr>
              <a:t>5 hạn chế đã đo và khoá bằng test xfail strict</a:t>
            </a:r>
            <a:endParaRPr lang="en-US" sz="1200" dirty="0"/>
          </a:p>
        </p:txBody>
      </p:sp>
      <p:sp>
        <p:nvSpPr>
          <p:cNvPr id="11" name="Shape 9"/>
          <p:cNvSpPr/>
          <p:nvPr/>
        </p:nvSpPr>
        <p:spPr>
          <a:xfrm>
            <a:off x="6309360" y="1627632"/>
            <a:ext cx="5196535" cy="2743200"/>
          </a:xfrm>
          <a:prstGeom prst="roundRect">
            <a:avLst>
              <a:gd name="adj" fmla="val 4667"/>
            </a:avLst>
          </a:prstGeom>
          <a:solidFill>
            <a:srgbClr val="3A352D"/>
          </a:solidFill>
          <a:ln w="12700">
            <a:solidFill>
              <a:srgbClr val="56503F"/>
            </a:solidFill>
            <a:prstDash val="solid"/>
          </a:ln>
        </p:spPr>
      </p:sp>
      <p:sp>
        <p:nvSpPr>
          <p:cNvPr id="12" name="Text 10"/>
          <p:cNvSpPr txBox="1"/>
          <p:nvPr/>
        </p:nvSpPr>
        <p:spPr>
          <a:xfrm>
            <a:off x="6620256" y="1847088"/>
            <a:ext cx="4480560" cy="2377440"/>
          </a:xfrm>
          <a:prstGeom prst="rect">
            <a:avLst/>
          </a:prstGeom>
          <a:noFill/>
          <a:ln/>
        </p:spPr>
        <p:txBody>
          <a:bodyPr wrap="square" lIns="0" tIns="0" rIns="0" bIns="0" rtlCol="0" anchor="ctr"/>
          <a:lstStyle/>
          <a:p>
            <a:pPr indent="0" marL="0">
              <a:lnSpc>
                <a:spcPts val="1700"/>
              </a:lnSpc>
              <a:buNone/>
            </a:pPr>
            <a:r>
              <a:rPr lang="en-US" sz="1500" b="1" dirty="0">
                <a:solidFill>
                  <a:srgbClr val="F9F4ED"/>
                </a:solidFill>
                <a:latin typeface="Arial" pitchFamily="34" charset="0"/>
                <a:ea typeface="Arial" pitchFamily="34" charset="-122"/>
                <a:cs typeface="Arial" pitchFamily="34" charset="-120"/>
              </a:rPr>
              <a:t>Kỷ luật đo đạc
</a:t>
            </a:r>
            <a:endParaRPr lang="en-US" sz="1200" dirty="0"/>
          </a:p>
          <a:p>
            <a:pPr indent="0" marL="0">
              <a:lnSpc>
                <a:spcPts val="1700"/>
              </a:lnSpc>
              <a:buNone/>
            </a:pPr>
            <a:r>
              <a:rPr lang="en-US" sz="1200" dirty="0">
                <a:solidFill>
                  <a:srgbClr val="C0B6A5"/>
                </a:solidFill>
                <a:latin typeface="Arial" pitchFamily="34" charset="0"/>
                <a:ea typeface="Arial" pitchFamily="34" charset="-122"/>
                <a:cs typeface="Arial" pitchFamily="34" charset="-120"/>
              </a:rPr>
              <a:t>Mọi khẳng định trong báo cáo đều sinh ra từ một lệnh chạy lại được.
</a:t>
            </a:r>
            <a:endParaRPr lang="en-US" sz="1200" dirty="0"/>
          </a:p>
          <a:p>
            <a:pPr indent="0" marL="0">
              <a:lnSpc>
                <a:spcPts val="1700"/>
              </a:lnSpc>
              <a:buNone/>
            </a:pPr>
            <a:r>
              <a:rPr lang="en-US" sz="1200" dirty="0">
                <a:solidFill>
                  <a:srgbClr val="C0B6A5"/>
                </a:solidFill>
                <a:latin typeface="Arial" pitchFamily="34" charset="0"/>
                <a:ea typeface="Arial" pitchFamily="34" charset="-122"/>
                <a:cs typeface="Arial" pitchFamily="34" charset="-120"/>
              </a:rPr>
              <a:t>Mọi hạn chế đều có số đo kèm theo.
</a:t>
            </a:r>
            <a:endParaRPr lang="en-US" sz="1200" dirty="0"/>
          </a:p>
          <a:p>
            <a:pPr indent="0" marL="0">
              <a:lnSpc>
                <a:spcPts val="1700"/>
              </a:lnSpc>
              <a:buNone/>
            </a:pPr>
            <a:r>
              <a:rPr lang="en-US" sz="1200" dirty="0">
                <a:solidFill>
                  <a:srgbClr val="C0B6A5"/>
                </a:solidFill>
                <a:latin typeface="Arial" pitchFamily="34" charset="0"/>
                <a:ea typeface="Arial" pitchFamily="34" charset="-122"/>
                <a:cs typeface="Arial" pitchFamily="34" charset="-120"/>
              </a:rPr>
              <a:t>Những hướng đã thử rồi bác bỏ đều được ghi lại thay vì giấu đi.</a:t>
            </a:r>
            <a:endParaRPr lang="en-US" sz="1200" dirty="0"/>
          </a:p>
        </p:txBody>
      </p:sp>
      <p:sp>
        <p:nvSpPr>
          <p:cNvPr id="13" name="Shape 11"/>
          <p:cNvSpPr/>
          <p:nvPr/>
        </p:nvSpPr>
        <p:spPr>
          <a:xfrm>
            <a:off x="685800" y="4645152"/>
            <a:ext cx="10820095" cy="1234440"/>
          </a:xfrm>
          <a:prstGeom prst="roundRect">
            <a:avLst>
              <a:gd name="adj" fmla="val 10370"/>
            </a:avLst>
          </a:prstGeom>
          <a:solidFill>
            <a:srgbClr val="3D472B"/>
          </a:solidFill>
          <a:ln/>
        </p:spPr>
      </p:sp>
      <p:sp>
        <p:nvSpPr>
          <p:cNvPr id="14" name="Text 12"/>
          <p:cNvSpPr txBox="1"/>
          <p:nvPr/>
        </p:nvSpPr>
        <p:spPr>
          <a:xfrm>
            <a:off x="1014984" y="4791456"/>
            <a:ext cx="2743200" cy="274320"/>
          </a:xfrm>
          <a:prstGeom prst="rect">
            <a:avLst/>
          </a:prstGeom>
          <a:noFill/>
          <a:ln/>
        </p:spPr>
        <p:txBody>
          <a:bodyPr wrap="square" lIns="0" tIns="0" rIns="0" bIns="0" rtlCol="0" anchor="ctr"/>
          <a:lstStyle/>
          <a:p>
            <a:pPr indent="0" marL="0">
              <a:buNone/>
            </a:pPr>
            <a:r>
              <a:rPr lang="en-US" sz="1300" b="1" dirty="0">
                <a:solidFill>
                  <a:srgbClr val="AEBF92"/>
                </a:solidFill>
                <a:latin typeface="Arial" pitchFamily="34" charset="0"/>
                <a:ea typeface="Arial" pitchFamily="34" charset="-122"/>
                <a:cs typeface="Arial" pitchFamily="34" charset="-120"/>
              </a:rPr>
              <a:t>Hướng phát triển</a:t>
            </a:r>
            <a:endParaRPr lang="en-US" sz="1300" dirty="0"/>
          </a:p>
        </p:txBody>
      </p:sp>
      <p:sp>
        <p:nvSpPr>
          <p:cNvPr id="15" name="Text 13"/>
          <p:cNvSpPr txBox="1"/>
          <p:nvPr/>
        </p:nvSpPr>
        <p:spPr>
          <a:xfrm>
            <a:off x="1014984" y="5084064"/>
            <a:ext cx="10161727" cy="676656"/>
          </a:xfrm>
          <a:prstGeom prst="rect">
            <a:avLst/>
          </a:prstGeom>
          <a:noFill/>
          <a:ln/>
        </p:spPr>
        <p:txBody>
          <a:bodyPr wrap="square" lIns="0" tIns="0" rIns="0" bIns="0" rtlCol="0" anchor="ctr"/>
          <a:lstStyle/>
          <a:p>
            <a:pPr indent="0" marL="0">
              <a:lnSpc>
                <a:spcPts val="1600"/>
              </a:lnSpc>
              <a:buNone/>
            </a:pPr>
            <a:r>
              <a:rPr lang="en-US" sz="1200" dirty="0">
                <a:solidFill>
                  <a:srgbClr val="C0B6A5"/>
                </a:solidFill>
                <a:latin typeface="Arial" pitchFamily="34" charset="0"/>
                <a:ea typeface="Arial" pitchFamily="34" charset="-122"/>
                <a:cs typeface="Arial" pitchFamily="34" charset="-120"/>
              </a:rPr>
              <a:t>Hỏi lại khi truy vấn thiếu phương tiện hoặc chủ thể  ·  tổng quát hoá mô hình sửa đổi để khép nốt 46 chú thích  ·  thêm tín hiệu phân biệt cho lớp P2 bằng đồ thị quan hệ  ·  đưa dense vào bản triển khai có tài nguyên với ngưỡng hai mức</a:t>
            </a:r>
            <a:endParaRPr lang="en-US" sz="1200" dirty="0"/>
          </a:p>
        </p:txBody>
      </p:sp>
      <p:sp>
        <p:nvSpPr>
          <p:cNvPr id="16" name="Text 14"/>
          <p:cNvSpPr txBox="1"/>
          <p:nvPr/>
        </p:nvSpPr>
        <p:spPr>
          <a:xfrm>
            <a:off x="685800" y="6254496"/>
            <a:ext cx="6400800" cy="310896"/>
          </a:xfrm>
          <a:prstGeom prst="rect">
            <a:avLst/>
          </a:prstGeom>
          <a:noFill/>
          <a:ln/>
        </p:spPr>
        <p:txBody>
          <a:bodyPr wrap="square" lIns="0" tIns="0" rIns="0" bIns="0" rtlCol="0" anchor="ctr"/>
          <a:lstStyle/>
          <a:p>
            <a:pPr indent="0" marL="0">
              <a:buNone/>
            </a:pPr>
            <a:r>
              <a:rPr lang="en-US" sz="1300" i="1" dirty="0">
                <a:solidFill>
                  <a:srgbClr val="82796A"/>
                </a:solidFill>
                <a:latin typeface="Arial" pitchFamily="34" charset="0"/>
                <a:ea typeface="Arial" pitchFamily="34" charset="-122"/>
                <a:cs typeface="Arial" pitchFamily="34" charset="-120"/>
              </a:rPr>
              <a:t>Cảm ơn thầy và các bạn đã lắng nghe.</a:t>
            </a:r>
            <a:endParaRPr lang="en-US" sz="1300" dirty="0"/>
          </a:p>
        </p:txBody>
      </p:sp>
      <p:sp>
        <p:nvSpPr>
          <p:cNvPr id="17" name="Text 15"/>
          <p:cNvSpPr txBox="1"/>
          <p:nvPr/>
        </p:nvSpPr>
        <p:spPr>
          <a:xfrm>
            <a:off x="10865815" y="6291072"/>
            <a:ext cx="640080" cy="274320"/>
          </a:xfrm>
          <a:prstGeom prst="rect">
            <a:avLst/>
          </a:prstGeom>
          <a:noFill/>
          <a:ln/>
        </p:spPr>
        <p:txBody>
          <a:bodyPr wrap="square" lIns="0" tIns="0" rIns="0" bIns="0" rtlCol="0" anchor="ctr"/>
          <a:lstStyle/>
          <a:p>
            <a:pPr algn="r" indent="0" marL="0">
              <a:buNone/>
            </a:pPr>
            <a:r>
              <a:rPr lang="en-US" sz="1000" dirty="0">
                <a:solidFill>
                  <a:srgbClr val="82796A"/>
                </a:solidFill>
                <a:latin typeface="Arial" pitchFamily="34" charset="0"/>
                <a:ea typeface="Arial" pitchFamily="34" charset="-122"/>
                <a:cs typeface="Arial" pitchFamily="34" charset="-120"/>
              </a:rPr>
              <a:t>21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4 — Hệ thống tra cứu kiến thức pháp luật giao thông</dc:title>
  <dc:subject>PptxGenJS Presentation</dc:subject>
  <dc:creator>Nhóm 7 — CS106.F31.CN2</dc:creator>
  <cp:lastModifiedBy>Nhóm 7 — CS106.F31.CN2</cp:lastModifiedBy>
  <cp:revision>1</cp:revision>
  <dcterms:created xsi:type="dcterms:W3CDTF">2026-09-14T00:34:51Z</dcterms:created>
  <dcterms:modified xsi:type="dcterms:W3CDTF">2026-09-14T00:34:51Z</dcterms:modified>
</cp:coreProperties>
</file>