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01E1D"/>
                </a:solidFill>
                <a:latin typeface="Arial"/>
              </a:defRPr>
            </a:pPr>
            <a:r>
              <a:rPr sz="1300" b="0" i="0" u="none" strike="noStrike">
                <a:solidFill>
                  <a:srgbClr val="201E1D"/>
                </a:solidFill>
                <a:latin typeface="Arial"/>
              </a:rPr>
              <a:t>Top-1 và Top-5 theo từng lớp bài toán (%)</a:t>
            </a:r>
          </a:p>
        </c:rich>
      </c:tx>
      <c:layout/>
      <c:overlay val="0"/>
    </c:title>
    <c:autoTitleDeleted val="0"/>
    <c:plotArea>
      <c:layout/>
      <c:barChart>
        <c:barDir val="col"/>
        <c:grouping val="clustered"/>
        <c:varyColors val="0"/>
        <c:ser>
          <c:idx val="0"/>
          <c:order val="0"/>
          <c:tx>
            <c:strRef>
              <c:f>Sheet1!$B$1</c:f>
              <c:strCache>
                <c:ptCount val="1"/>
                <c:pt idx="0">
                  <c:v>Top-1</c:v>
                </c:pt>
              </c:strCache>
            </c:strRef>
          </c:tx>
          <c:spPr>
            <a:solidFill>
              <a:srgbClr val="C67139"/>
            </a:solidFill>
            <a:effectLst/>
          </c:spPr>
          <c:invertIfNegative val="0"/>
          <c:dLbls>
            <c:numFmt formatCode="0" sourceLinked="0"/>
            <c:txPr>
              <a:bodyPr/>
              <a:lstStyle/>
              <a:p>
                <a:pPr>
                  <a:defRPr b="0" i="0" strike="noStrike" sz="850" u="none">
                    <a:solidFill>
                      <a:srgbClr val="645C50"/>
                    </a:solidFill>
                    <a:latin typeface="Arial"/>
                  </a:defRPr>
                </a:pPr>
              </a:p>
            </c:txPr>
            <c:showLegendKey val="0"/>
            <c:showVal val="1"/>
            <c:showCatName val="0"/>
            <c:showSerName val="0"/>
            <c:showPercent val="0"/>
            <c:showBubbleSize val="0"/>
            <c:showLeaderLines val="0"/>
          </c:dLbls>
          <c:cat>
            <c:multiLvlStrRef>
              <c:f>Sheet1!$A$2:$A$8</c:f>
              <c:multiLvlStrCache>
                <c:ptCount val="7"/>
                <c:lvl>
                  <c:pt idx="0">
                    <c:v>P1</c:v>
                  </c:pt>
                  <c:pt idx="1">
                    <c:v>P2</c:v>
                  </c:pt>
                  <c:pt idx="2">
                    <c:v>P3</c:v>
                  </c:pt>
                  <c:pt idx="3">
                    <c:v>P4</c:v>
                  </c:pt>
                  <c:pt idx="4">
                    <c:v>P5</c:v>
                  </c:pt>
                  <c:pt idx="5">
                    <c:v>P6</c:v>
                  </c:pt>
                  <c:pt idx="6">
                    <c:v>P7</c:v>
                  </c:pt>
                </c:lvl>
              </c:multiLvlStrCache>
            </c:multiLvlStrRef>
          </c:cat>
          <c:val>
            <c:numRef>
              <c:f>Sheet1!$B$2:$B$8</c:f>
              <c:numCache>
                <c:formatCode>General</c:formatCode>
                <c:ptCount val="7"/>
                <c:pt idx="0">
                  <c:v>85</c:v>
                </c:pt>
                <c:pt idx="1">
                  <c:v>55</c:v>
                </c:pt>
                <c:pt idx="2">
                  <c:v>85</c:v>
                </c:pt>
                <c:pt idx="3">
                  <c:v>66.7</c:v>
                </c:pt>
                <c:pt idx="4">
                  <c:v>86.7</c:v>
                </c:pt>
                <c:pt idx="5">
                  <c:v>87.5</c:v>
                </c:pt>
                <c:pt idx="6">
                  <c:v>40</c:v>
                </c:pt>
              </c:numCache>
            </c:numRef>
          </c:val>
        </c:ser>
        <c:ser>
          <c:idx val="1"/>
          <c:order val="1"/>
          <c:tx>
            <c:strRef>
              <c:f>Sheet1!$C$1</c:f>
              <c:strCache>
                <c:ptCount val="1"/>
                <c:pt idx="0">
                  <c:v>Top-5</c:v>
                </c:pt>
              </c:strCache>
            </c:strRef>
          </c:tx>
          <c:spPr>
            <a:solidFill>
              <a:srgbClr val="7A8A5E"/>
            </a:solidFill>
            <a:effectLst/>
          </c:spPr>
          <c:invertIfNegative val="0"/>
          <c:dLbls>
            <c:numFmt formatCode="0" sourceLinked="0"/>
            <c:txPr>
              <a:bodyPr/>
              <a:lstStyle/>
              <a:p>
                <a:pPr>
                  <a:defRPr b="0" i="0" strike="noStrike" sz="850" u="none">
                    <a:solidFill>
                      <a:srgbClr val="645C50"/>
                    </a:solidFill>
                    <a:latin typeface="Arial"/>
                  </a:defRPr>
                </a:pPr>
              </a:p>
            </c:txPr>
            <c:showLegendKey val="0"/>
            <c:showVal val="1"/>
            <c:showCatName val="0"/>
            <c:showSerName val="0"/>
            <c:showPercent val="0"/>
            <c:showBubbleSize val="0"/>
            <c:showLeaderLines val="0"/>
          </c:dLbls>
          <c:cat>
            <c:multiLvlStrRef>
              <c:f>Sheet1!$A$2:$A$8</c:f>
              <c:multiLvlStrCache>
                <c:ptCount val="7"/>
                <c:lvl>
                  <c:pt idx="0">
                    <c:v>P1</c:v>
                  </c:pt>
                  <c:pt idx="1">
                    <c:v>P2</c:v>
                  </c:pt>
                  <c:pt idx="2">
                    <c:v>P3</c:v>
                  </c:pt>
                  <c:pt idx="3">
                    <c:v>P4</c:v>
                  </c:pt>
                  <c:pt idx="4">
                    <c:v>P5</c:v>
                  </c:pt>
                  <c:pt idx="5">
                    <c:v>P6</c:v>
                  </c:pt>
                  <c:pt idx="6">
                    <c:v>P7</c:v>
                  </c:pt>
                </c:lvl>
              </c:multiLvlStrCache>
            </c:multiLvlStrRef>
          </c:cat>
          <c:val>
            <c:numRef>
              <c:f>Sheet1!$C$2:$C$8</c:f>
              <c:numCache>
                <c:formatCode>General</c:formatCode>
                <c:ptCount val="7"/>
                <c:pt idx="0">
                  <c:v>95</c:v>
                </c:pt>
                <c:pt idx="1">
                  <c:v>85</c:v>
                </c:pt>
                <c:pt idx="2">
                  <c:v>97.5</c:v>
                </c:pt>
                <c:pt idx="3">
                  <c:v>100</c:v>
                </c:pt>
                <c:pt idx="4">
                  <c:v>93.3</c:v>
                </c:pt>
                <c:pt idx="5">
                  <c:v>100</c:v>
                </c:pt>
                <c:pt idx="6">
                  <c:v>100</c:v>
                </c:pt>
              </c:numCache>
            </c:numRef>
          </c:val>
        </c:ser>
        <c:dLbls>
          <c:numFmt formatCode="0" sourceLinked="0"/>
          <c:txPr>
            <a:bodyPr/>
            <a:lstStyle/>
            <a:p>
              <a:pPr>
                <a:defRPr b="0" i="0" strike="noStrike" sz="850" u="none">
                  <a:solidFill>
                    <a:srgbClr val="645C5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5C5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CD3C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2796A"/>
                </a:solidFill>
                <a:latin typeface="Arial"/>
              </a:defRPr>
            </a:pPr>
            <a:endParaRPr lang="en-US"/>
          </a:p>
        </c:txPr>
        <c:crossAx val="2094734554"/>
        <c:crosses val="autoZero"/>
        <c:crossBetween val="between"/>
        <c:majorUnit val="25"/>
      </c:valAx>
      <c:spPr>
        <a:solidFill>
          <a:srgbClr val="F5EAD8"/>
        </a:solidFill>
        <a:ln>
          <a:noFill/>
        </a:ln>
        <a:effectLst/>
      </c:spPr>
    </c:plotArea>
    <c:legend>
      <c:legendPos val="t"/>
      <c:overlay val="0"/>
      <c:txPr>
        <a:bodyPr/>
        <a:lstStyle/>
        <a:p>
          <a:pPr>
            <a:defRPr sz="1000">
              <a:solidFill>
                <a:srgbClr val="645C50"/>
              </a:solidFill>
              <a:latin typeface="Arial"/>
              <a:cs typeface="Arial"/>
            </a:defRPr>
          </a:pPr>
          <a:endParaRPr lang="en-US"/>
        </a:p>
      </c:txPr>
    </c:legend>
    <c:plotVisOnly val="1"/>
    <c:dispBlanksAs val="span"/>
  </c:chart>
  <c:spPr>
    <a:solidFill>
      <a:srgbClr val="F5EAD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01E1D"/>
                </a:solidFill>
                <a:latin typeface="Arial"/>
              </a:defRPr>
            </a:pPr>
            <a:r>
              <a:rPr sz="1300" b="0" i="0" u="none" strike="noStrike">
                <a:solidFill>
                  <a:srgbClr val="201E1D"/>
                </a:solidFill>
                <a:latin typeface="Arial"/>
              </a:rPr>
              <a:t>Top-1 theo cấu hình — toàn bộ 120 câu hỏi</a:t>
            </a:r>
          </a:p>
        </c:rich>
      </c:tx>
      <c:layout/>
      <c:overlay val="0"/>
    </c:title>
    <c:autoTitleDeleted val="0"/>
    <c:plotArea>
      <c:layout/>
      <c:barChart>
        <c:barDir val="bar"/>
        <c:grouping val="clustered"/>
        <c:varyColors val="0"/>
        <c:ser>
          <c:idx val="0"/>
          <c:order val="0"/>
          <c:tx>
            <c:strRef>
              <c:f>Sheet1!$B$1</c:f>
              <c:strCache>
                <c:ptCount val="1"/>
                <c:pt idx="0">
                  <c:v>Top-1 (%)</c:v>
                </c:pt>
              </c:strCache>
            </c:strRef>
          </c:tx>
          <c:spPr>
            <a:solidFill>
              <a:srgbClr val="82796A"/>
            </a:solidFill>
            <a:effectLst/>
          </c:spPr>
          <c:invertIfNegative val="0"/>
          <c:dLbls>
            <c:numFmt formatCode="0.0" sourceLinked="0"/>
            <c:txPr>
              <a:bodyPr/>
              <a:lstStyle/>
              <a:p>
                <a:pPr>
                  <a:defRPr b="0" i="0" strike="noStrike" sz="1000" u="none">
                    <a:solidFill>
                      <a:srgbClr val="645C50"/>
                    </a:solidFill>
                    <a:latin typeface="Arial"/>
                  </a:defRPr>
                </a:pPr>
              </a:p>
            </c:txPr>
            <c:showLegendKey val="0"/>
            <c:showVal val="1"/>
            <c:showCatName val="0"/>
            <c:showSerName val="0"/>
            <c:showPercent val="0"/>
            <c:showBubbleSize val="0"/>
            <c:showLeaderLines val="0"/>
          </c:dLbls>
          <c:dPt>
            <c:idx val="0"/>
            <c:invertIfNegative val="0"/>
            <c:bubble3D val="0"/>
            <c:spPr>
              <a:solidFill>
                <a:srgbClr val="82796A"/>
              </a:solidFill>
              <a:effectLst/>
            </c:spPr>
          </c:dPt>
          <c:dPt>
            <c:idx val="1"/>
            <c:invertIfNegative val="0"/>
            <c:bubble3D val="0"/>
            <c:spPr>
              <a:solidFill>
                <a:srgbClr val="82796A"/>
              </a:solidFill>
              <a:effectLst/>
            </c:spPr>
          </c:dPt>
          <c:dPt>
            <c:idx val="2"/>
            <c:invertIfNegative val="0"/>
            <c:bubble3D val="0"/>
            <c:spPr>
              <a:solidFill>
                <a:srgbClr val="7A8A5E"/>
              </a:solidFill>
              <a:effectLst/>
            </c:spPr>
          </c:dPt>
          <c:dPt>
            <c:idx val="3"/>
            <c:invertIfNegative val="0"/>
            <c:bubble3D val="0"/>
            <c:spPr>
              <a:solidFill>
                <a:srgbClr val="C67139"/>
              </a:solidFill>
              <a:effectLst/>
            </c:spPr>
          </c:dPt>
          <c:cat>
            <c:multiLvlStrRef>
              <c:f>Sheet1!$A$2:$A$5</c:f>
              <c:multiLvlStrCache>
                <c:ptCount val="4"/>
                <c:lvl>
                  <c:pt idx="0">
                    <c:v>A. Chỉ TF-IDF</c:v>
                  </c:pt>
                  <c:pt idx="1">
                    <c:v>B. Chỉ keyphrase</c:v>
                  </c:pt>
                  <c:pt idx="2">
                    <c:v>C. Lai ba thành phần</c:v>
                  </c:pt>
                  <c:pt idx="3">
                    <c:v>D. C + suy diễn số học</c:v>
                  </c:pt>
                </c:lvl>
              </c:multiLvlStrCache>
            </c:multiLvlStrRef>
          </c:cat>
          <c:val>
            <c:numRef>
              <c:f>Sheet1!$B$2:$B$5</c:f>
              <c:numCache>
                <c:formatCode>General</c:formatCode>
                <c:ptCount val="4"/>
                <c:pt idx="0">
                  <c:v>58.3</c:v>
                </c:pt>
                <c:pt idx="1">
                  <c:v>35.8</c:v>
                </c:pt>
                <c:pt idx="2">
                  <c:v>66.7</c:v>
                </c:pt>
                <c:pt idx="3">
                  <c:v>76.7</c:v>
                </c:pt>
              </c:numCache>
            </c:numRef>
          </c:val>
        </c:ser>
        <c:dLbls>
          <c:numFmt formatCode="0.0" sourceLinked="0"/>
          <c:txPr>
            <a:bodyPr/>
            <a:lstStyle/>
            <a:p>
              <a:pPr>
                <a:defRPr b="0" i="0" strike="noStrike" sz="1000" u="none">
                  <a:solidFill>
                    <a:srgbClr val="645C5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45C5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CD3C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2796A"/>
                </a:solidFill>
                <a:latin typeface="Arial"/>
              </a:defRPr>
            </a:pPr>
            <a:endParaRPr lang="en-US"/>
          </a:p>
        </c:txPr>
        <c:crossAx val="2094734554"/>
        <c:crosses val="autoZero"/>
        <c:crossBetween val="between"/>
        <c:majorUnit val="25"/>
      </c:valAx>
      <c:spPr>
        <a:solidFill>
          <a:srgbClr val="F5EAD8"/>
        </a:solidFill>
        <a:ln>
          <a:noFill/>
        </a:ln>
        <a:effectLst/>
      </c:spPr>
    </c:plotArea>
    <c:plotVisOnly val="1"/>
    <c:dispBlanksAs val="span"/>
  </c:chart>
  <c:spPr>
    <a:solidFill>
      <a:srgbClr val="F5EAD8"/>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01E1D"/>
                </a:solidFill>
                <a:latin typeface="Arial"/>
              </a:defRPr>
            </a:pPr>
            <a:r>
              <a:rPr sz="1300" b="0" i="0" u="none" strike="noStrike">
                <a:solidFill>
                  <a:srgbClr val="201E1D"/>
                </a:solidFill>
                <a:latin typeface="Arial"/>
              </a:rPr>
              <a:t>Khả năng tách truy vấn ngoài lĩnh vực (AUC)</a:t>
            </a:r>
          </a:p>
        </c:rich>
      </c:tx>
      <c:layout/>
      <c:overlay val="0"/>
    </c:title>
    <c:autoTitleDeleted val="0"/>
    <c:plotArea>
      <c:layout/>
      <c:barChart>
        <c:barDir val="bar"/>
        <c:grouping val="clustered"/>
        <c:varyColors val="0"/>
        <c:ser>
          <c:idx val="0"/>
          <c:order val="0"/>
          <c:tx>
            <c:strRef>
              <c:f>Sheet1!$B$1</c:f>
              <c:strCache>
                <c:ptCount val="1"/>
                <c:pt idx="0">
                  <c:v>AUC</c:v>
                </c:pt>
              </c:strCache>
            </c:strRef>
          </c:tx>
          <c:spPr>
            <a:solidFill>
              <a:srgbClr val="82796A"/>
            </a:solidFill>
            <a:effectLst/>
          </c:spPr>
          <c:invertIfNegative val="0"/>
          <c:dLbls>
            <c:numFmt formatCode="0.000" sourceLinked="0"/>
            <c:txPr>
              <a:bodyPr/>
              <a:lstStyle/>
              <a:p>
                <a:pPr>
                  <a:defRPr b="0" i="0" strike="noStrike" sz="1000" u="none">
                    <a:solidFill>
                      <a:srgbClr val="645C50"/>
                    </a:solidFill>
                    <a:latin typeface="Arial"/>
                  </a:defRPr>
                </a:pPr>
              </a:p>
            </c:txPr>
            <c:showLegendKey val="0"/>
            <c:showVal val="1"/>
            <c:showCatName val="0"/>
            <c:showSerName val="0"/>
            <c:showPercent val="0"/>
            <c:showBubbleSize val="0"/>
            <c:showLeaderLines val="0"/>
          </c:dLbls>
          <c:dPt>
            <c:idx val="0"/>
            <c:invertIfNegative val="0"/>
            <c:bubble3D val="0"/>
            <c:spPr>
              <a:solidFill>
                <a:srgbClr val="82796A"/>
              </a:solidFill>
              <a:effectLst/>
            </c:spPr>
          </c:dPt>
          <c:dPt>
            <c:idx val="1"/>
            <c:invertIfNegative val="0"/>
            <c:bubble3D val="0"/>
            <c:spPr>
              <a:solidFill>
                <a:srgbClr val="7A8A5E"/>
              </a:solidFill>
              <a:effectLst/>
            </c:spPr>
          </c:dPt>
          <c:dPt>
            <c:idx val="2"/>
            <c:invertIfNegative val="0"/>
            <c:bubble3D val="0"/>
            <c:spPr>
              <a:solidFill>
                <a:srgbClr val="C0B6A5"/>
              </a:solidFill>
              <a:effectLst/>
            </c:spPr>
          </c:dPt>
          <c:dPt>
            <c:idx val="3"/>
            <c:invertIfNegative val="0"/>
            <c:bubble3D val="0"/>
            <c:spPr>
              <a:solidFill>
                <a:srgbClr val="C67139"/>
              </a:solidFill>
              <a:effectLst/>
            </c:spPr>
          </c:dPt>
          <c:cat>
            <c:multiLvlStrRef>
              <c:f>Sheet1!$A$2:$A$5</c:f>
              <c:multiLvlStrCache>
                <c:ptCount val="4"/>
                <c:lvl>
                  <c:pt idx="0">
                    <c:v>TF-IDF thô</c:v>
                  </c:pt>
                  <c:pt idx="1">
                    <c:v>số keyphrase</c:v>
                  </c:pt>
                  <c:pt idx="2">
                    <c:v>phủ từ vựng KB</c:v>
                  </c:pt>
                  <c:pt idx="3">
                    <c:v>dense</c:v>
                  </c:pt>
                </c:lvl>
              </c:multiLvlStrCache>
            </c:multiLvlStrRef>
          </c:cat>
          <c:val>
            <c:numRef>
              <c:f>Sheet1!$B$2:$B$5</c:f>
              <c:numCache>
                <c:formatCode>General</c:formatCode>
                <c:ptCount val="4"/>
                <c:pt idx="0">
                  <c:v>0.8746</c:v>
                </c:pt>
                <c:pt idx="1">
                  <c:v>0.95</c:v>
                </c:pt>
                <c:pt idx="2">
                  <c:v>0.7243</c:v>
                </c:pt>
                <c:pt idx="3">
                  <c:v>0.9958</c:v>
                </c:pt>
              </c:numCache>
            </c:numRef>
          </c:val>
        </c:ser>
        <c:dLbls>
          <c:numFmt formatCode="0.000" sourceLinked="0"/>
          <c:txPr>
            <a:bodyPr/>
            <a:lstStyle/>
            <a:p>
              <a:pPr>
                <a:defRPr b="0" i="0" strike="noStrike" sz="1000" u="none">
                  <a:solidFill>
                    <a:srgbClr val="645C5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45C50"/>
                </a:solidFill>
                <a:latin typeface="Arial"/>
              </a:defRPr>
            </a:pPr>
            <a:endParaRPr lang="en-US"/>
          </a:p>
        </c:txPr>
        <c:crossAx val="2094734552"/>
        <c:crosses val="autoZero"/>
        <c:auto val="1"/>
        <c:lblAlgn val="ctr"/>
        <c:noMultiLvlLbl val="1"/>
      </c:catAx>
      <c:valAx>
        <c:axId val="2094734552"/>
        <c:scaling>
          <c:orientation val="minMax"/>
          <c:max val="1.15"/>
          <c:min val="0"/>
        </c:scaling>
        <c:delete val="0"/>
        <c:axPos val="b"/>
        <c:majorGridlines>
          <c:spPr>
            <a:ln w="6350" cap="flat">
              <a:solidFill>
                <a:srgbClr val="DCD3C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82796A"/>
                </a:solidFill>
                <a:latin typeface="Arial"/>
              </a:defRPr>
            </a:pPr>
            <a:endParaRPr lang="en-US"/>
          </a:p>
        </c:txPr>
        <c:crossAx val="2094734554"/>
        <c:crosses val="autoZero"/>
        <c:crossBetween val="between"/>
        <c:majorUnit val="0.25"/>
      </c:valAx>
      <c:spPr>
        <a:solidFill>
          <a:srgbClr val="F5EAD8"/>
        </a:solidFill>
        <a:ln>
          <a:noFill/>
        </a:ln>
        <a:effectLst/>
      </c:spPr>
    </c:plotArea>
    <c:plotVisOnly val="1"/>
    <c:dispBlanksAs val="span"/>
  </c:chart>
  <c:spPr>
    <a:solidFill>
      <a:srgbClr val="F5EAD8"/>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hội đồng. Nhóm 7 lớp CS106.F31.CN2 báo cáo Đề tài 4 — hệ thống tra cứu kiến thức pháp luật giao thông đường bộ.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Vấn đề không phải thiếu thông tin mà là thông tin bị tách rời giữa luật và nghị định, lại còn đang bị sửa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phần giải trình: đề ghi 01 văn bản, nhóm dùng 4 và đây là quyết định thiết kế, không phải làm lệch đề.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tầng: phân tích truy vấn, suy diễn, sinh câu trả lời. Cơ sở tri thức đứng bên cạnh chứ không nằm trong tầng suy diễn.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vào ô ví dụ: chữ nhậu không có trong luật, B2 không khớp cụm nào, nhưng B5 vẫn ra đúng khung nhờ TF-IDF.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Bảy lớp bài toán phủ đủ hai yêu cầu của đề: tra cứu quy định và tra cứu theo ngữ nghĩa.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Chủ động nêu P2 và P7 trước khi hội đồng hỏi. Precision thấp là do thiết kế trả 5 kết quả, không phải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đáng tiền nhất của phần thực nghiệm: chứng minh trọng số không phải chọn cảm tính.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Docker và chạy script trước giờ trình bày ít nhất 5 phút. Dự phòng: bảng 12 ca nghiệm thu trong so_lieu/.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Chủ động nêu hạn chế trước khi hội đồng hỏi. Nhấn: đây là hạn chế ĐÃ ĐO, không phải chưa biết.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lại bằng kỷ luật đo đạc chứ không bằng con số. Sẵn sàng nhận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2B25"/>
        </a:solidFill>
      </p:bgPr>
    </p:bg>
    <p:spTree>
      <p:nvGrpSpPr>
        <p:cNvPr id="1" name=""/>
        <p:cNvGrpSpPr/>
        <p:nvPr/>
      </p:nvGrpSpPr>
      <p:grpSpPr>
        <a:xfrm>
          <a:off x="0" y="0"/>
          <a:ext cx="0" cy="0"/>
          <a:chOff x="0" y="0"/>
          <a:chExt cx="0" cy="0"/>
        </a:xfrm>
      </p:grpSpPr>
      <p:sp>
        <p:nvSpPr>
          <p:cNvPr id="2" name="Shape 0"/>
          <p:cNvSpPr/>
          <p:nvPr/>
        </p:nvSpPr>
        <p:spPr>
          <a:xfrm>
            <a:off x="9997135" y="-1737360"/>
            <a:ext cx="4572000" cy="4572000"/>
          </a:xfrm>
          <a:prstGeom prst="ellipse">
            <a:avLst/>
          </a:prstGeom>
          <a:solidFill>
            <a:srgbClr val="402310"/>
          </a:solidFill>
          <a:ln/>
        </p:spPr>
      </p:sp>
      <p:sp>
        <p:nvSpPr>
          <p:cNvPr id="3" name="Shape 1"/>
          <p:cNvSpPr/>
          <p:nvPr/>
        </p:nvSpPr>
        <p:spPr>
          <a:xfrm>
            <a:off x="-1371600" y="5486400"/>
            <a:ext cx="2926080" cy="2926080"/>
          </a:xfrm>
          <a:prstGeom prst="ellipse">
            <a:avLst/>
          </a:prstGeom>
          <a:solidFill>
            <a:srgbClr val="3D472B"/>
          </a:solidFill>
          <a:ln/>
        </p:spPr>
      </p:sp>
      <p:sp>
        <p:nvSpPr>
          <p:cNvPr id="4" name="Shape 2"/>
          <p:cNvSpPr/>
          <p:nvPr/>
        </p:nvSpPr>
        <p:spPr>
          <a:xfrm>
            <a:off x="685800" y="868680"/>
            <a:ext cx="2242109" cy="274320"/>
          </a:xfrm>
          <a:prstGeom prst="roundRect">
            <a:avLst>
              <a:gd name="adj" fmla="val 50000"/>
            </a:avLst>
          </a:prstGeom>
          <a:solidFill>
            <a:srgbClr val="C67139"/>
          </a:solidFill>
          <a:ln/>
        </p:spPr>
      </p:sp>
      <p:sp>
        <p:nvSpPr>
          <p:cNvPr id="5" name="Text 3"/>
          <p:cNvSpPr txBox="1"/>
          <p:nvPr/>
        </p:nvSpPr>
        <p:spPr>
          <a:xfrm>
            <a:off x="685800" y="868680"/>
            <a:ext cx="2242109" cy="274320"/>
          </a:xfrm>
          <a:prstGeom prst="rect">
            <a:avLst/>
          </a:prstGeom>
          <a:noFill/>
          <a:ln/>
        </p:spPr>
        <p:txBody>
          <a:bodyPr wrap="square" lIns="0" tIns="0" rIns="0" bIns="0" rtlCol="0" anchor="ctr"/>
          <a:lstStyle/>
          <a:p>
            <a:pPr algn="ctr" indent="0" marL="0">
              <a:buNone/>
            </a:pPr>
            <a:r>
              <a:rPr lang="en-US" sz="1200" b="1" dirty="0">
                <a:solidFill>
                  <a:srgbClr val="F5EAD8"/>
                </a:solidFill>
                <a:latin typeface="Arial" pitchFamily="34" charset="0"/>
                <a:ea typeface="Arial" pitchFamily="34" charset="-122"/>
                <a:cs typeface="Arial" pitchFamily="34" charset="-120"/>
              </a:rPr>
              <a:t>CS106 · TRÍ TUỆ NHÂN TẠO</a:t>
            </a:r>
            <a:endParaRPr lang="en-US" sz="1200" dirty="0"/>
          </a:p>
        </p:txBody>
      </p:sp>
      <p:sp>
        <p:nvSpPr>
          <p:cNvPr id="6" name="Text 4"/>
          <p:cNvSpPr txBox="1"/>
          <p:nvPr/>
        </p:nvSpPr>
        <p:spPr>
          <a:xfrm>
            <a:off x="685800" y="1417320"/>
            <a:ext cx="10820095" cy="457200"/>
          </a:xfrm>
          <a:prstGeom prst="rect">
            <a:avLst/>
          </a:prstGeom>
          <a:noFill/>
          <a:ln/>
        </p:spPr>
        <p:txBody>
          <a:bodyPr wrap="square" lIns="0" tIns="0" rIns="0" bIns="0" rtlCol="0" anchor="ctr"/>
          <a:lstStyle/>
          <a:p>
            <a:pPr indent="0" marL="0">
              <a:buNone/>
            </a:pPr>
            <a:r>
              <a:rPr lang="en-US" sz="2000" b="1" spc="300" kern="0" dirty="0">
                <a:solidFill>
                  <a:srgbClr val="F6A06B"/>
                </a:solidFill>
                <a:latin typeface="Arial" pitchFamily="34" charset="0"/>
                <a:ea typeface="Arial" pitchFamily="34" charset="-122"/>
                <a:cs typeface="Arial" pitchFamily="34" charset="-120"/>
              </a:rPr>
              <a:t>ĐỀ TÀI 4</a:t>
            </a:r>
            <a:endParaRPr lang="en-US" sz="2000" dirty="0"/>
          </a:p>
        </p:txBody>
      </p:sp>
      <p:sp>
        <p:nvSpPr>
          <p:cNvPr id="7" name="Text 5"/>
          <p:cNvSpPr txBox="1"/>
          <p:nvPr/>
        </p:nvSpPr>
        <p:spPr>
          <a:xfrm>
            <a:off x="685800" y="1874520"/>
            <a:ext cx="8778240" cy="1737360"/>
          </a:xfrm>
          <a:prstGeom prst="rect">
            <a:avLst/>
          </a:prstGeom>
          <a:noFill/>
          <a:ln/>
        </p:spPr>
        <p:txBody>
          <a:bodyPr wrap="square" lIns="0" tIns="0" rIns="0" bIns="0" rtlCol="0" anchor="ctr"/>
          <a:lstStyle/>
          <a:p>
            <a:pPr indent="0" marL="0">
              <a:lnSpc>
                <a:spcPts val="4600"/>
              </a:lnSpc>
              <a:buNone/>
            </a:pPr>
            <a:r>
              <a:rPr lang="en-US" sz="4000" b="1" dirty="0">
                <a:solidFill>
                  <a:srgbClr val="F9F4ED"/>
                </a:solidFill>
                <a:latin typeface="Arial" pitchFamily="34" charset="0"/>
                <a:ea typeface="Arial" pitchFamily="34" charset="-122"/>
                <a:cs typeface="Arial" pitchFamily="34" charset="-120"/>
              </a:rPr>
              <a:t>Xây dựng hệ thống</a:t>
            </a:r>
            <a:endParaRPr lang="en-US" sz="4000" dirty="0"/>
          </a:p>
          <a:p>
            <a:pPr indent="0" marL="0">
              <a:lnSpc>
                <a:spcPts val="4600"/>
              </a:lnSpc>
              <a:buNone/>
            </a:pPr>
            <a:r>
              <a:rPr lang="en-US" sz="4000" b="1" dirty="0">
                <a:solidFill>
                  <a:srgbClr val="F9F4ED"/>
                </a:solidFill>
                <a:latin typeface="Arial" pitchFamily="34" charset="0"/>
                <a:ea typeface="Arial" pitchFamily="34" charset="-122"/>
                <a:cs typeface="Arial" pitchFamily="34" charset="-120"/>
              </a:rPr>
              <a:t>tra cứu kiến thức pháp luật</a:t>
            </a:r>
            <a:endParaRPr lang="en-US" sz="4000" dirty="0"/>
          </a:p>
        </p:txBody>
      </p:sp>
      <p:sp>
        <p:nvSpPr>
          <p:cNvPr id="8" name="Text 6"/>
          <p:cNvSpPr txBox="1"/>
          <p:nvPr/>
        </p:nvSpPr>
        <p:spPr>
          <a:xfrm>
            <a:off x="685800" y="3657600"/>
            <a:ext cx="9326880" cy="329184"/>
          </a:xfrm>
          <a:prstGeom prst="rect">
            <a:avLst/>
          </a:prstGeom>
          <a:noFill/>
          <a:ln/>
        </p:spPr>
        <p:txBody>
          <a:bodyPr wrap="square" lIns="0" tIns="0" rIns="0" bIns="0" rtlCol="0" anchor="ctr"/>
          <a:lstStyle/>
          <a:p>
            <a:pPr indent="0" marL="0">
              <a:buNone/>
            </a:pPr>
            <a:r>
              <a:rPr lang="en-US" sz="1500" i="1" dirty="0">
                <a:solidFill>
                  <a:srgbClr val="C0B6A5"/>
                </a:solidFill>
                <a:latin typeface="Arial" pitchFamily="34" charset="0"/>
                <a:ea typeface="Arial" pitchFamily="34" charset="-122"/>
                <a:cs typeface="Arial" pitchFamily="34" charset="-120"/>
              </a:rPr>
              <a:t>Lĩnh vực: Giao thông đường bộ  ·  Luật 36/2024/QH15 và Nghị định 168/2024/NĐ-CP</a:t>
            </a:r>
            <a:endParaRPr lang="en-US" sz="1500" dirty="0"/>
          </a:p>
        </p:txBody>
      </p:sp>
      <p:sp>
        <p:nvSpPr>
          <p:cNvPr id="9" name="Shape 7"/>
          <p:cNvSpPr/>
          <p:nvPr/>
        </p:nvSpPr>
        <p:spPr>
          <a:xfrm>
            <a:off x="685800" y="4261104"/>
            <a:ext cx="5212080" cy="1554480"/>
          </a:xfrm>
          <a:prstGeom prst="roundRect">
            <a:avLst>
              <a:gd name="adj" fmla="val 8235"/>
            </a:avLst>
          </a:prstGeom>
          <a:solidFill>
            <a:srgbClr val="3A352D"/>
          </a:solidFill>
          <a:ln w="12700">
            <a:solidFill>
              <a:srgbClr val="56503F"/>
            </a:solidFill>
            <a:prstDash val="solid"/>
          </a:ln>
        </p:spPr>
      </p:sp>
      <p:sp>
        <p:nvSpPr>
          <p:cNvPr id="10" name="Text 8"/>
          <p:cNvSpPr txBox="1"/>
          <p:nvPr/>
        </p:nvSpPr>
        <p:spPr>
          <a:xfrm>
            <a:off x="978408" y="4443984"/>
            <a:ext cx="4663440" cy="1051560"/>
          </a:xfrm>
          <a:prstGeom prst="rect">
            <a:avLst/>
          </a:prstGeom>
          <a:noFill/>
          <a:ln/>
        </p:spPr>
        <p:txBody>
          <a:bodyPr wrap="square" lIns="0" tIns="0" rIns="0" bIns="0" rtlCol="0" anchor="ctr"/>
          <a:lstStyle/>
          <a:p>
            <a:pPr indent="0" marL="0">
              <a:buNone/>
            </a:pPr>
            <a:r>
              <a:rPr lang="en-US" sz="1100" dirty="0">
                <a:solidFill>
                  <a:srgbClr val="A19786"/>
                </a:solidFill>
                <a:latin typeface="Arial" pitchFamily="34" charset="0"/>
                <a:ea typeface="Arial" pitchFamily="34" charset="-122"/>
                <a:cs typeface="Arial" pitchFamily="34" charset="-120"/>
              </a:rPr>
              <a:t>Giảng viên hướng dẫn
</a:t>
            </a:r>
            <a:pPr indent="0" marL="0">
              <a:buNone/>
            </a:pPr>
            <a:r>
              <a:rPr lang="en-US" sz="1500" b="1" dirty="0">
                <a:solidFill>
                  <a:srgbClr val="F9F4ED"/>
                </a:solidFill>
                <a:latin typeface="Arial" pitchFamily="34" charset="0"/>
                <a:ea typeface="Arial" pitchFamily="34" charset="-122"/>
                <a:cs typeface="Arial" pitchFamily="34" charset="-120"/>
              </a:rPr>
              <a:t>PGS.TS. Nguyễn Đình Hiển
</a:t>
            </a:r>
            <a:pPr indent="0" marL="0">
              <a:buNone/>
            </a:pPr>
            <a:r>
              <a:rPr lang="en-US" sz="1200" dirty="0">
                <a:solidFill>
                  <a:srgbClr val="C0B6A5"/>
                </a:solidFill>
                <a:latin typeface="Arial" pitchFamily="34" charset="0"/>
                <a:ea typeface="Arial" pitchFamily="34" charset="-122"/>
                <a:cs typeface="Arial" pitchFamily="34" charset="-120"/>
              </a:rPr>
              <a:t>Lớp CS106.F31.CN2   ·   Nhóm 7   ·   7 thành viên</a:t>
            </a:r>
            <a:endParaRPr lang="en-US" sz="1100" dirty="0"/>
          </a:p>
        </p:txBody>
      </p:sp>
      <p:sp>
        <p:nvSpPr>
          <p:cNvPr id="11" name="Text 9"/>
          <p:cNvSpPr txBox="1"/>
          <p:nvPr/>
        </p:nvSpPr>
        <p:spPr>
          <a:xfrm>
            <a:off x="6263640" y="4261104"/>
            <a:ext cx="2926080" cy="1737360"/>
          </a:xfrm>
          <a:prstGeom prst="rect">
            <a:avLst/>
          </a:prstGeom>
          <a:noFill/>
          <a:ln/>
        </p:spPr>
        <p:txBody>
          <a:bodyPr wrap="square" lIns="0" tIns="0" rIns="0" bIns="0" rtlCol="0" anchor="ctr"/>
          <a:lstStyle/>
          <a:p>
            <a:pPr indent="0" marL="0">
              <a:lnSpc>
                <a:spcPts val="1600"/>
              </a:lnSpc>
              <a:buNone/>
            </a:pPr>
            <a:r>
              <a:rPr lang="en-US" sz="1150" dirty="0">
                <a:solidFill>
                  <a:srgbClr val="C0B6A5"/>
                </a:solidFill>
                <a:latin typeface="Arial" pitchFamily="34" charset="0"/>
                <a:ea typeface="Arial" pitchFamily="34" charset="-122"/>
                <a:cs typeface="Arial" pitchFamily="34" charset="-120"/>
              </a:rPr>
              <a:t>Nguyễn Quang Lâm</a:t>
            </a:r>
            <a:endParaRPr lang="en-US" sz="1150" dirty="0"/>
          </a:p>
          <a:p>
            <a:pPr indent="0" marL="0">
              <a:lnSpc>
                <a:spcPts val="1600"/>
              </a:lnSpc>
              <a:buNone/>
            </a:pPr>
            <a:r>
              <a:rPr lang="en-US" sz="1150" dirty="0">
                <a:solidFill>
                  <a:srgbClr val="C0B6A5"/>
                </a:solidFill>
                <a:latin typeface="Arial" pitchFamily="34" charset="0"/>
                <a:ea typeface="Arial" pitchFamily="34" charset="-122"/>
                <a:cs typeface="Arial" pitchFamily="34" charset="-120"/>
              </a:rPr>
              <a:t>Trần Trọng Tấn</a:t>
            </a:r>
            <a:endParaRPr lang="en-US" sz="1150" dirty="0"/>
          </a:p>
          <a:p>
            <a:pPr indent="0" marL="0">
              <a:lnSpc>
                <a:spcPts val="1600"/>
              </a:lnSpc>
              <a:buNone/>
            </a:pPr>
            <a:r>
              <a:rPr lang="en-US" sz="1150" dirty="0">
                <a:solidFill>
                  <a:srgbClr val="C0B6A5"/>
                </a:solidFill>
                <a:latin typeface="Arial" pitchFamily="34" charset="0"/>
                <a:ea typeface="Arial" pitchFamily="34" charset="-122"/>
                <a:cs typeface="Arial" pitchFamily="34" charset="-120"/>
              </a:rPr>
              <a:t>Lê Quang Thi</a:t>
            </a:r>
            <a:endParaRPr lang="en-US" sz="1150" dirty="0"/>
          </a:p>
          <a:p>
            <a:pPr indent="0" marL="0">
              <a:lnSpc>
                <a:spcPts val="1600"/>
              </a:lnSpc>
              <a:buNone/>
            </a:pPr>
            <a:r>
              <a:rPr lang="en-US" sz="1150" dirty="0">
                <a:solidFill>
                  <a:srgbClr val="C0B6A5"/>
                </a:solidFill>
                <a:latin typeface="Arial" pitchFamily="34" charset="0"/>
                <a:ea typeface="Arial" pitchFamily="34" charset="-122"/>
                <a:cs typeface="Arial" pitchFamily="34" charset="-120"/>
              </a:rPr>
              <a:t>Vỏ Cẩm Thu</a:t>
            </a:r>
            <a:endParaRPr lang="en-US" sz="1150" dirty="0"/>
          </a:p>
          <a:p>
            <a:pPr indent="0" marL="0">
              <a:lnSpc>
                <a:spcPts val="1600"/>
              </a:lnSpc>
              <a:buNone/>
            </a:pPr>
            <a:r>
              <a:rPr lang="en-US" sz="1150" dirty="0">
                <a:solidFill>
                  <a:srgbClr val="C0B6A5"/>
                </a:solidFill>
                <a:latin typeface="Arial" pitchFamily="34" charset="0"/>
                <a:ea typeface="Arial" pitchFamily="34" charset="-122"/>
                <a:cs typeface="Arial" pitchFamily="34" charset="-120"/>
              </a:rPr>
              <a:t>Nguyễn Trí Toàn</a:t>
            </a:r>
            <a:endParaRPr lang="en-US" sz="1150" dirty="0"/>
          </a:p>
          <a:p>
            <a:pPr indent="0" marL="0">
              <a:lnSpc>
                <a:spcPts val="1600"/>
              </a:lnSpc>
              <a:buNone/>
            </a:pPr>
            <a:r>
              <a:rPr lang="en-US" sz="1150" dirty="0">
                <a:solidFill>
                  <a:srgbClr val="C0B6A5"/>
                </a:solidFill>
                <a:latin typeface="Arial" pitchFamily="34" charset="0"/>
                <a:ea typeface="Arial" pitchFamily="34" charset="-122"/>
                <a:cs typeface="Arial" pitchFamily="34" charset="-120"/>
              </a:rPr>
              <a:t>Nguyễn Văn Thái</a:t>
            </a:r>
            <a:endParaRPr lang="en-US" sz="1150" dirty="0"/>
          </a:p>
          <a:p>
            <a:pPr indent="0" marL="0">
              <a:lnSpc>
                <a:spcPts val="1600"/>
              </a:lnSpc>
              <a:buNone/>
            </a:pPr>
            <a:r>
              <a:rPr lang="en-US" sz="1150" dirty="0">
                <a:solidFill>
                  <a:srgbClr val="C0B6A5"/>
                </a:solidFill>
                <a:latin typeface="Arial" pitchFamily="34" charset="0"/>
                <a:ea typeface="Arial" pitchFamily="34" charset="-122"/>
                <a:cs typeface="Arial" pitchFamily="34" charset="-120"/>
              </a:rPr>
              <a:t>Đỗ Quốc Hoàng</a:t>
            </a:r>
            <a:endParaRPr lang="en-US" sz="1150" dirty="0"/>
          </a:p>
        </p:txBody>
      </p:sp>
      <p:sp>
        <p:nvSpPr>
          <p:cNvPr id="12" name="Text 10"/>
          <p:cNvSpPr txBox="1"/>
          <p:nvPr/>
        </p:nvSpPr>
        <p:spPr>
          <a:xfrm>
            <a:off x="9235440" y="4261104"/>
            <a:ext cx="1371600" cy="1737360"/>
          </a:xfrm>
          <a:prstGeom prst="rect">
            <a:avLst/>
          </a:prstGeom>
          <a:noFill/>
          <a:ln/>
        </p:spPr>
        <p:txBody>
          <a:bodyPr wrap="square" lIns="0" tIns="0" rIns="0" bIns="0" rtlCol="0" anchor="ctr"/>
          <a:lstStyle/>
          <a:p>
            <a:pPr indent="0" marL="0">
              <a:lnSpc>
                <a:spcPts val="1600"/>
              </a:lnSpc>
              <a:buNone/>
            </a:pPr>
            <a:r>
              <a:rPr lang="en-US" sz="1150" dirty="0">
                <a:solidFill>
                  <a:srgbClr val="A19786"/>
                </a:solidFill>
                <a:latin typeface="Arial" pitchFamily="34" charset="0"/>
                <a:ea typeface="Arial" pitchFamily="34" charset="-122"/>
                <a:cs typeface="Arial" pitchFamily="34" charset="-120"/>
              </a:rPr>
              <a:t>25210289</a:t>
            </a:r>
            <a:endParaRPr lang="en-US" sz="1150" dirty="0"/>
          </a:p>
          <a:p>
            <a:pPr indent="0" marL="0">
              <a:lnSpc>
                <a:spcPts val="1600"/>
              </a:lnSpc>
              <a:buNone/>
            </a:pPr>
            <a:r>
              <a:rPr lang="en-US" sz="1150" dirty="0">
                <a:solidFill>
                  <a:srgbClr val="A19786"/>
                </a:solidFill>
                <a:latin typeface="Arial" pitchFamily="34" charset="0"/>
                <a:ea typeface="Arial" pitchFamily="34" charset="-122"/>
                <a:cs typeface="Arial" pitchFamily="34" charset="-120"/>
              </a:rPr>
              <a:t>25210334</a:t>
            </a:r>
            <a:endParaRPr lang="en-US" sz="1150" dirty="0"/>
          </a:p>
          <a:p>
            <a:pPr indent="0" marL="0">
              <a:lnSpc>
                <a:spcPts val="1600"/>
              </a:lnSpc>
              <a:buNone/>
            </a:pPr>
            <a:r>
              <a:rPr lang="en-US" sz="1150" dirty="0">
                <a:solidFill>
                  <a:srgbClr val="A19786"/>
                </a:solidFill>
                <a:latin typeface="Arial" pitchFamily="34" charset="0"/>
                <a:ea typeface="Arial" pitchFamily="34" charset="-122"/>
                <a:cs typeface="Arial" pitchFamily="34" charset="-120"/>
              </a:rPr>
              <a:t>25210337</a:t>
            </a:r>
            <a:endParaRPr lang="en-US" sz="1150" dirty="0"/>
          </a:p>
          <a:p>
            <a:pPr indent="0" marL="0">
              <a:lnSpc>
                <a:spcPts val="1600"/>
              </a:lnSpc>
              <a:buNone/>
            </a:pPr>
            <a:r>
              <a:rPr lang="en-US" sz="1150" dirty="0">
                <a:solidFill>
                  <a:srgbClr val="A19786"/>
                </a:solidFill>
                <a:latin typeface="Arial" pitchFamily="34" charset="0"/>
                <a:ea typeface="Arial" pitchFamily="34" charset="-122"/>
                <a:cs typeface="Arial" pitchFamily="34" charset="-120"/>
              </a:rPr>
              <a:t>25210342</a:t>
            </a:r>
            <a:endParaRPr lang="en-US" sz="1150" dirty="0"/>
          </a:p>
          <a:p>
            <a:pPr indent="0" marL="0">
              <a:lnSpc>
                <a:spcPts val="1600"/>
              </a:lnSpc>
              <a:buNone/>
            </a:pPr>
            <a:r>
              <a:rPr lang="en-US" sz="1150" dirty="0">
                <a:solidFill>
                  <a:srgbClr val="A19786"/>
                </a:solidFill>
                <a:latin typeface="Arial" pitchFamily="34" charset="0"/>
                <a:ea typeface="Arial" pitchFamily="34" charset="-122"/>
                <a:cs typeface="Arial" pitchFamily="34" charset="-120"/>
              </a:rPr>
              <a:t>26410135</a:t>
            </a:r>
            <a:endParaRPr lang="en-US" sz="1150" dirty="0"/>
          </a:p>
          <a:p>
            <a:pPr indent="0" marL="0">
              <a:lnSpc>
                <a:spcPts val="1600"/>
              </a:lnSpc>
              <a:buNone/>
            </a:pPr>
            <a:r>
              <a:rPr lang="en-US" sz="1150" dirty="0">
                <a:solidFill>
                  <a:srgbClr val="A19786"/>
                </a:solidFill>
                <a:latin typeface="Arial" pitchFamily="34" charset="0"/>
                <a:ea typeface="Arial" pitchFamily="34" charset="-122"/>
                <a:cs typeface="Arial" pitchFamily="34" charset="-120"/>
              </a:rPr>
              <a:t>26410108</a:t>
            </a:r>
            <a:endParaRPr lang="en-US" sz="1150" dirty="0"/>
          </a:p>
          <a:p>
            <a:pPr indent="0" marL="0">
              <a:lnSpc>
                <a:spcPts val="1600"/>
              </a:lnSpc>
              <a:buNone/>
            </a:pPr>
            <a:r>
              <a:rPr lang="en-US" sz="1150" dirty="0">
                <a:solidFill>
                  <a:srgbClr val="A19786"/>
                </a:solidFill>
                <a:latin typeface="Arial" pitchFamily="34" charset="0"/>
                <a:ea typeface="Arial" pitchFamily="34" charset="-122"/>
                <a:cs typeface="Arial" pitchFamily="34" charset="-120"/>
              </a:rPr>
              <a:t>26410043</a:t>
            </a:r>
            <a:endParaRPr lang="en-US" sz="1150" dirty="0"/>
          </a:p>
        </p:txBody>
      </p:sp>
      <p:sp>
        <p:nvSpPr>
          <p:cNvPr id="13" name="Text 11"/>
          <p:cNvSpPr txBox="1"/>
          <p:nvPr/>
        </p:nvSpPr>
        <p:spPr>
          <a:xfrm>
            <a:off x="685800" y="6291072"/>
            <a:ext cx="5486400" cy="274320"/>
          </a:xfrm>
          <a:prstGeom prst="rect">
            <a:avLst/>
          </a:prstGeom>
          <a:noFill/>
          <a:ln/>
        </p:spPr>
        <p:txBody>
          <a:bodyPr wrap="square" lIns="0" tIns="0" rIns="0" bIns="0" rtlCol="0" anchor="ctr"/>
          <a:lstStyle/>
          <a:p>
            <a:pPr indent="0" marL="0">
              <a:buNone/>
            </a:pPr>
            <a:r>
              <a:rPr lang="en-US" sz="1000" i="1" dirty="0">
                <a:solidFill>
                  <a:srgbClr val="82796A"/>
                </a:solidFill>
                <a:latin typeface="Arial" pitchFamily="34" charset="0"/>
                <a:ea typeface="Arial" pitchFamily="34" charset="-122"/>
                <a:cs typeface="Arial" pitchFamily="34" charset="-120"/>
              </a:rPr>
              <a:t>Thành phố Hồ Chí Minh, tháng 9 năm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200" b="1" spc="200" kern="0" dirty="0">
                <a:solidFill>
                  <a:srgbClr val="8C491A"/>
                </a:solidFill>
                <a:latin typeface="Arial" pitchFamily="34" charset="0"/>
                <a:ea typeface="Arial" pitchFamily="34" charset="-122"/>
                <a:cs typeface="Arial" pitchFamily="34" charset="-120"/>
              </a:rPr>
              <a:t>BÀI TOÁN</a:t>
            </a:r>
            <a:endParaRPr lang="en-US" sz="1200" dirty="0"/>
          </a:p>
        </p:txBody>
      </p:sp>
      <p:sp>
        <p:nvSpPr>
          <p:cNvPr id="3" name="Text 1"/>
          <p:cNvSpPr txBox="1"/>
          <p:nvPr/>
        </p:nvSpPr>
        <p:spPr>
          <a:xfrm>
            <a:off x="685800" y="658368"/>
            <a:ext cx="10820095" cy="566928"/>
          </a:xfrm>
          <a:prstGeom prst="rect">
            <a:avLst/>
          </a:prstGeom>
          <a:noFill/>
          <a:ln/>
        </p:spPr>
        <p:txBody>
          <a:bodyPr wrap="square" lIns="0" tIns="0" rIns="0" bIns="0" rtlCol="0" anchor="ctr"/>
          <a:lstStyle/>
          <a:p>
            <a:pPr indent="0" marL="0">
              <a:buNone/>
            </a:pPr>
            <a:r>
              <a:rPr lang="en-US" sz="3000" b="1" dirty="0">
                <a:solidFill>
                  <a:srgbClr val="201E1D"/>
                </a:solidFill>
                <a:latin typeface="Arial" pitchFamily="34" charset="0"/>
                <a:ea typeface="Arial" pitchFamily="34" charset="-122"/>
                <a:cs typeface="Arial" pitchFamily="34" charset="-120"/>
              </a:rPr>
              <a:t>Luật thì có, câu trả lời thì không</a:t>
            </a:r>
            <a:endParaRPr lang="en-US" sz="3000" dirty="0"/>
          </a:p>
        </p:txBody>
      </p:sp>
      <p:sp>
        <p:nvSpPr>
          <p:cNvPr id="4" name="Shape 2"/>
          <p:cNvSpPr/>
          <p:nvPr/>
        </p:nvSpPr>
        <p:spPr>
          <a:xfrm>
            <a:off x="685800" y="1572768"/>
            <a:ext cx="3465576" cy="2011680"/>
          </a:xfrm>
          <a:prstGeom prst="roundRect">
            <a:avLst>
              <a:gd name="adj" fmla="val 6364"/>
            </a:avLst>
          </a:prstGeom>
          <a:solidFill>
            <a:srgbClr val="F9F4ED"/>
          </a:solidFill>
          <a:ln w="12700">
            <a:solidFill>
              <a:srgbClr val="DCD3C4"/>
            </a:solidFill>
            <a:prstDash val="solid"/>
          </a:ln>
        </p:spPr>
      </p:sp>
      <p:sp>
        <p:nvSpPr>
          <p:cNvPr id="5" name="Shape 3"/>
          <p:cNvSpPr/>
          <p:nvPr/>
        </p:nvSpPr>
        <p:spPr>
          <a:xfrm>
            <a:off x="978408" y="1865376"/>
            <a:ext cx="420624" cy="420624"/>
          </a:xfrm>
          <a:prstGeom prst="ellipse">
            <a:avLst/>
          </a:prstGeom>
          <a:solidFill>
            <a:srgbClr val="C67139"/>
          </a:solidFill>
          <a:ln/>
        </p:spPr>
      </p:sp>
      <p:sp>
        <p:nvSpPr>
          <p:cNvPr id="6" name="Text 4"/>
          <p:cNvSpPr txBox="1"/>
          <p:nvPr/>
        </p:nvSpPr>
        <p:spPr>
          <a:xfrm>
            <a:off x="978408" y="1865376"/>
            <a:ext cx="420624" cy="420624"/>
          </a:xfrm>
          <a:prstGeom prst="rect">
            <a:avLst/>
          </a:prstGeom>
          <a:noFill/>
          <a:ln/>
        </p:spPr>
        <p:txBody>
          <a:bodyPr wrap="square" lIns="0" tIns="0" rIns="0" bIns="0" rtlCol="0" anchor="ctr"/>
          <a:lstStyle/>
          <a:p>
            <a:pPr algn="ctr" indent="0" marL="0">
              <a:buNone/>
            </a:pPr>
            <a:r>
              <a:rPr lang="en-US" sz="1400" b="1" dirty="0">
                <a:solidFill>
                  <a:srgbClr val="F5EAD8"/>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978408" y="2414016"/>
            <a:ext cx="2880360" cy="310896"/>
          </a:xfrm>
          <a:prstGeom prst="rect">
            <a:avLst/>
          </a:prstGeom>
          <a:noFill/>
          <a:ln/>
        </p:spPr>
        <p:txBody>
          <a:bodyPr wrap="square" lIns="0" tIns="0" rIns="0" bIns="0" rtlCol="0" anchor="ctr"/>
          <a:lstStyle/>
          <a:p>
            <a:pPr indent="0" marL="0">
              <a:buNone/>
            </a:pPr>
            <a:r>
              <a:rPr lang="en-US" sz="1500" b="1" dirty="0">
                <a:solidFill>
                  <a:srgbClr val="201E1D"/>
                </a:solidFill>
                <a:latin typeface="Arial" pitchFamily="34" charset="0"/>
                <a:ea typeface="Arial" pitchFamily="34" charset="-122"/>
                <a:cs typeface="Arial" pitchFamily="34" charset="-120"/>
              </a:rPr>
              <a:t>Hành vi nằm ở Luật</a:t>
            </a:r>
            <a:endParaRPr lang="en-US" sz="1500" dirty="0"/>
          </a:p>
        </p:txBody>
      </p:sp>
      <p:sp>
        <p:nvSpPr>
          <p:cNvPr id="8" name="Text 6"/>
          <p:cNvSpPr txBox="1"/>
          <p:nvPr/>
        </p:nvSpPr>
        <p:spPr>
          <a:xfrm>
            <a:off x="978408" y="2743200"/>
            <a:ext cx="2880360" cy="731520"/>
          </a:xfrm>
          <a:prstGeom prst="rect">
            <a:avLst/>
          </a:prstGeom>
          <a:noFill/>
          <a:ln/>
        </p:spPr>
        <p:txBody>
          <a:bodyPr wrap="square" lIns="0" tIns="0" rIns="0" bIns="0" rtlCol="0" anchor="ctr"/>
          <a:lstStyle/>
          <a:p>
            <a:pPr indent="0" marL="0">
              <a:lnSpc>
                <a:spcPts val="1500"/>
              </a:lnSpc>
              <a:buNone/>
            </a:pPr>
            <a:r>
              <a:rPr lang="en-US" sz="1150" dirty="0">
                <a:solidFill>
                  <a:srgbClr val="645C50"/>
                </a:solidFill>
                <a:latin typeface="Arial" pitchFamily="34" charset="0"/>
                <a:ea typeface="Arial" pitchFamily="34" charset="-122"/>
                <a:cs typeface="Arial" pitchFamily="34" charset="-120"/>
              </a:rPr>
              <a:t>Luật 36/2024/QH15 quy định hành vi nào bị nghiêm cấm — nhưng không hề nói phạt bao nhiêu.</a:t>
            </a:r>
            <a:endParaRPr lang="en-US" sz="1150" dirty="0"/>
          </a:p>
        </p:txBody>
      </p:sp>
      <p:sp>
        <p:nvSpPr>
          <p:cNvPr id="9" name="Shape 7"/>
          <p:cNvSpPr/>
          <p:nvPr/>
        </p:nvSpPr>
        <p:spPr>
          <a:xfrm>
            <a:off x="4361688" y="1572768"/>
            <a:ext cx="3465576" cy="2011680"/>
          </a:xfrm>
          <a:prstGeom prst="roundRect">
            <a:avLst>
              <a:gd name="adj" fmla="val 6364"/>
            </a:avLst>
          </a:prstGeom>
          <a:solidFill>
            <a:srgbClr val="F9F4ED"/>
          </a:solidFill>
          <a:ln w="12700">
            <a:solidFill>
              <a:srgbClr val="DCD3C4"/>
            </a:solidFill>
            <a:prstDash val="solid"/>
          </a:ln>
        </p:spPr>
      </p:sp>
      <p:sp>
        <p:nvSpPr>
          <p:cNvPr id="10" name="Shape 8"/>
          <p:cNvSpPr/>
          <p:nvPr/>
        </p:nvSpPr>
        <p:spPr>
          <a:xfrm>
            <a:off x="4654296" y="1865376"/>
            <a:ext cx="420624" cy="420624"/>
          </a:xfrm>
          <a:prstGeom prst="ellipse">
            <a:avLst/>
          </a:prstGeom>
          <a:solidFill>
            <a:srgbClr val="C67139"/>
          </a:solidFill>
          <a:ln/>
        </p:spPr>
      </p:sp>
      <p:sp>
        <p:nvSpPr>
          <p:cNvPr id="11" name="Text 9"/>
          <p:cNvSpPr txBox="1"/>
          <p:nvPr/>
        </p:nvSpPr>
        <p:spPr>
          <a:xfrm>
            <a:off x="4654296" y="1865376"/>
            <a:ext cx="420624" cy="420624"/>
          </a:xfrm>
          <a:prstGeom prst="rect">
            <a:avLst/>
          </a:prstGeom>
          <a:noFill/>
          <a:ln/>
        </p:spPr>
        <p:txBody>
          <a:bodyPr wrap="square" lIns="0" tIns="0" rIns="0" bIns="0" rtlCol="0" anchor="ctr"/>
          <a:lstStyle/>
          <a:p>
            <a:pPr algn="ctr" indent="0" marL="0">
              <a:buNone/>
            </a:pPr>
            <a:r>
              <a:rPr lang="en-US" sz="1400" b="1" dirty="0">
                <a:solidFill>
                  <a:srgbClr val="F5EAD8"/>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4654296" y="2414016"/>
            <a:ext cx="2880360" cy="310896"/>
          </a:xfrm>
          <a:prstGeom prst="rect">
            <a:avLst/>
          </a:prstGeom>
          <a:noFill/>
          <a:ln/>
        </p:spPr>
        <p:txBody>
          <a:bodyPr wrap="square" lIns="0" tIns="0" rIns="0" bIns="0" rtlCol="0" anchor="ctr"/>
          <a:lstStyle/>
          <a:p>
            <a:pPr indent="0" marL="0">
              <a:buNone/>
            </a:pPr>
            <a:r>
              <a:rPr lang="en-US" sz="1500" b="1" dirty="0">
                <a:solidFill>
                  <a:srgbClr val="201E1D"/>
                </a:solidFill>
                <a:latin typeface="Arial" pitchFamily="34" charset="0"/>
                <a:ea typeface="Arial" pitchFamily="34" charset="-122"/>
                <a:cs typeface="Arial" pitchFamily="34" charset="-120"/>
              </a:rPr>
              <a:t>Mức phạt nằm ở Nghị định</a:t>
            </a:r>
            <a:endParaRPr lang="en-US" sz="1500" dirty="0"/>
          </a:p>
        </p:txBody>
      </p:sp>
      <p:sp>
        <p:nvSpPr>
          <p:cNvPr id="13" name="Text 11"/>
          <p:cNvSpPr txBox="1"/>
          <p:nvPr/>
        </p:nvSpPr>
        <p:spPr>
          <a:xfrm>
            <a:off x="4654296" y="2743200"/>
            <a:ext cx="2880360" cy="731520"/>
          </a:xfrm>
          <a:prstGeom prst="rect">
            <a:avLst/>
          </a:prstGeom>
          <a:noFill/>
          <a:ln/>
        </p:spPr>
        <p:txBody>
          <a:bodyPr wrap="square" lIns="0" tIns="0" rIns="0" bIns="0" rtlCol="0" anchor="ctr"/>
          <a:lstStyle/>
          <a:p>
            <a:pPr indent="0" marL="0">
              <a:lnSpc>
                <a:spcPts val="1500"/>
              </a:lnSpc>
              <a:buNone/>
            </a:pPr>
            <a:r>
              <a:rPr lang="en-US" sz="1150" dirty="0">
                <a:solidFill>
                  <a:srgbClr val="645C50"/>
                </a:solidFill>
                <a:latin typeface="Arial" pitchFamily="34" charset="0"/>
                <a:ea typeface="Arial" pitchFamily="34" charset="-122"/>
                <a:cs typeface="Arial" pitchFamily="34" charset="-120"/>
              </a:rPr>
              <a:t>Toàn bộ chế tài — tiền phạt, trừ điểm GPLX — nằm ở Nghị định 168/2024/NĐ-CP.</a:t>
            </a:r>
            <a:endParaRPr lang="en-US" sz="1150" dirty="0"/>
          </a:p>
        </p:txBody>
      </p:sp>
      <p:sp>
        <p:nvSpPr>
          <p:cNvPr id="14" name="Shape 12"/>
          <p:cNvSpPr/>
          <p:nvPr/>
        </p:nvSpPr>
        <p:spPr>
          <a:xfrm>
            <a:off x="8037576" y="1572768"/>
            <a:ext cx="3465576" cy="2011680"/>
          </a:xfrm>
          <a:prstGeom prst="roundRect">
            <a:avLst>
              <a:gd name="adj" fmla="val 6364"/>
            </a:avLst>
          </a:prstGeom>
          <a:solidFill>
            <a:srgbClr val="F0FAE1"/>
          </a:solidFill>
          <a:ln w="12700">
            <a:solidFill>
              <a:srgbClr val="DCD3C4"/>
            </a:solidFill>
            <a:prstDash val="solid"/>
          </a:ln>
        </p:spPr>
      </p:sp>
      <p:sp>
        <p:nvSpPr>
          <p:cNvPr id="15" name="Shape 13"/>
          <p:cNvSpPr/>
          <p:nvPr/>
        </p:nvSpPr>
        <p:spPr>
          <a:xfrm>
            <a:off x="8330184" y="1865376"/>
            <a:ext cx="420624" cy="420624"/>
          </a:xfrm>
          <a:prstGeom prst="ellipse">
            <a:avLst/>
          </a:prstGeom>
          <a:solidFill>
            <a:srgbClr val="7A8A5E"/>
          </a:solidFill>
          <a:ln/>
        </p:spPr>
      </p:sp>
      <p:sp>
        <p:nvSpPr>
          <p:cNvPr id="16" name="Text 14"/>
          <p:cNvSpPr txBox="1"/>
          <p:nvPr/>
        </p:nvSpPr>
        <p:spPr>
          <a:xfrm>
            <a:off x="8330184" y="1865376"/>
            <a:ext cx="420624" cy="420624"/>
          </a:xfrm>
          <a:prstGeom prst="rect">
            <a:avLst/>
          </a:prstGeom>
          <a:noFill/>
          <a:ln/>
        </p:spPr>
        <p:txBody>
          <a:bodyPr wrap="square" lIns="0" tIns="0" rIns="0" bIns="0" rtlCol="0" anchor="ctr"/>
          <a:lstStyle/>
          <a:p>
            <a:pPr algn="ctr" indent="0" marL="0">
              <a:buNone/>
            </a:pPr>
            <a:r>
              <a:rPr lang="en-US" sz="1400" b="1" dirty="0">
                <a:solidFill>
                  <a:srgbClr val="F5EAD8"/>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8330184" y="2414016"/>
            <a:ext cx="2880360" cy="310896"/>
          </a:xfrm>
          <a:prstGeom prst="rect">
            <a:avLst/>
          </a:prstGeom>
          <a:noFill/>
          <a:ln/>
        </p:spPr>
        <p:txBody>
          <a:bodyPr wrap="square" lIns="0" tIns="0" rIns="0" bIns="0" rtlCol="0" anchor="ctr"/>
          <a:lstStyle/>
          <a:p>
            <a:pPr indent="0" marL="0">
              <a:buNone/>
            </a:pPr>
            <a:r>
              <a:rPr lang="en-US" sz="1500" b="1" dirty="0">
                <a:solidFill>
                  <a:srgbClr val="56633F"/>
                </a:solidFill>
                <a:latin typeface="Arial" pitchFamily="34" charset="0"/>
                <a:ea typeface="Arial" pitchFamily="34" charset="-122"/>
                <a:cs typeface="Arial" pitchFamily="34" charset="-120"/>
              </a:rPr>
              <a:t>Và cả hai đều đã bị sửa</a:t>
            </a:r>
            <a:endParaRPr lang="en-US" sz="1500" dirty="0"/>
          </a:p>
        </p:txBody>
      </p:sp>
      <p:sp>
        <p:nvSpPr>
          <p:cNvPr id="18" name="Text 16"/>
          <p:cNvSpPr txBox="1"/>
          <p:nvPr/>
        </p:nvSpPr>
        <p:spPr>
          <a:xfrm>
            <a:off x="8330184" y="2743200"/>
            <a:ext cx="2880360" cy="731520"/>
          </a:xfrm>
          <a:prstGeom prst="rect">
            <a:avLst/>
          </a:prstGeom>
          <a:noFill/>
          <a:ln/>
        </p:spPr>
        <p:txBody>
          <a:bodyPr wrap="square" lIns="0" tIns="0" rIns="0" bIns="0" rtlCol="0" anchor="ctr"/>
          <a:lstStyle/>
          <a:p>
            <a:pPr indent="0" marL="0">
              <a:lnSpc>
                <a:spcPts val="1500"/>
              </a:lnSpc>
              <a:buNone/>
            </a:pPr>
            <a:r>
              <a:rPr lang="en-US" sz="1150" dirty="0">
                <a:solidFill>
                  <a:srgbClr val="645C50"/>
                </a:solidFill>
                <a:latin typeface="Arial" pitchFamily="34" charset="0"/>
                <a:ea typeface="Arial" pitchFamily="34" charset="-122"/>
                <a:cs typeface="Arial" pitchFamily="34" charset="-120"/>
              </a:rPr>
              <a:t>Luật 118/2025 (01/7/2026) và NĐ 238/2026 (15/8/2026) sửa đổi cả hai văn bản trên.</a:t>
            </a:r>
            <a:endParaRPr lang="en-US" sz="1150" dirty="0"/>
          </a:p>
        </p:txBody>
      </p:sp>
      <p:sp>
        <p:nvSpPr>
          <p:cNvPr id="19" name="Shape 17"/>
          <p:cNvSpPr/>
          <p:nvPr/>
        </p:nvSpPr>
        <p:spPr>
          <a:xfrm>
            <a:off x="685800" y="3950208"/>
            <a:ext cx="10820095" cy="1371600"/>
          </a:xfrm>
          <a:prstGeom prst="roundRect">
            <a:avLst>
              <a:gd name="adj" fmla="val 9333"/>
            </a:avLst>
          </a:prstGeom>
          <a:solidFill>
            <a:srgbClr val="FFF2EB"/>
          </a:solidFill>
          <a:ln w="12700">
            <a:solidFill>
              <a:srgbClr val="FFC6A5"/>
            </a:solidFill>
            <a:prstDash val="solid"/>
          </a:ln>
        </p:spPr>
      </p:sp>
      <p:sp>
        <p:nvSpPr>
          <p:cNvPr id="20" name="Text 18"/>
          <p:cNvSpPr txBox="1"/>
          <p:nvPr/>
        </p:nvSpPr>
        <p:spPr>
          <a:xfrm>
            <a:off x="1069848" y="4151376"/>
            <a:ext cx="10051999" cy="402336"/>
          </a:xfrm>
          <a:prstGeom prst="rect">
            <a:avLst/>
          </a:prstGeom>
          <a:noFill/>
          <a:ln/>
        </p:spPr>
        <p:txBody>
          <a:bodyPr wrap="square" lIns="0" tIns="0" rIns="0" bIns="0" rtlCol="0" anchor="ctr"/>
          <a:lstStyle/>
          <a:p>
            <a:pPr indent="0" marL="0">
              <a:buNone/>
            </a:pPr>
            <a:r>
              <a:rPr lang="en-US" sz="2100" b="1" dirty="0">
                <a:solidFill>
                  <a:srgbClr val="8C491A"/>
                </a:solidFill>
                <a:latin typeface="Arial" pitchFamily="34" charset="0"/>
                <a:ea typeface="Arial" pitchFamily="34" charset="-122"/>
                <a:cs typeface="Arial" pitchFamily="34" charset="-120"/>
              </a:rPr>
              <a:t>“Vượt đèn đỏ xe máy phạt bao nhiêu?”</a:t>
            </a:r>
            <a:endParaRPr lang="en-US" sz="2100" dirty="0"/>
          </a:p>
        </p:txBody>
      </p:sp>
      <p:sp>
        <p:nvSpPr>
          <p:cNvPr id="21" name="Text 19"/>
          <p:cNvSpPr txBox="1"/>
          <p:nvPr/>
        </p:nvSpPr>
        <p:spPr>
          <a:xfrm>
            <a:off x="1069848" y="4590288"/>
            <a:ext cx="10051999" cy="640080"/>
          </a:xfrm>
          <a:prstGeom prst="rect">
            <a:avLst/>
          </a:prstGeom>
          <a:noFill/>
          <a:ln/>
        </p:spPr>
        <p:txBody>
          <a:bodyPr wrap="square" lIns="0" tIns="0" rIns="0" bIns="0" rtlCol="0" anchor="ctr"/>
          <a:lstStyle/>
          <a:p>
            <a:pPr indent="0" marL="0">
              <a:lnSpc>
                <a:spcPts val="1700"/>
              </a:lnSpc>
              <a:buNone/>
            </a:pPr>
            <a:r>
              <a:rPr lang="en-US" sz="1250" dirty="0">
                <a:solidFill>
                  <a:srgbClr val="645C50"/>
                </a:solidFill>
                <a:latin typeface="Arial" pitchFamily="34" charset="0"/>
                <a:ea typeface="Arial" pitchFamily="34" charset="-122"/>
                <a:cs typeface="Arial" pitchFamily="34" charset="-120"/>
              </a:rPr>
              <a:t>Câu hỏi phổ biến nhất của người dân — và không một văn bản đơn lẻ nào trả lời được. Phải đọc Luật để biết hành vi bị cấm, đọc Nghị định để biết mức phạt, rồi đối chiếu bản hợp nhất để chắc chắn đang đọc bản còn hiệu lực.</a:t>
            </a:r>
            <a:endParaRPr lang="en-US" sz="1250" dirty="0"/>
          </a:p>
        </p:txBody>
      </p:sp>
      <p:sp>
        <p:nvSpPr>
          <p:cNvPr id="22" name="Text 20"/>
          <p:cNvSpPr txBox="1"/>
          <p:nvPr/>
        </p:nvSpPr>
        <p:spPr>
          <a:xfrm>
            <a:off x="685800" y="5559552"/>
            <a:ext cx="10820095" cy="365760"/>
          </a:xfrm>
          <a:prstGeom prst="rect">
            <a:avLst/>
          </a:prstGeom>
          <a:noFill/>
          <a:ln/>
        </p:spPr>
        <p:txBody>
          <a:bodyPr wrap="square" lIns="0" tIns="0" rIns="0" bIns="0" rtlCol="0" anchor="ctr"/>
          <a:lstStyle/>
          <a:p>
            <a:pPr indent="0" marL="0">
              <a:buNone/>
            </a:pPr>
            <a:r>
              <a:rPr lang="en-US" sz="1400" b="1" dirty="0">
                <a:solidFill>
                  <a:srgbClr val="7A8A5E"/>
                </a:solidFill>
                <a:latin typeface="Arial" pitchFamily="34" charset="0"/>
                <a:ea typeface="Arial" pitchFamily="34" charset="-122"/>
                <a:cs typeface="Arial" pitchFamily="34" charset="-120"/>
              </a:rPr>
              <a:t>→  Mục tiêu: trả lời câu hỏi tiếng Việt tự nhiên, luôn kèm căn cứ điều – khoản – điểm truy nguyên được.</a:t>
            </a:r>
            <a:endParaRPr lang="en-US" sz="1400" dirty="0"/>
          </a:p>
        </p:txBody>
      </p:sp>
      <p:sp>
        <p:nvSpPr>
          <p:cNvPr id="23" name="Text 21"/>
          <p:cNvSpPr txBox="1"/>
          <p:nvPr/>
        </p:nvSpPr>
        <p:spPr>
          <a:xfrm>
            <a:off x="685800" y="6291072"/>
            <a:ext cx="9997135" cy="274320"/>
          </a:xfrm>
          <a:prstGeom prst="rect">
            <a:avLst/>
          </a:prstGeom>
          <a:noFill/>
          <a:ln/>
        </p:spPr>
        <p:txBody>
          <a:bodyPr wrap="square" lIns="0" tIns="0" rIns="0" bIns="0" rtlCol="0" anchor="ctr"/>
          <a:lstStyle/>
          <a:p>
            <a:pPr indent="0" marL="0">
              <a:buNone/>
            </a:pPr>
            <a:r>
              <a:rPr lang="en-US" sz="1000" i="1" dirty="0">
                <a:solidFill>
                  <a:srgbClr val="82796A"/>
                </a:solidFill>
                <a:latin typeface="Arial" pitchFamily="34" charset="0"/>
                <a:ea typeface="Arial" pitchFamily="34" charset="-122"/>
                <a:cs typeface="Arial" pitchFamily="34" charset="-120"/>
              </a:rPr>
              <a:t>Đề tài 4 · Nhóm 7</a:t>
            </a:r>
            <a:endParaRPr lang="en-US" sz="1000" dirty="0"/>
          </a:p>
        </p:txBody>
      </p:sp>
      <p:sp>
        <p:nvSpPr>
          <p:cNvPr id="24" name="Text 22"/>
          <p:cNvSpPr txBox="1"/>
          <p:nvPr/>
        </p:nvSpPr>
        <p:spPr>
          <a:xfrm>
            <a:off x="10865815" y="6291072"/>
            <a:ext cx="640080" cy="274320"/>
          </a:xfrm>
          <a:prstGeom prst="rect">
            <a:avLst/>
          </a:prstGeom>
          <a:noFill/>
          <a:ln/>
        </p:spPr>
        <p:txBody>
          <a:bodyPr wrap="square" lIns="0" tIns="0" rIns="0" bIns="0" rtlCol="0" anchor="ctr"/>
          <a:lstStyle/>
          <a:p>
            <a:pPr algn="r" indent="0" marL="0">
              <a:buNone/>
            </a:pPr>
            <a:r>
              <a:rPr lang="en-US" sz="1000" dirty="0">
                <a:solidFill>
                  <a:srgbClr val="82796A"/>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200" b="1" spc="200" kern="0" dirty="0">
                <a:solidFill>
                  <a:srgbClr val="8C491A"/>
                </a:solidFill>
                <a:latin typeface="Arial" pitchFamily="34" charset="0"/>
                <a:ea typeface="Arial" pitchFamily="34" charset="-122"/>
                <a:cs typeface="Arial" pitchFamily="34" charset="-120"/>
              </a:rPr>
              <a:t>CƠ SỞ TRI THỨC</a:t>
            </a:r>
            <a:endParaRPr lang="en-US" sz="1200" dirty="0"/>
          </a:p>
        </p:txBody>
      </p:sp>
      <p:sp>
        <p:nvSpPr>
          <p:cNvPr id="3" name="Text 1"/>
          <p:cNvSpPr txBox="1"/>
          <p:nvPr/>
        </p:nvSpPr>
        <p:spPr>
          <a:xfrm>
            <a:off x="685800" y="658368"/>
            <a:ext cx="10820095" cy="566928"/>
          </a:xfrm>
          <a:prstGeom prst="rect">
            <a:avLst/>
          </a:prstGeom>
          <a:noFill/>
          <a:ln/>
        </p:spPr>
        <p:txBody>
          <a:bodyPr wrap="square" lIns="0" tIns="0" rIns="0" bIns="0" rtlCol="0" anchor="ctr"/>
          <a:lstStyle/>
          <a:p>
            <a:pPr indent="0" marL="0">
              <a:buNone/>
            </a:pPr>
            <a:r>
              <a:rPr lang="en-US" sz="3000" b="1" dirty="0">
                <a:solidFill>
                  <a:srgbClr val="201E1D"/>
                </a:solidFill>
                <a:latin typeface="Arial" pitchFamily="34" charset="0"/>
                <a:ea typeface="Arial" pitchFamily="34" charset="-122"/>
                <a:cs typeface="Arial" pitchFamily="34" charset="-120"/>
              </a:rPr>
              <a:t>K = (C, R, Rules, F, Keyphrase)</a:t>
            </a:r>
            <a:endParaRPr lang="en-US" sz="3000" dirty="0"/>
          </a:p>
        </p:txBody>
      </p:sp>
      <p:sp>
        <p:nvSpPr>
          <p:cNvPr id="4" name="Shape 2"/>
          <p:cNvSpPr/>
          <p:nvPr/>
        </p:nvSpPr>
        <p:spPr>
          <a:xfrm>
            <a:off x="685800" y="1627632"/>
            <a:ext cx="1984248" cy="1572768"/>
          </a:xfrm>
          <a:prstGeom prst="roundRect">
            <a:avLst>
              <a:gd name="adj" fmla="val 8140"/>
            </a:avLst>
          </a:prstGeom>
          <a:solidFill>
            <a:srgbClr val="FFF2EB"/>
          </a:solidFill>
          <a:ln w="12700">
            <a:solidFill>
              <a:srgbClr val="FFC6A5"/>
            </a:solidFill>
            <a:prstDash val="solid"/>
          </a:ln>
        </p:spPr>
      </p:sp>
      <p:sp>
        <p:nvSpPr>
          <p:cNvPr id="5" name="Text 3"/>
          <p:cNvSpPr txBox="1"/>
          <p:nvPr/>
        </p:nvSpPr>
        <p:spPr>
          <a:xfrm>
            <a:off x="685800" y="1773936"/>
            <a:ext cx="1984248" cy="621792"/>
          </a:xfrm>
          <a:prstGeom prst="rect">
            <a:avLst/>
          </a:prstGeom>
          <a:noFill/>
          <a:ln/>
        </p:spPr>
        <p:txBody>
          <a:bodyPr wrap="square" lIns="0" tIns="0" rIns="0" bIns="0" rtlCol="0" anchor="ctr"/>
          <a:lstStyle/>
          <a:p>
            <a:pPr algn="ctr" indent="0" marL="0">
              <a:buNone/>
            </a:pPr>
            <a:r>
              <a:rPr lang="en-US" sz="3400" b="1" dirty="0">
                <a:solidFill>
                  <a:srgbClr val="C67139"/>
                </a:solidFill>
                <a:latin typeface="Arial" pitchFamily="34" charset="0"/>
                <a:ea typeface="Arial" pitchFamily="34" charset="-122"/>
                <a:cs typeface="Arial" pitchFamily="34" charset="-120"/>
              </a:rPr>
              <a:t>73</a:t>
            </a:r>
            <a:endParaRPr lang="en-US" sz="3400" dirty="0"/>
          </a:p>
        </p:txBody>
      </p:sp>
      <p:sp>
        <p:nvSpPr>
          <p:cNvPr id="6" name="Text 4"/>
          <p:cNvSpPr txBox="1"/>
          <p:nvPr/>
        </p:nvSpPr>
        <p:spPr>
          <a:xfrm>
            <a:off x="758952" y="2395728"/>
            <a:ext cx="1837944" cy="731520"/>
          </a:xfrm>
          <a:prstGeom prst="rect">
            <a:avLst/>
          </a:prstGeom>
          <a:noFill/>
          <a:ln/>
        </p:spPr>
        <p:txBody>
          <a:bodyPr wrap="square" lIns="0" tIns="0" rIns="0" bIns="0" rtlCol="0" anchor="ctr"/>
          <a:lstStyle/>
          <a:p>
            <a:pPr algn="ctr" indent="0" marL="0">
              <a:lnSpc>
                <a:spcPts val="1400"/>
              </a:lnSpc>
              <a:buNone/>
            </a:pPr>
            <a:r>
              <a:rPr lang="en-US" sz="1100" dirty="0">
                <a:solidFill>
                  <a:srgbClr val="645C50"/>
                </a:solidFill>
                <a:latin typeface="Arial" pitchFamily="34" charset="0"/>
                <a:ea typeface="Arial" pitchFamily="34" charset="-122"/>
                <a:cs typeface="Arial" pitchFamily="34" charset="-120"/>
              </a:rPr>
              <a:t>Khái niệm  C</a:t>
            </a:r>
            <a:endParaRPr lang="en-US" sz="1100" dirty="0"/>
          </a:p>
          <a:p>
            <a:pPr algn="ctr" indent="0" marL="0">
              <a:lnSpc>
                <a:spcPts val="1400"/>
              </a:lnSpc>
              <a:buNone/>
            </a:pPr>
            <a:r>
              <a:rPr lang="en-US" sz="1100" dirty="0">
                <a:solidFill>
                  <a:srgbClr val="645C50"/>
                </a:solidFill>
                <a:latin typeface="Arial" pitchFamily="34" charset="0"/>
                <a:ea typeface="Arial" pitchFamily="34" charset="-122"/>
                <a:cs typeface="Arial" pitchFamily="34" charset="-120"/>
              </a:rPr>
              <a:t>định nghĩa pháp lý</a:t>
            </a:r>
            <a:endParaRPr lang="en-US" sz="1100" dirty="0"/>
          </a:p>
        </p:txBody>
      </p:sp>
      <p:sp>
        <p:nvSpPr>
          <p:cNvPr id="7" name="Shape 5"/>
          <p:cNvSpPr/>
          <p:nvPr/>
        </p:nvSpPr>
        <p:spPr>
          <a:xfrm>
            <a:off x="2894076" y="1627632"/>
            <a:ext cx="1984248" cy="1572768"/>
          </a:xfrm>
          <a:prstGeom prst="roundRect">
            <a:avLst>
              <a:gd name="adj" fmla="val 8140"/>
            </a:avLst>
          </a:prstGeom>
          <a:solidFill>
            <a:srgbClr val="FFF2EB"/>
          </a:solidFill>
          <a:ln w="12700">
            <a:solidFill>
              <a:srgbClr val="FFC6A5"/>
            </a:solidFill>
            <a:prstDash val="solid"/>
          </a:ln>
        </p:spPr>
      </p:sp>
      <p:sp>
        <p:nvSpPr>
          <p:cNvPr id="8" name="Text 6"/>
          <p:cNvSpPr txBox="1"/>
          <p:nvPr/>
        </p:nvSpPr>
        <p:spPr>
          <a:xfrm>
            <a:off x="2894076" y="1773936"/>
            <a:ext cx="1984248" cy="621792"/>
          </a:xfrm>
          <a:prstGeom prst="rect">
            <a:avLst/>
          </a:prstGeom>
          <a:noFill/>
          <a:ln/>
        </p:spPr>
        <p:txBody>
          <a:bodyPr wrap="square" lIns="0" tIns="0" rIns="0" bIns="0" rtlCol="0" anchor="ctr"/>
          <a:lstStyle/>
          <a:p>
            <a:pPr algn="ctr" indent="0" marL="0">
              <a:buNone/>
            </a:pPr>
            <a:r>
              <a:rPr lang="en-US" sz="3400" b="1" dirty="0">
                <a:solidFill>
                  <a:srgbClr val="C67139"/>
                </a:solidFill>
                <a:latin typeface="Arial" pitchFamily="34" charset="0"/>
                <a:ea typeface="Arial" pitchFamily="34" charset="-122"/>
                <a:cs typeface="Arial" pitchFamily="34" charset="-120"/>
              </a:rPr>
              <a:t>482</a:t>
            </a:r>
            <a:endParaRPr lang="en-US" sz="3400" dirty="0"/>
          </a:p>
        </p:txBody>
      </p:sp>
      <p:sp>
        <p:nvSpPr>
          <p:cNvPr id="9" name="Text 7"/>
          <p:cNvSpPr txBox="1"/>
          <p:nvPr/>
        </p:nvSpPr>
        <p:spPr>
          <a:xfrm>
            <a:off x="2967228" y="2395728"/>
            <a:ext cx="1837944" cy="731520"/>
          </a:xfrm>
          <a:prstGeom prst="rect">
            <a:avLst/>
          </a:prstGeom>
          <a:noFill/>
          <a:ln/>
        </p:spPr>
        <p:txBody>
          <a:bodyPr wrap="square" lIns="0" tIns="0" rIns="0" bIns="0" rtlCol="0" anchor="ctr"/>
          <a:lstStyle/>
          <a:p>
            <a:pPr algn="ctr" indent="0" marL="0">
              <a:lnSpc>
                <a:spcPts val="1400"/>
              </a:lnSpc>
              <a:buNone/>
            </a:pPr>
            <a:r>
              <a:rPr lang="en-US" sz="1100" dirty="0">
                <a:solidFill>
                  <a:srgbClr val="645C50"/>
                </a:solidFill>
                <a:latin typeface="Arial" pitchFamily="34" charset="0"/>
                <a:ea typeface="Arial" pitchFamily="34" charset="-122"/>
                <a:cs typeface="Arial" pitchFamily="34" charset="-120"/>
              </a:rPr>
              <a:t>Quan hệ  R</a:t>
            </a:r>
            <a:endParaRPr lang="en-US" sz="1100" dirty="0"/>
          </a:p>
          <a:p>
            <a:pPr algn="ctr" indent="0" marL="0">
              <a:lnSpc>
                <a:spcPts val="1400"/>
              </a:lnSpc>
              <a:buNone/>
            </a:pPr>
            <a:r>
              <a:rPr lang="en-US" sz="1100" dirty="0">
                <a:solidFill>
                  <a:srgbClr val="645C50"/>
                </a:solidFill>
                <a:latin typeface="Arial" pitchFamily="34" charset="0"/>
                <a:ea typeface="Arial" pitchFamily="34" charset="-122"/>
                <a:cs typeface="Arial" pitchFamily="34" charset="-120"/>
              </a:rPr>
              <a:t>đồ thị nối tri thức</a:t>
            </a:r>
            <a:endParaRPr lang="en-US" sz="1100" dirty="0"/>
          </a:p>
        </p:txBody>
      </p:sp>
      <p:sp>
        <p:nvSpPr>
          <p:cNvPr id="10" name="Shape 8"/>
          <p:cNvSpPr/>
          <p:nvPr/>
        </p:nvSpPr>
        <p:spPr>
          <a:xfrm>
            <a:off x="5102352" y="1627632"/>
            <a:ext cx="1984248" cy="1572768"/>
          </a:xfrm>
          <a:prstGeom prst="roundRect">
            <a:avLst>
              <a:gd name="adj" fmla="val 8140"/>
            </a:avLst>
          </a:prstGeom>
          <a:solidFill>
            <a:srgbClr val="FFF2EB"/>
          </a:solidFill>
          <a:ln w="12700">
            <a:solidFill>
              <a:srgbClr val="FFC6A5"/>
            </a:solidFill>
            <a:prstDash val="solid"/>
          </a:ln>
        </p:spPr>
      </p:sp>
      <p:sp>
        <p:nvSpPr>
          <p:cNvPr id="11" name="Text 9"/>
          <p:cNvSpPr txBox="1"/>
          <p:nvPr/>
        </p:nvSpPr>
        <p:spPr>
          <a:xfrm>
            <a:off x="5102352" y="1773936"/>
            <a:ext cx="1984248" cy="621792"/>
          </a:xfrm>
          <a:prstGeom prst="rect">
            <a:avLst/>
          </a:prstGeom>
          <a:noFill/>
          <a:ln/>
        </p:spPr>
        <p:txBody>
          <a:bodyPr wrap="square" lIns="0" tIns="0" rIns="0" bIns="0" rtlCol="0" anchor="ctr"/>
          <a:lstStyle/>
          <a:p>
            <a:pPr algn="ctr" indent="0" marL="0">
              <a:buNone/>
            </a:pPr>
            <a:r>
              <a:rPr lang="en-US" sz="3400" b="1" dirty="0">
                <a:solidFill>
                  <a:srgbClr val="C67139"/>
                </a:solidFill>
                <a:latin typeface="Arial" pitchFamily="34" charset="0"/>
                <a:ea typeface="Arial" pitchFamily="34" charset="-122"/>
                <a:cs typeface="Arial" pitchFamily="34" charset="-120"/>
              </a:rPr>
              <a:t>109</a:t>
            </a:r>
            <a:endParaRPr lang="en-US" sz="3400" dirty="0"/>
          </a:p>
        </p:txBody>
      </p:sp>
      <p:sp>
        <p:nvSpPr>
          <p:cNvPr id="12" name="Text 10"/>
          <p:cNvSpPr txBox="1"/>
          <p:nvPr/>
        </p:nvSpPr>
        <p:spPr>
          <a:xfrm>
            <a:off x="5175504" y="2395728"/>
            <a:ext cx="1837944" cy="731520"/>
          </a:xfrm>
          <a:prstGeom prst="rect">
            <a:avLst/>
          </a:prstGeom>
          <a:noFill/>
          <a:ln/>
        </p:spPr>
        <p:txBody>
          <a:bodyPr wrap="square" lIns="0" tIns="0" rIns="0" bIns="0" rtlCol="0" anchor="ctr"/>
          <a:lstStyle/>
          <a:p>
            <a:pPr algn="ctr" indent="0" marL="0">
              <a:lnSpc>
                <a:spcPts val="1400"/>
              </a:lnSpc>
              <a:buNone/>
            </a:pPr>
            <a:r>
              <a:rPr lang="en-US" sz="1100" dirty="0">
                <a:solidFill>
                  <a:srgbClr val="645C50"/>
                </a:solidFill>
                <a:latin typeface="Arial" pitchFamily="34" charset="0"/>
                <a:ea typeface="Arial" pitchFamily="34" charset="-122"/>
                <a:cs typeface="Arial" pitchFamily="34" charset="-120"/>
              </a:rPr>
              <a:t>Quy tắc  Rules</a:t>
            </a:r>
            <a:endParaRPr lang="en-US" sz="1100" dirty="0"/>
          </a:p>
          <a:p>
            <a:pPr algn="ctr" indent="0" marL="0">
              <a:lnSpc>
                <a:spcPts val="1400"/>
              </a:lnSpc>
              <a:buNone/>
            </a:pPr>
            <a:r>
              <a:rPr lang="en-US" sz="1100" dirty="0">
                <a:solidFill>
                  <a:srgbClr val="645C50"/>
                </a:solidFill>
                <a:latin typeface="Arial" pitchFamily="34" charset="0"/>
                <a:ea typeface="Arial" pitchFamily="34" charset="-122"/>
                <a:cs typeface="Arial" pitchFamily="34" charset="-120"/>
              </a:rPr>
              <a:t>phải / không được làm</a:t>
            </a:r>
            <a:endParaRPr lang="en-US" sz="1100" dirty="0"/>
          </a:p>
        </p:txBody>
      </p:sp>
      <p:sp>
        <p:nvSpPr>
          <p:cNvPr id="13" name="Shape 11"/>
          <p:cNvSpPr/>
          <p:nvPr/>
        </p:nvSpPr>
        <p:spPr>
          <a:xfrm>
            <a:off x="7310628" y="1627632"/>
            <a:ext cx="1984248" cy="1572768"/>
          </a:xfrm>
          <a:prstGeom prst="roundRect">
            <a:avLst>
              <a:gd name="adj" fmla="val 8140"/>
            </a:avLst>
          </a:prstGeom>
          <a:solidFill>
            <a:srgbClr val="F0FAE1"/>
          </a:solidFill>
          <a:ln w="12700">
            <a:solidFill>
              <a:srgbClr val="CCDBB2"/>
            </a:solidFill>
            <a:prstDash val="solid"/>
          </a:ln>
        </p:spPr>
      </p:sp>
      <p:sp>
        <p:nvSpPr>
          <p:cNvPr id="14" name="Text 12"/>
          <p:cNvSpPr txBox="1"/>
          <p:nvPr/>
        </p:nvSpPr>
        <p:spPr>
          <a:xfrm>
            <a:off x="7310628" y="1773936"/>
            <a:ext cx="1984248" cy="621792"/>
          </a:xfrm>
          <a:prstGeom prst="rect">
            <a:avLst/>
          </a:prstGeom>
          <a:noFill/>
          <a:ln/>
        </p:spPr>
        <p:txBody>
          <a:bodyPr wrap="square" lIns="0" tIns="0" rIns="0" bIns="0" rtlCol="0" anchor="ctr"/>
          <a:lstStyle/>
          <a:p>
            <a:pPr algn="ctr" indent="0" marL="0">
              <a:buNone/>
            </a:pPr>
            <a:r>
              <a:rPr lang="en-US" sz="3400" b="1" dirty="0">
                <a:solidFill>
                  <a:srgbClr val="7A8A5E"/>
                </a:solidFill>
                <a:latin typeface="Arial" pitchFamily="34" charset="0"/>
                <a:ea typeface="Arial" pitchFamily="34" charset="-122"/>
                <a:cs typeface="Arial" pitchFamily="34" charset="-120"/>
              </a:rPr>
              <a:t>345</a:t>
            </a:r>
            <a:endParaRPr lang="en-US" sz="3400" dirty="0"/>
          </a:p>
        </p:txBody>
      </p:sp>
      <p:sp>
        <p:nvSpPr>
          <p:cNvPr id="15" name="Text 13"/>
          <p:cNvSpPr txBox="1"/>
          <p:nvPr/>
        </p:nvSpPr>
        <p:spPr>
          <a:xfrm>
            <a:off x="7383780" y="2395728"/>
            <a:ext cx="1837944" cy="731520"/>
          </a:xfrm>
          <a:prstGeom prst="rect">
            <a:avLst/>
          </a:prstGeom>
          <a:noFill/>
          <a:ln/>
        </p:spPr>
        <p:txBody>
          <a:bodyPr wrap="square" lIns="0" tIns="0" rIns="0" bIns="0" rtlCol="0" anchor="ctr"/>
          <a:lstStyle/>
          <a:p>
            <a:pPr algn="ctr" indent="0" marL="0">
              <a:lnSpc>
                <a:spcPts val="1400"/>
              </a:lnSpc>
              <a:buNone/>
            </a:pPr>
            <a:r>
              <a:rPr lang="en-US" sz="1100" dirty="0">
                <a:solidFill>
                  <a:srgbClr val="645C50"/>
                </a:solidFill>
                <a:latin typeface="Arial" pitchFamily="34" charset="0"/>
                <a:ea typeface="Arial" pitchFamily="34" charset="-122"/>
                <a:cs typeface="Arial" pitchFamily="34" charset="-120"/>
              </a:rPr>
              <a:t>Hành vi vi phạm  F</a:t>
            </a:r>
            <a:endParaRPr lang="en-US" sz="1100" dirty="0"/>
          </a:p>
          <a:p>
            <a:pPr algn="ctr" indent="0" marL="0">
              <a:lnSpc>
                <a:spcPts val="1400"/>
              </a:lnSpc>
              <a:buNone/>
            </a:pPr>
            <a:r>
              <a:rPr lang="en-US" sz="1100" dirty="0">
                <a:solidFill>
                  <a:srgbClr val="645C50"/>
                </a:solidFill>
                <a:latin typeface="Arial" pitchFamily="34" charset="0"/>
                <a:ea typeface="Arial" pitchFamily="34" charset="-122"/>
                <a:cs typeface="Arial" pitchFamily="34" charset="-120"/>
              </a:rPr>
              <a:t>kèm chế tài có kiểu</a:t>
            </a:r>
            <a:endParaRPr lang="en-US" sz="1100" dirty="0"/>
          </a:p>
        </p:txBody>
      </p:sp>
      <p:sp>
        <p:nvSpPr>
          <p:cNvPr id="16" name="Shape 14"/>
          <p:cNvSpPr/>
          <p:nvPr/>
        </p:nvSpPr>
        <p:spPr>
          <a:xfrm>
            <a:off x="9518904" y="1627632"/>
            <a:ext cx="1984248" cy="1572768"/>
          </a:xfrm>
          <a:prstGeom prst="roundRect">
            <a:avLst>
              <a:gd name="adj" fmla="val 8140"/>
            </a:avLst>
          </a:prstGeom>
          <a:solidFill>
            <a:srgbClr val="F0FAE1"/>
          </a:solidFill>
          <a:ln w="12700">
            <a:solidFill>
              <a:srgbClr val="CCDBB2"/>
            </a:solidFill>
            <a:prstDash val="solid"/>
          </a:ln>
        </p:spPr>
      </p:sp>
      <p:sp>
        <p:nvSpPr>
          <p:cNvPr id="17" name="Text 15"/>
          <p:cNvSpPr txBox="1"/>
          <p:nvPr/>
        </p:nvSpPr>
        <p:spPr>
          <a:xfrm>
            <a:off x="9518904" y="1773936"/>
            <a:ext cx="1984248" cy="621792"/>
          </a:xfrm>
          <a:prstGeom prst="rect">
            <a:avLst/>
          </a:prstGeom>
          <a:noFill/>
          <a:ln/>
        </p:spPr>
        <p:txBody>
          <a:bodyPr wrap="square" lIns="0" tIns="0" rIns="0" bIns="0" rtlCol="0" anchor="ctr"/>
          <a:lstStyle/>
          <a:p>
            <a:pPr algn="ctr" indent="0" marL="0">
              <a:buNone/>
            </a:pPr>
            <a:r>
              <a:rPr lang="en-US" sz="3400" b="1" dirty="0">
                <a:solidFill>
                  <a:srgbClr val="7A8A5E"/>
                </a:solidFill>
                <a:latin typeface="Arial" pitchFamily="34" charset="0"/>
                <a:ea typeface="Arial" pitchFamily="34" charset="-122"/>
                <a:cs typeface="Arial" pitchFamily="34" charset="-120"/>
              </a:rPr>
              <a:t>1.674</a:t>
            </a:r>
            <a:endParaRPr lang="en-US" sz="3400" dirty="0"/>
          </a:p>
        </p:txBody>
      </p:sp>
      <p:sp>
        <p:nvSpPr>
          <p:cNvPr id="18" name="Text 16"/>
          <p:cNvSpPr txBox="1"/>
          <p:nvPr/>
        </p:nvSpPr>
        <p:spPr>
          <a:xfrm>
            <a:off x="9592056" y="2395728"/>
            <a:ext cx="1837944" cy="731520"/>
          </a:xfrm>
          <a:prstGeom prst="rect">
            <a:avLst/>
          </a:prstGeom>
          <a:noFill/>
          <a:ln/>
        </p:spPr>
        <p:txBody>
          <a:bodyPr wrap="square" lIns="0" tIns="0" rIns="0" bIns="0" rtlCol="0" anchor="ctr"/>
          <a:lstStyle/>
          <a:p>
            <a:pPr algn="ctr" indent="0" marL="0">
              <a:lnSpc>
                <a:spcPts val="1400"/>
              </a:lnSpc>
              <a:buNone/>
            </a:pPr>
            <a:r>
              <a:rPr lang="en-US" sz="1100" dirty="0">
                <a:solidFill>
                  <a:srgbClr val="645C50"/>
                </a:solidFill>
                <a:latin typeface="Arial" pitchFamily="34" charset="0"/>
                <a:ea typeface="Arial" pitchFamily="34" charset="-122"/>
                <a:cs typeface="Arial" pitchFamily="34" charset="-120"/>
              </a:rPr>
              <a:t>Cụm từ khoá</a:t>
            </a:r>
            <a:endParaRPr lang="en-US" sz="1100" dirty="0"/>
          </a:p>
          <a:p>
            <a:pPr algn="ctr" indent="0" marL="0">
              <a:lnSpc>
                <a:spcPts val="1400"/>
              </a:lnSpc>
              <a:buNone/>
            </a:pPr>
            <a:r>
              <a:rPr lang="en-US" sz="1100" dirty="0">
                <a:solidFill>
                  <a:srgbClr val="645C50"/>
                </a:solidFill>
                <a:latin typeface="Arial" pitchFamily="34" charset="0"/>
                <a:ea typeface="Arial" pitchFamily="34" charset="-122"/>
                <a:cs typeface="Arial" pitchFamily="34" charset="-120"/>
              </a:rPr>
              <a:t>cầu nối ngôn ngữ người dùng</a:t>
            </a:r>
            <a:endParaRPr lang="en-US" sz="1100" dirty="0"/>
          </a:p>
        </p:txBody>
      </p:sp>
      <p:sp>
        <p:nvSpPr>
          <p:cNvPr id="19" name="Text 17"/>
          <p:cNvSpPr txBox="1"/>
          <p:nvPr/>
        </p:nvSpPr>
        <p:spPr>
          <a:xfrm>
            <a:off x="685800" y="3364992"/>
            <a:ext cx="10820095" cy="310896"/>
          </a:xfrm>
          <a:prstGeom prst="rect">
            <a:avLst/>
          </a:prstGeom>
          <a:noFill/>
          <a:ln/>
        </p:spPr>
        <p:txBody>
          <a:bodyPr wrap="square" lIns="0" tIns="0" rIns="0" bIns="0" rtlCol="0" anchor="ctr"/>
          <a:lstStyle/>
          <a:p>
            <a:pPr indent="0" marL="0">
              <a:buNone/>
            </a:pPr>
            <a:r>
              <a:rPr lang="en-US" sz="1300" i="1" dirty="0">
                <a:solidFill>
                  <a:srgbClr val="645C50"/>
                </a:solidFill>
                <a:latin typeface="Arial" pitchFamily="34" charset="0"/>
                <a:ea typeface="Arial" pitchFamily="34" charset="-122"/>
                <a:cs typeface="Arial" pitchFamily="34" charset="-120"/>
              </a:rPr>
              <a:t>Mọi mục tri thức đều mang căn cứ pháp lý (điều – khoản – điểm – văn bản) và khoảng hiệu lực (từ, đến).</a:t>
            </a:r>
            <a:endParaRPr lang="en-US" sz="1300" dirty="0"/>
          </a:p>
        </p:txBody>
      </p:sp>
      <p:sp>
        <p:nvSpPr>
          <p:cNvPr id="20" name="Shape 18"/>
          <p:cNvSpPr/>
          <p:nvPr/>
        </p:nvSpPr>
        <p:spPr>
          <a:xfrm>
            <a:off x="685800" y="3840480"/>
            <a:ext cx="6858000" cy="2103120"/>
          </a:xfrm>
          <a:prstGeom prst="roundRect">
            <a:avLst>
              <a:gd name="adj" fmla="val 6087"/>
            </a:avLst>
          </a:prstGeom>
          <a:solidFill>
            <a:srgbClr val="F9F4ED"/>
          </a:solidFill>
          <a:ln w="12700">
            <a:solidFill>
              <a:srgbClr val="DCD3C4"/>
            </a:solidFill>
            <a:prstDash val="solid"/>
          </a:ln>
        </p:spPr>
      </p:sp>
      <p:sp>
        <p:nvSpPr>
          <p:cNvPr id="21" name="Shape 19"/>
          <p:cNvSpPr/>
          <p:nvPr/>
        </p:nvSpPr>
        <p:spPr>
          <a:xfrm>
            <a:off x="996696" y="4041648"/>
            <a:ext cx="1678838" cy="274320"/>
          </a:xfrm>
          <a:prstGeom prst="roundRect">
            <a:avLst>
              <a:gd name="adj" fmla="val 50000"/>
            </a:avLst>
          </a:prstGeom>
          <a:solidFill>
            <a:srgbClr val="C67139"/>
          </a:solidFill>
          <a:ln/>
        </p:spPr>
      </p:sp>
      <p:sp>
        <p:nvSpPr>
          <p:cNvPr id="22" name="Text 20"/>
          <p:cNvSpPr txBox="1"/>
          <p:nvPr/>
        </p:nvSpPr>
        <p:spPr>
          <a:xfrm>
            <a:off x="996696" y="4041648"/>
            <a:ext cx="1678838" cy="274320"/>
          </a:xfrm>
          <a:prstGeom prst="rect">
            <a:avLst/>
          </a:prstGeom>
          <a:noFill/>
          <a:ln/>
        </p:spPr>
        <p:txBody>
          <a:bodyPr wrap="square" lIns="0" tIns="0" rIns="0" bIns="0" rtlCol="0" anchor="ctr"/>
          <a:lstStyle/>
          <a:p>
            <a:pPr algn="ctr" indent="0" marL="0">
              <a:buNone/>
            </a:pPr>
            <a:r>
              <a:rPr lang="en-US" sz="1000" b="1" dirty="0">
                <a:solidFill>
                  <a:srgbClr val="F5EAD8"/>
                </a:solidFill>
                <a:latin typeface="Arial" pitchFamily="34" charset="0"/>
                <a:ea typeface="Arial" pitchFamily="34" charset="-122"/>
                <a:cs typeface="Arial" pitchFamily="34" charset="-120"/>
              </a:rPr>
              <a:t>BỐN VĂN BẢN NGUỒN</a:t>
            </a:r>
            <a:endParaRPr lang="en-US" sz="1000" dirty="0"/>
          </a:p>
        </p:txBody>
      </p:sp>
      <p:sp>
        <p:nvSpPr>
          <p:cNvPr id="23" name="Text 21"/>
          <p:cNvSpPr txBox="1"/>
          <p:nvPr/>
        </p:nvSpPr>
        <p:spPr>
          <a:xfrm>
            <a:off x="996696" y="4462272"/>
            <a:ext cx="2377440" cy="274320"/>
          </a:xfrm>
          <a:prstGeom prst="rect">
            <a:avLst/>
          </a:prstGeom>
          <a:noFill/>
          <a:ln/>
        </p:spPr>
        <p:txBody>
          <a:bodyPr wrap="square" lIns="0" tIns="0" rIns="0" bIns="0" rtlCol="0" anchor="ctr"/>
          <a:lstStyle/>
          <a:p>
            <a:pPr indent="0" marL="0">
              <a:buNone/>
            </a:pPr>
            <a:r>
              <a:rPr lang="en-US" sz="1150" b="1" dirty="0">
                <a:solidFill>
                  <a:srgbClr val="201E1D"/>
                </a:solidFill>
                <a:latin typeface="Arial" pitchFamily="34" charset="0"/>
                <a:ea typeface="Arial" pitchFamily="34" charset="-122"/>
                <a:cs typeface="Arial" pitchFamily="34" charset="-120"/>
              </a:rPr>
              <a:t>Luật 36/2024/QH15</a:t>
            </a:r>
            <a:endParaRPr lang="en-US" sz="1150" dirty="0"/>
          </a:p>
        </p:txBody>
      </p:sp>
      <p:sp>
        <p:nvSpPr>
          <p:cNvPr id="24" name="Text 22"/>
          <p:cNvSpPr txBox="1"/>
          <p:nvPr/>
        </p:nvSpPr>
        <p:spPr>
          <a:xfrm>
            <a:off x="3429000" y="4462272"/>
            <a:ext cx="2834640" cy="274320"/>
          </a:xfrm>
          <a:prstGeom prst="rect">
            <a:avLst/>
          </a:prstGeom>
          <a:noFill/>
          <a:ln/>
        </p:spPr>
        <p:txBody>
          <a:bodyPr wrap="square" lIns="0" tIns="0" rIns="0" bIns="0" rtlCol="0" anchor="ctr"/>
          <a:lstStyle/>
          <a:p>
            <a:pPr indent="0" marL="0">
              <a:buNone/>
            </a:pPr>
            <a:r>
              <a:rPr lang="en-US" sz="1150" dirty="0">
                <a:solidFill>
                  <a:srgbClr val="645C50"/>
                </a:solidFill>
                <a:latin typeface="Arial" pitchFamily="34" charset="0"/>
                <a:ea typeface="Arial" pitchFamily="34" charset="-122"/>
                <a:cs typeface="Arial" pitchFamily="34" charset="-120"/>
              </a:rPr>
              <a:t>văn bản chính — hành vi bị cấm</a:t>
            </a:r>
            <a:endParaRPr lang="en-US" sz="1150" dirty="0"/>
          </a:p>
        </p:txBody>
      </p:sp>
      <p:sp>
        <p:nvSpPr>
          <p:cNvPr id="25" name="Text 23"/>
          <p:cNvSpPr txBox="1"/>
          <p:nvPr/>
        </p:nvSpPr>
        <p:spPr>
          <a:xfrm>
            <a:off x="6217920" y="4462272"/>
            <a:ext cx="1005840" cy="274320"/>
          </a:xfrm>
          <a:prstGeom prst="rect">
            <a:avLst/>
          </a:prstGeom>
          <a:noFill/>
          <a:ln/>
        </p:spPr>
        <p:txBody>
          <a:bodyPr wrap="square" lIns="0" tIns="0" rIns="0" bIns="0" rtlCol="0" anchor="ctr"/>
          <a:lstStyle/>
          <a:p>
            <a:pPr algn="r" indent="0" marL="0">
              <a:buNone/>
            </a:pPr>
            <a:r>
              <a:rPr lang="en-US" sz="1150" dirty="0">
                <a:solidFill>
                  <a:srgbClr val="82796A"/>
                </a:solidFill>
                <a:latin typeface="Arial" pitchFamily="34" charset="0"/>
                <a:ea typeface="Arial" pitchFamily="34" charset="-122"/>
                <a:cs typeface="Arial" pitchFamily="34" charset="-120"/>
              </a:rPr>
              <a:t>01/01/2025</a:t>
            </a:r>
            <a:endParaRPr lang="en-US" sz="1150" dirty="0"/>
          </a:p>
        </p:txBody>
      </p:sp>
      <p:sp>
        <p:nvSpPr>
          <p:cNvPr id="26" name="Text 24"/>
          <p:cNvSpPr txBox="1"/>
          <p:nvPr/>
        </p:nvSpPr>
        <p:spPr>
          <a:xfrm>
            <a:off x="996696" y="4800600"/>
            <a:ext cx="2377440" cy="274320"/>
          </a:xfrm>
          <a:prstGeom prst="rect">
            <a:avLst/>
          </a:prstGeom>
          <a:noFill/>
          <a:ln/>
        </p:spPr>
        <p:txBody>
          <a:bodyPr wrap="square" lIns="0" tIns="0" rIns="0" bIns="0" rtlCol="0" anchor="ctr"/>
          <a:lstStyle/>
          <a:p>
            <a:pPr indent="0" marL="0">
              <a:buNone/>
            </a:pPr>
            <a:r>
              <a:rPr lang="en-US" sz="1150" b="1" dirty="0">
                <a:solidFill>
                  <a:srgbClr val="201E1D"/>
                </a:solidFill>
                <a:latin typeface="Arial" pitchFamily="34" charset="0"/>
                <a:ea typeface="Arial" pitchFamily="34" charset="-122"/>
                <a:cs typeface="Arial" pitchFamily="34" charset="-120"/>
              </a:rPr>
              <a:t>Nghị định 168/2024/NĐ-CP</a:t>
            </a:r>
            <a:endParaRPr lang="en-US" sz="1150" dirty="0"/>
          </a:p>
        </p:txBody>
      </p:sp>
      <p:sp>
        <p:nvSpPr>
          <p:cNvPr id="27" name="Text 25"/>
          <p:cNvSpPr txBox="1"/>
          <p:nvPr/>
        </p:nvSpPr>
        <p:spPr>
          <a:xfrm>
            <a:off x="3429000" y="4800600"/>
            <a:ext cx="2834640" cy="274320"/>
          </a:xfrm>
          <a:prstGeom prst="rect">
            <a:avLst/>
          </a:prstGeom>
          <a:noFill/>
          <a:ln/>
        </p:spPr>
        <p:txBody>
          <a:bodyPr wrap="square" lIns="0" tIns="0" rIns="0" bIns="0" rtlCol="0" anchor="ctr"/>
          <a:lstStyle/>
          <a:p>
            <a:pPr indent="0" marL="0">
              <a:buNone/>
            </a:pPr>
            <a:r>
              <a:rPr lang="en-US" sz="1150" dirty="0">
                <a:solidFill>
                  <a:srgbClr val="645C50"/>
                </a:solidFill>
                <a:latin typeface="Arial" pitchFamily="34" charset="0"/>
                <a:ea typeface="Arial" pitchFamily="34" charset="-122"/>
                <a:cs typeface="Arial" pitchFamily="34" charset="-120"/>
              </a:rPr>
              <a:t>văn bản chế tài — mức phạt</a:t>
            </a:r>
            <a:endParaRPr lang="en-US" sz="1150" dirty="0"/>
          </a:p>
        </p:txBody>
      </p:sp>
      <p:sp>
        <p:nvSpPr>
          <p:cNvPr id="28" name="Text 26"/>
          <p:cNvSpPr txBox="1"/>
          <p:nvPr/>
        </p:nvSpPr>
        <p:spPr>
          <a:xfrm>
            <a:off x="6217920" y="4800600"/>
            <a:ext cx="1005840" cy="274320"/>
          </a:xfrm>
          <a:prstGeom prst="rect">
            <a:avLst/>
          </a:prstGeom>
          <a:noFill/>
          <a:ln/>
        </p:spPr>
        <p:txBody>
          <a:bodyPr wrap="square" lIns="0" tIns="0" rIns="0" bIns="0" rtlCol="0" anchor="ctr"/>
          <a:lstStyle/>
          <a:p>
            <a:pPr algn="r" indent="0" marL="0">
              <a:buNone/>
            </a:pPr>
            <a:r>
              <a:rPr lang="en-US" sz="1150" dirty="0">
                <a:solidFill>
                  <a:srgbClr val="82796A"/>
                </a:solidFill>
                <a:latin typeface="Arial" pitchFamily="34" charset="0"/>
                <a:ea typeface="Arial" pitchFamily="34" charset="-122"/>
                <a:cs typeface="Arial" pitchFamily="34" charset="-120"/>
              </a:rPr>
              <a:t>01/01/2025</a:t>
            </a:r>
            <a:endParaRPr lang="en-US" sz="1150" dirty="0"/>
          </a:p>
        </p:txBody>
      </p:sp>
      <p:sp>
        <p:nvSpPr>
          <p:cNvPr id="29" name="Text 27"/>
          <p:cNvSpPr txBox="1"/>
          <p:nvPr/>
        </p:nvSpPr>
        <p:spPr>
          <a:xfrm>
            <a:off x="996696" y="5138928"/>
            <a:ext cx="2377440" cy="274320"/>
          </a:xfrm>
          <a:prstGeom prst="rect">
            <a:avLst/>
          </a:prstGeom>
          <a:noFill/>
          <a:ln/>
        </p:spPr>
        <p:txBody>
          <a:bodyPr wrap="square" lIns="0" tIns="0" rIns="0" bIns="0" rtlCol="0" anchor="ctr"/>
          <a:lstStyle/>
          <a:p>
            <a:pPr indent="0" marL="0">
              <a:buNone/>
            </a:pPr>
            <a:r>
              <a:rPr lang="en-US" sz="1150" b="1" dirty="0">
                <a:solidFill>
                  <a:srgbClr val="201E1D"/>
                </a:solidFill>
                <a:latin typeface="Arial" pitchFamily="34" charset="0"/>
                <a:ea typeface="Arial" pitchFamily="34" charset="-122"/>
                <a:cs typeface="Arial" pitchFamily="34" charset="-120"/>
              </a:rPr>
              <a:t>Luật 118/2025/QH15</a:t>
            </a:r>
            <a:endParaRPr lang="en-US" sz="1150" dirty="0"/>
          </a:p>
        </p:txBody>
      </p:sp>
      <p:sp>
        <p:nvSpPr>
          <p:cNvPr id="30" name="Text 28"/>
          <p:cNvSpPr txBox="1"/>
          <p:nvPr/>
        </p:nvSpPr>
        <p:spPr>
          <a:xfrm>
            <a:off x="3429000" y="5138928"/>
            <a:ext cx="2834640" cy="274320"/>
          </a:xfrm>
          <a:prstGeom prst="rect">
            <a:avLst/>
          </a:prstGeom>
          <a:noFill/>
          <a:ln/>
        </p:spPr>
        <p:txBody>
          <a:bodyPr wrap="square" lIns="0" tIns="0" rIns="0" bIns="0" rtlCol="0" anchor="ctr"/>
          <a:lstStyle/>
          <a:p>
            <a:pPr indent="0" marL="0">
              <a:buNone/>
            </a:pPr>
            <a:r>
              <a:rPr lang="en-US" sz="1150" dirty="0">
                <a:solidFill>
                  <a:srgbClr val="645C50"/>
                </a:solidFill>
                <a:latin typeface="Arial" pitchFamily="34" charset="0"/>
                <a:ea typeface="Arial" pitchFamily="34" charset="-122"/>
                <a:cs typeface="Arial" pitchFamily="34" charset="-120"/>
              </a:rPr>
              <a:t>sửa đổi Luật 36/2024</a:t>
            </a:r>
            <a:endParaRPr lang="en-US" sz="1150" dirty="0"/>
          </a:p>
        </p:txBody>
      </p:sp>
      <p:sp>
        <p:nvSpPr>
          <p:cNvPr id="31" name="Text 29"/>
          <p:cNvSpPr txBox="1"/>
          <p:nvPr/>
        </p:nvSpPr>
        <p:spPr>
          <a:xfrm>
            <a:off x="6217920" y="5138928"/>
            <a:ext cx="1005840" cy="274320"/>
          </a:xfrm>
          <a:prstGeom prst="rect">
            <a:avLst/>
          </a:prstGeom>
          <a:noFill/>
          <a:ln/>
        </p:spPr>
        <p:txBody>
          <a:bodyPr wrap="square" lIns="0" tIns="0" rIns="0" bIns="0" rtlCol="0" anchor="ctr"/>
          <a:lstStyle/>
          <a:p>
            <a:pPr algn="r" indent="0" marL="0">
              <a:buNone/>
            </a:pPr>
            <a:r>
              <a:rPr lang="en-US" sz="1150" dirty="0">
                <a:solidFill>
                  <a:srgbClr val="82796A"/>
                </a:solidFill>
                <a:latin typeface="Arial" pitchFamily="34" charset="0"/>
                <a:ea typeface="Arial" pitchFamily="34" charset="-122"/>
                <a:cs typeface="Arial" pitchFamily="34" charset="-120"/>
              </a:rPr>
              <a:t>01/7/2026</a:t>
            </a:r>
            <a:endParaRPr lang="en-US" sz="1150" dirty="0"/>
          </a:p>
        </p:txBody>
      </p:sp>
      <p:sp>
        <p:nvSpPr>
          <p:cNvPr id="32" name="Text 30"/>
          <p:cNvSpPr txBox="1"/>
          <p:nvPr/>
        </p:nvSpPr>
        <p:spPr>
          <a:xfrm>
            <a:off x="996696" y="5477256"/>
            <a:ext cx="2377440" cy="274320"/>
          </a:xfrm>
          <a:prstGeom prst="rect">
            <a:avLst/>
          </a:prstGeom>
          <a:noFill/>
          <a:ln/>
        </p:spPr>
        <p:txBody>
          <a:bodyPr wrap="square" lIns="0" tIns="0" rIns="0" bIns="0" rtlCol="0" anchor="ctr"/>
          <a:lstStyle/>
          <a:p>
            <a:pPr indent="0" marL="0">
              <a:buNone/>
            </a:pPr>
            <a:r>
              <a:rPr lang="en-US" sz="1150" b="1" dirty="0">
                <a:solidFill>
                  <a:srgbClr val="201E1D"/>
                </a:solidFill>
                <a:latin typeface="Arial" pitchFamily="34" charset="0"/>
                <a:ea typeface="Arial" pitchFamily="34" charset="-122"/>
                <a:cs typeface="Arial" pitchFamily="34" charset="-120"/>
              </a:rPr>
              <a:t>Nghị định 238/2026/NĐ-CP</a:t>
            </a:r>
            <a:endParaRPr lang="en-US" sz="1150" dirty="0"/>
          </a:p>
        </p:txBody>
      </p:sp>
      <p:sp>
        <p:nvSpPr>
          <p:cNvPr id="33" name="Text 31"/>
          <p:cNvSpPr txBox="1"/>
          <p:nvPr/>
        </p:nvSpPr>
        <p:spPr>
          <a:xfrm>
            <a:off x="3429000" y="5477256"/>
            <a:ext cx="2834640" cy="274320"/>
          </a:xfrm>
          <a:prstGeom prst="rect">
            <a:avLst/>
          </a:prstGeom>
          <a:noFill/>
          <a:ln/>
        </p:spPr>
        <p:txBody>
          <a:bodyPr wrap="square" lIns="0" tIns="0" rIns="0" bIns="0" rtlCol="0" anchor="ctr"/>
          <a:lstStyle/>
          <a:p>
            <a:pPr indent="0" marL="0">
              <a:buNone/>
            </a:pPr>
            <a:r>
              <a:rPr lang="en-US" sz="1150" dirty="0">
                <a:solidFill>
                  <a:srgbClr val="645C50"/>
                </a:solidFill>
                <a:latin typeface="Arial" pitchFamily="34" charset="0"/>
                <a:ea typeface="Arial" pitchFamily="34" charset="-122"/>
                <a:cs typeface="Arial" pitchFamily="34" charset="-120"/>
              </a:rPr>
              <a:t>sửa đổi NĐ 168/2024</a:t>
            </a:r>
            <a:endParaRPr lang="en-US" sz="1150" dirty="0"/>
          </a:p>
        </p:txBody>
      </p:sp>
      <p:sp>
        <p:nvSpPr>
          <p:cNvPr id="34" name="Text 32"/>
          <p:cNvSpPr txBox="1"/>
          <p:nvPr/>
        </p:nvSpPr>
        <p:spPr>
          <a:xfrm>
            <a:off x="6217920" y="5477256"/>
            <a:ext cx="1005840" cy="274320"/>
          </a:xfrm>
          <a:prstGeom prst="rect">
            <a:avLst/>
          </a:prstGeom>
          <a:noFill/>
          <a:ln/>
        </p:spPr>
        <p:txBody>
          <a:bodyPr wrap="square" lIns="0" tIns="0" rIns="0" bIns="0" rtlCol="0" anchor="ctr"/>
          <a:lstStyle/>
          <a:p>
            <a:pPr algn="r" indent="0" marL="0">
              <a:buNone/>
            </a:pPr>
            <a:r>
              <a:rPr lang="en-US" sz="1150" dirty="0">
                <a:solidFill>
                  <a:srgbClr val="82796A"/>
                </a:solidFill>
                <a:latin typeface="Arial" pitchFamily="34" charset="0"/>
                <a:ea typeface="Arial" pitchFamily="34" charset="-122"/>
                <a:cs typeface="Arial" pitchFamily="34" charset="-120"/>
              </a:rPr>
              <a:t>15/8/2026</a:t>
            </a:r>
            <a:endParaRPr lang="en-US" sz="1150" dirty="0"/>
          </a:p>
        </p:txBody>
      </p:sp>
      <p:sp>
        <p:nvSpPr>
          <p:cNvPr id="35" name="Shape 33"/>
          <p:cNvSpPr/>
          <p:nvPr/>
        </p:nvSpPr>
        <p:spPr>
          <a:xfrm>
            <a:off x="7818120" y="3840480"/>
            <a:ext cx="3687775" cy="2103120"/>
          </a:xfrm>
          <a:prstGeom prst="roundRect">
            <a:avLst>
              <a:gd name="adj" fmla="val 6087"/>
            </a:avLst>
          </a:prstGeom>
          <a:solidFill>
            <a:srgbClr val="FFE1D0"/>
          </a:solidFill>
          <a:ln w="12700">
            <a:solidFill>
              <a:srgbClr val="C67139"/>
            </a:solidFill>
            <a:prstDash val="solid"/>
          </a:ln>
        </p:spPr>
      </p:sp>
      <p:sp>
        <p:nvSpPr>
          <p:cNvPr id="36" name="Text 34"/>
          <p:cNvSpPr txBox="1"/>
          <p:nvPr/>
        </p:nvSpPr>
        <p:spPr>
          <a:xfrm>
            <a:off x="8110728" y="4041648"/>
            <a:ext cx="3063240" cy="310896"/>
          </a:xfrm>
          <a:prstGeom prst="rect">
            <a:avLst/>
          </a:prstGeom>
          <a:noFill/>
          <a:ln/>
        </p:spPr>
        <p:txBody>
          <a:bodyPr wrap="square" lIns="0" tIns="0" rIns="0" bIns="0" rtlCol="0" anchor="ctr"/>
          <a:lstStyle/>
          <a:p>
            <a:pPr indent="0" marL="0">
              <a:buNone/>
            </a:pPr>
            <a:r>
              <a:rPr lang="en-US" sz="1400" b="1" dirty="0">
                <a:solidFill>
                  <a:srgbClr val="8C491A"/>
                </a:solidFill>
                <a:latin typeface="Arial" pitchFamily="34" charset="0"/>
                <a:ea typeface="Arial" pitchFamily="34" charset="-122"/>
                <a:cs typeface="Arial" pitchFamily="34" charset="-120"/>
              </a:rPr>
              <a:t>Vì sao 4 văn bản chứ không phải 1?</a:t>
            </a:r>
            <a:endParaRPr lang="en-US" sz="1400" dirty="0"/>
          </a:p>
        </p:txBody>
      </p:sp>
      <p:sp>
        <p:nvSpPr>
          <p:cNvPr id="37" name="Text 35"/>
          <p:cNvSpPr txBox="1"/>
          <p:nvPr/>
        </p:nvSpPr>
        <p:spPr>
          <a:xfrm>
            <a:off x="8110728" y="4389120"/>
            <a:ext cx="3063240" cy="1371600"/>
          </a:xfrm>
          <a:prstGeom prst="rect">
            <a:avLst/>
          </a:prstGeom>
          <a:noFill/>
          <a:ln/>
        </p:spPr>
        <p:txBody>
          <a:bodyPr wrap="square" lIns="0" tIns="0" rIns="0" bIns="0" rtlCol="0" anchor="ctr"/>
          <a:lstStyle/>
          <a:p>
            <a:pPr indent="0" marL="0">
              <a:lnSpc>
                <a:spcPts val="1500"/>
              </a:lnSpc>
              <a:buNone/>
            </a:pPr>
            <a:r>
              <a:rPr lang="en-US" sz="1150" dirty="0">
                <a:solidFill>
                  <a:srgbClr val="5A4032"/>
                </a:solidFill>
                <a:latin typeface="Arial" pitchFamily="34" charset="0"/>
                <a:ea typeface="Arial" pitchFamily="34" charset="-122"/>
                <a:cs typeface="Arial" pitchFamily="34" charset="-120"/>
              </a:rPr>
              <a:t>Luật quy định hành vi, nghị định mới quy định mức phạt. Chỉ dùng luật gốc thì không trả lời được câu hỏi “phạt bao nhiêu tiền”. Hai văn bản sửa đổi để hệ thống trả lời đúng theo mốc thời gian.</a:t>
            </a:r>
            <a:endParaRPr lang="en-US" sz="1150" dirty="0"/>
          </a:p>
        </p:txBody>
      </p:sp>
      <p:sp>
        <p:nvSpPr>
          <p:cNvPr id="38" name="Text 36"/>
          <p:cNvSpPr txBox="1"/>
          <p:nvPr/>
        </p:nvSpPr>
        <p:spPr>
          <a:xfrm>
            <a:off x="685800" y="6291072"/>
            <a:ext cx="9997135" cy="274320"/>
          </a:xfrm>
          <a:prstGeom prst="rect">
            <a:avLst/>
          </a:prstGeom>
          <a:noFill/>
          <a:ln/>
        </p:spPr>
        <p:txBody>
          <a:bodyPr wrap="square" lIns="0" tIns="0" rIns="0" bIns="0" rtlCol="0" anchor="ctr"/>
          <a:lstStyle/>
          <a:p>
            <a:pPr indent="0" marL="0">
              <a:buNone/>
            </a:pPr>
            <a:r>
              <a:rPr lang="en-US" sz="1000" i="1" dirty="0">
                <a:solidFill>
                  <a:srgbClr val="82796A"/>
                </a:solidFill>
                <a:latin typeface="Arial" pitchFamily="34" charset="0"/>
                <a:ea typeface="Arial" pitchFamily="34" charset="-122"/>
                <a:cs typeface="Arial" pitchFamily="34" charset="-120"/>
              </a:rPr>
              <a:t>Đối chiếu Văn bản hợp nhất 55/VBHN-VPQH ngày 23/3/2026 — tức bản sau sửa đổi</a:t>
            </a:r>
            <a:endParaRPr lang="en-US" sz="1000" dirty="0"/>
          </a:p>
        </p:txBody>
      </p:sp>
      <p:sp>
        <p:nvSpPr>
          <p:cNvPr id="39" name="Text 37"/>
          <p:cNvSpPr txBox="1"/>
          <p:nvPr/>
        </p:nvSpPr>
        <p:spPr>
          <a:xfrm>
            <a:off x="10865815" y="6291072"/>
            <a:ext cx="640080" cy="274320"/>
          </a:xfrm>
          <a:prstGeom prst="rect">
            <a:avLst/>
          </a:prstGeom>
          <a:noFill/>
          <a:ln/>
        </p:spPr>
        <p:txBody>
          <a:bodyPr wrap="square" lIns="0" tIns="0" rIns="0" bIns="0" rtlCol="0" anchor="ctr"/>
          <a:lstStyle/>
          <a:p>
            <a:pPr algn="r" indent="0" marL="0">
              <a:buNone/>
            </a:pPr>
            <a:r>
              <a:rPr lang="en-US" sz="1000" dirty="0">
                <a:solidFill>
                  <a:srgbClr val="82796A"/>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200" b="1" spc="200" kern="0" dirty="0">
                <a:solidFill>
                  <a:srgbClr val="8C491A"/>
                </a:solidFill>
                <a:latin typeface="Arial" pitchFamily="34" charset="0"/>
                <a:ea typeface="Arial" pitchFamily="34" charset="-122"/>
                <a:cs typeface="Arial" pitchFamily="34" charset="-120"/>
              </a:rPr>
              <a:t>THIẾT KẾ GIẢI PHÁP</a:t>
            </a:r>
            <a:endParaRPr lang="en-US" sz="1200" dirty="0"/>
          </a:p>
        </p:txBody>
      </p:sp>
      <p:sp>
        <p:nvSpPr>
          <p:cNvPr id="3" name="Text 1"/>
          <p:cNvSpPr txBox="1"/>
          <p:nvPr/>
        </p:nvSpPr>
        <p:spPr>
          <a:xfrm>
            <a:off x="685800" y="658368"/>
            <a:ext cx="10820095" cy="566928"/>
          </a:xfrm>
          <a:prstGeom prst="rect">
            <a:avLst/>
          </a:prstGeom>
          <a:noFill/>
          <a:ln/>
        </p:spPr>
        <p:txBody>
          <a:bodyPr wrap="square" lIns="0" tIns="0" rIns="0" bIns="0" rtlCol="0" anchor="ctr"/>
          <a:lstStyle/>
          <a:p>
            <a:pPr indent="0" marL="0">
              <a:buNone/>
            </a:pPr>
            <a:r>
              <a:rPr lang="en-US" sz="3000" b="1" dirty="0">
                <a:solidFill>
                  <a:srgbClr val="201E1D"/>
                </a:solidFill>
                <a:latin typeface="Arial" pitchFamily="34" charset="0"/>
                <a:ea typeface="Arial" pitchFamily="34" charset="-122"/>
                <a:cs typeface="Arial" pitchFamily="34" charset="-120"/>
              </a:rPr>
              <a:t>Ba tầng nối tiếp, tri thức có kiểu suốt đường đi</a:t>
            </a:r>
            <a:endParaRPr lang="en-US" sz="3000" dirty="0"/>
          </a:p>
        </p:txBody>
      </p:sp>
      <p:pic>
        <p:nvPicPr>
          <p:cNvPr id="4" name="Image 0" descr="hinh/hinh1_kien_truc.png">    </p:cNvPr>
          <p:cNvPicPr>
            <a:picLocks noChangeAspect="1"/>
          </p:cNvPicPr>
          <p:nvPr/>
        </p:nvPicPr>
        <p:blipFill>
          <a:blip r:embed="rId1"/>
          <a:stretch>
            <a:fillRect/>
          </a:stretch>
        </p:blipFill>
        <p:spPr>
          <a:xfrm>
            <a:off x="1207008" y="1371600"/>
            <a:ext cx="6711696" cy="4663440"/>
          </a:xfrm>
          <a:prstGeom prst="rect">
            <a:avLst/>
          </a:prstGeom>
        </p:spPr>
      </p:pic>
      <p:sp>
        <p:nvSpPr>
          <p:cNvPr id="5" name="Text 2"/>
          <p:cNvSpPr txBox="1"/>
          <p:nvPr/>
        </p:nvSpPr>
        <p:spPr>
          <a:xfrm>
            <a:off x="9052560" y="1600200"/>
            <a:ext cx="2450592" cy="274320"/>
          </a:xfrm>
          <a:prstGeom prst="rect">
            <a:avLst/>
          </a:prstGeom>
          <a:noFill/>
          <a:ln/>
        </p:spPr>
        <p:txBody>
          <a:bodyPr wrap="square" lIns="0" tIns="0" rIns="0" bIns="0" rtlCol="0" anchor="ctr"/>
          <a:lstStyle/>
          <a:p>
            <a:pPr indent="0" marL="0">
              <a:buNone/>
            </a:pPr>
            <a:r>
              <a:rPr lang="en-US" sz="1400" b="1" dirty="0">
                <a:solidFill>
                  <a:srgbClr val="8C491A"/>
                </a:solidFill>
                <a:latin typeface="Arial" pitchFamily="34" charset="0"/>
                <a:ea typeface="Arial" pitchFamily="34" charset="-122"/>
                <a:cs typeface="Arial" pitchFamily="34" charset="-120"/>
              </a:rPr>
              <a:t>QueryAnalyzer</a:t>
            </a:r>
            <a:endParaRPr lang="en-US" sz="1400" dirty="0"/>
          </a:p>
        </p:txBody>
      </p:sp>
      <p:sp>
        <p:nvSpPr>
          <p:cNvPr id="6" name="Text 3"/>
          <p:cNvSpPr txBox="1"/>
          <p:nvPr/>
        </p:nvSpPr>
        <p:spPr>
          <a:xfrm>
            <a:off x="9052560" y="1892808"/>
            <a:ext cx="2450592" cy="713232"/>
          </a:xfrm>
          <a:prstGeom prst="rect">
            <a:avLst/>
          </a:prstGeom>
          <a:noFill/>
          <a:ln/>
        </p:spPr>
        <p:txBody>
          <a:bodyPr wrap="square" lIns="0" tIns="0" rIns="0" bIns="0" rtlCol="0" anchor="ctr"/>
          <a:lstStyle/>
          <a:p>
            <a:pPr indent="0" marL="0">
              <a:lnSpc>
                <a:spcPts val="1500"/>
              </a:lnSpc>
              <a:buNone/>
            </a:pPr>
            <a:r>
              <a:rPr lang="en-US" sz="1150" dirty="0">
                <a:solidFill>
                  <a:srgbClr val="645C50"/>
                </a:solidFill>
                <a:latin typeface="Arial" pitchFamily="34" charset="0"/>
                <a:ea typeface="Arial" pitchFamily="34" charset="-122"/>
                <a:cs typeface="Arial" pitchFamily="34" charset="-120"/>
              </a:rPr>
              <a:t>biến câu hỏi tiếng Việt thành biểu diễn hình thức Q</a:t>
            </a:r>
            <a:endParaRPr lang="en-US" sz="1150" dirty="0"/>
          </a:p>
        </p:txBody>
      </p:sp>
      <p:sp>
        <p:nvSpPr>
          <p:cNvPr id="7" name="Text 4"/>
          <p:cNvSpPr txBox="1"/>
          <p:nvPr/>
        </p:nvSpPr>
        <p:spPr>
          <a:xfrm>
            <a:off x="9052560" y="2660904"/>
            <a:ext cx="2450592" cy="274320"/>
          </a:xfrm>
          <a:prstGeom prst="rect">
            <a:avLst/>
          </a:prstGeom>
          <a:noFill/>
          <a:ln/>
        </p:spPr>
        <p:txBody>
          <a:bodyPr wrap="square" lIns="0" tIns="0" rIns="0" bIns="0" rtlCol="0" anchor="ctr"/>
          <a:lstStyle/>
          <a:p>
            <a:pPr indent="0" marL="0">
              <a:buNone/>
            </a:pPr>
            <a:r>
              <a:rPr lang="en-US" sz="1400" b="1" dirty="0">
                <a:solidFill>
                  <a:srgbClr val="8C491A"/>
                </a:solidFill>
                <a:latin typeface="Arial" pitchFamily="34" charset="0"/>
                <a:ea typeface="Arial" pitchFamily="34" charset="-122"/>
                <a:cs typeface="Arial" pitchFamily="34" charset="-120"/>
              </a:rPr>
              <a:t>InferenceEngine</a:t>
            </a:r>
            <a:endParaRPr lang="en-US" sz="1400" dirty="0"/>
          </a:p>
        </p:txBody>
      </p:sp>
      <p:sp>
        <p:nvSpPr>
          <p:cNvPr id="8" name="Text 5"/>
          <p:cNvSpPr txBox="1"/>
          <p:nvPr/>
        </p:nvSpPr>
        <p:spPr>
          <a:xfrm>
            <a:off x="9052560" y="2953512"/>
            <a:ext cx="2450592" cy="713232"/>
          </a:xfrm>
          <a:prstGeom prst="rect">
            <a:avLst/>
          </a:prstGeom>
          <a:noFill/>
          <a:ln/>
        </p:spPr>
        <p:txBody>
          <a:bodyPr wrap="square" lIns="0" tIns="0" rIns="0" bIns="0" rtlCol="0" anchor="ctr"/>
          <a:lstStyle/>
          <a:p>
            <a:pPr indent="0" marL="0">
              <a:lnSpc>
                <a:spcPts val="1500"/>
              </a:lnSpc>
              <a:buNone/>
            </a:pPr>
            <a:r>
              <a:rPr lang="en-US" sz="1150" dirty="0">
                <a:solidFill>
                  <a:srgbClr val="645C50"/>
                </a:solidFill>
                <a:latin typeface="Arial" pitchFamily="34" charset="0"/>
                <a:ea typeface="Arial" pitchFamily="34" charset="-122"/>
                <a:cs typeface="Arial" pitchFamily="34" charset="-120"/>
              </a:rPr>
              <a:t>chọn bộ giải P1–P7, truy hồi từ cơ sở tri thức</a:t>
            </a:r>
            <a:endParaRPr lang="en-US" sz="1150" dirty="0"/>
          </a:p>
        </p:txBody>
      </p:sp>
      <p:sp>
        <p:nvSpPr>
          <p:cNvPr id="9" name="Text 6"/>
          <p:cNvSpPr txBox="1"/>
          <p:nvPr/>
        </p:nvSpPr>
        <p:spPr>
          <a:xfrm>
            <a:off x="9052560" y="3721608"/>
            <a:ext cx="2450592" cy="274320"/>
          </a:xfrm>
          <a:prstGeom prst="rect">
            <a:avLst/>
          </a:prstGeom>
          <a:noFill/>
          <a:ln/>
        </p:spPr>
        <p:txBody>
          <a:bodyPr wrap="square" lIns="0" tIns="0" rIns="0" bIns="0" rtlCol="0" anchor="ctr"/>
          <a:lstStyle/>
          <a:p>
            <a:pPr indent="0" marL="0">
              <a:buNone/>
            </a:pPr>
            <a:r>
              <a:rPr lang="en-US" sz="1400" b="1" dirty="0">
                <a:solidFill>
                  <a:srgbClr val="8C491A"/>
                </a:solidFill>
                <a:latin typeface="Arial" pitchFamily="34" charset="0"/>
                <a:ea typeface="Arial" pitchFamily="34" charset="-122"/>
                <a:cs typeface="Arial" pitchFamily="34" charset="-120"/>
              </a:rPr>
              <a:t>sinh_van_ban</a:t>
            </a:r>
            <a:endParaRPr lang="en-US" sz="1400" dirty="0"/>
          </a:p>
        </p:txBody>
      </p:sp>
      <p:sp>
        <p:nvSpPr>
          <p:cNvPr id="10" name="Text 7"/>
          <p:cNvSpPr txBox="1"/>
          <p:nvPr/>
        </p:nvSpPr>
        <p:spPr>
          <a:xfrm>
            <a:off x="9052560" y="4014216"/>
            <a:ext cx="2450592" cy="713232"/>
          </a:xfrm>
          <a:prstGeom prst="rect">
            <a:avLst/>
          </a:prstGeom>
          <a:noFill/>
          <a:ln/>
        </p:spPr>
        <p:txBody>
          <a:bodyPr wrap="square" lIns="0" tIns="0" rIns="0" bIns="0" rtlCol="0" anchor="ctr"/>
          <a:lstStyle/>
          <a:p>
            <a:pPr indent="0" marL="0">
              <a:lnSpc>
                <a:spcPts val="1500"/>
              </a:lnSpc>
              <a:buNone/>
            </a:pPr>
            <a:r>
              <a:rPr lang="en-US" sz="1150" dirty="0">
                <a:solidFill>
                  <a:srgbClr val="645C50"/>
                </a:solidFill>
                <a:latin typeface="Arial" pitchFamily="34" charset="0"/>
                <a:ea typeface="Arial" pitchFamily="34" charset="-122"/>
                <a:cs typeface="Arial" pitchFamily="34" charset="-120"/>
              </a:rPr>
              <a:t>ghép câu trả lời kèm căn cứ pháp lý</a:t>
            </a:r>
            <a:endParaRPr lang="en-US" sz="1150" dirty="0"/>
          </a:p>
        </p:txBody>
      </p:sp>
      <p:sp>
        <p:nvSpPr>
          <p:cNvPr id="11" name="Shape 8"/>
          <p:cNvSpPr/>
          <p:nvPr/>
        </p:nvSpPr>
        <p:spPr>
          <a:xfrm>
            <a:off x="9052560" y="4882896"/>
            <a:ext cx="2450592" cy="1207008"/>
          </a:xfrm>
          <a:prstGeom prst="roundRect">
            <a:avLst>
              <a:gd name="adj" fmla="val 10606"/>
            </a:avLst>
          </a:prstGeom>
          <a:solidFill>
            <a:srgbClr val="F0FAE1"/>
          </a:solidFill>
          <a:ln w="12700">
            <a:solidFill>
              <a:srgbClr val="CCDBB2"/>
            </a:solidFill>
            <a:prstDash val="solid"/>
          </a:ln>
        </p:spPr>
      </p:sp>
      <p:sp>
        <p:nvSpPr>
          <p:cNvPr id="12" name="Text 9"/>
          <p:cNvSpPr txBox="1"/>
          <p:nvPr/>
        </p:nvSpPr>
        <p:spPr>
          <a:xfrm>
            <a:off x="9253728" y="5065776"/>
            <a:ext cx="2048256" cy="914400"/>
          </a:xfrm>
          <a:prstGeom prst="rect">
            <a:avLst/>
          </a:prstGeom>
          <a:noFill/>
          <a:ln/>
        </p:spPr>
        <p:txBody>
          <a:bodyPr wrap="square" lIns="0" tIns="0" rIns="0" bIns="0" rtlCol="0" anchor="ctr"/>
          <a:lstStyle/>
          <a:p>
            <a:pPr indent="0" marL="0">
              <a:lnSpc>
                <a:spcPts val="1400"/>
              </a:lnSpc>
              <a:buNone/>
            </a:pPr>
            <a:r>
              <a:rPr lang="en-US" sz="1100" dirty="0">
                <a:solidFill>
                  <a:srgbClr val="56633F"/>
                </a:solidFill>
                <a:latin typeface="Arial" pitchFamily="34" charset="0"/>
                <a:ea typeface="Arial" pitchFamily="34" charset="-122"/>
                <a:cs typeface="Arial" pitchFamily="34" charset="-120"/>
              </a:rPr>
              <a:t>Tầng dense embedding là tuỳ chọn và mặc định KHÔNG được gọi — lý do ở phần hạn chế.</a:t>
            </a:r>
            <a:endParaRPr lang="en-US" sz="1100" dirty="0"/>
          </a:p>
        </p:txBody>
      </p:sp>
      <p:sp>
        <p:nvSpPr>
          <p:cNvPr id="13" name="Text 10"/>
          <p:cNvSpPr txBox="1"/>
          <p:nvPr/>
        </p:nvSpPr>
        <p:spPr>
          <a:xfrm>
            <a:off x="685800" y="6291072"/>
            <a:ext cx="9997135" cy="274320"/>
          </a:xfrm>
          <a:prstGeom prst="rect">
            <a:avLst/>
          </a:prstGeom>
          <a:noFill/>
          <a:ln/>
        </p:spPr>
        <p:txBody>
          <a:bodyPr wrap="square" lIns="0" tIns="0" rIns="0" bIns="0" rtlCol="0" anchor="ctr"/>
          <a:lstStyle/>
          <a:p>
            <a:pPr indent="0" marL="0">
              <a:buNone/>
            </a:pPr>
            <a:r>
              <a:rPr lang="en-US" sz="1000" i="1" dirty="0">
                <a:solidFill>
                  <a:srgbClr val="82796A"/>
                </a:solidFill>
                <a:latin typeface="Arial" pitchFamily="34" charset="0"/>
                <a:ea typeface="Arial" pitchFamily="34" charset="-122"/>
                <a:cs typeface="Arial" pitchFamily="34" charset="-120"/>
              </a:rPr>
              <a:t>Tầng suy diễn và cơ sở tri thức tách rời — đổi cơ sở tri thức không phải sửa bộ giải</a:t>
            </a:r>
            <a:endParaRPr lang="en-US" sz="1000" dirty="0"/>
          </a:p>
        </p:txBody>
      </p:sp>
      <p:sp>
        <p:nvSpPr>
          <p:cNvPr id="14" name="Text 11"/>
          <p:cNvSpPr txBox="1"/>
          <p:nvPr/>
        </p:nvSpPr>
        <p:spPr>
          <a:xfrm>
            <a:off x="10865815" y="6291072"/>
            <a:ext cx="640080" cy="274320"/>
          </a:xfrm>
          <a:prstGeom prst="rect">
            <a:avLst/>
          </a:prstGeom>
          <a:noFill/>
          <a:ln/>
        </p:spPr>
        <p:txBody>
          <a:bodyPr wrap="square" lIns="0" tIns="0" rIns="0" bIns="0" rtlCol="0" anchor="ctr"/>
          <a:lstStyle/>
          <a:p>
            <a:pPr algn="r" indent="0" marL="0">
              <a:buNone/>
            </a:pPr>
            <a:r>
              <a:rPr lang="en-US" sz="1000" dirty="0">
                <a:solidFill>
                  <a:srgbClr val="82796A"/>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200" b="1" spc="200" kern="0" dirty="0">
                <a:solidFill>
                  <a:srgbClr val="8C491A"/>
                </a:solidFill>
                <a:latin typeface="Arial" pitchFamily="34" charset="0"/>
                <a:ea typeface="Arial" pitchFamily="34" charset="-122"/>
                <a:cs typeface="Arial" pitchFamily="34" charset="-120"/>
              </a:rPr>
              <a:t>THUẬT GIẢI</a:t>
            </a:r>
            <a:endParaRPr lang="en-US" sz="1200" dirty="0"/>
          </a:p>
        </p:txBody>
      </p:sp>
      <p:sp>
        <p:nvSpPr>
          <p:cNvPr id="3" name="Text 1"/>
          <p:cNvSpPr txBox="1"/>
          <p:nvPr/>
        </p:nvSpPr>
        <p:spPr>
          <a:xfrm>
            <a:off x="685800" y="658368"/>
            <a:ext cx="10820095" cy="566928"/>
          </a:xfrm>
          <a:prstGeom prst="rect">
            <a:avLst/>
          </a:prstGeom>
          <a:noFill/>
          <a:ln/>
        </p:spPr>
        <p:txBody>
          <a:bodyPr wrap="square" lIns="0" tIns="0" rIns="0" bIns="0" rtlCol="0" anchor="ctr"/>
          <a:lstStyle/>
          <a:p>
            <a:pPr indent="0" marL="0">
              <a:buNone/>
            </a:pPr>
            <a:r>
              <a:rPr lang="en-US" sz="3000" b="1" dirty="0">
                <a:solidFill>
                  <a:srgbClr val="201E1D"/>
                </a:solidFill>
                <a:latin typeface="Arial" pitchFamily="34" charset="0"/>
                <a:ea typeface="Arial" pitchFamily="34" charset="-122"/>
                <a:cs typeface="Arial" pitchFamily="34" charset="-120"/>
              </a:rPr>
              <a:t>Sáu bước, bám theo một truy vấn thật</a:t>
            </a:r>
            <a:endParaRPr lang="en-US" sz="3000" dirty="0"/>
          </a:p>
        </p:txBody>
      </p:sp>
      <p:pic>
        <p:nvPicPr>
          <p:cNvPr id="4" name="Image 0" descr="hinh/hinh2_luong_b1_b6.png">    </p:cNvPr>
          <p:cNvPicPr>
            <a:picLocks noChangeAspect="1"/>
          </p:cNvPicPr>
          <p:nvPr/>
        </p:nvPicPr>
        <p:blipFill>
          <a:blip r:embed="rId1"/>
          <a:stretch>
            <a:fillRect/>
          </a:stretch>
        </p:blipFill>
        <p:spPr>
          <a:xfrm>
            <a:off x="1435608" y="1325880"/>
            <a:ext cx="9326880" cy="4861865"/>
          </a:xfrm>
          <a:prstGeom prst="rect">
            <a:avLst/>
          </a:prstGeom>
        </p:spPr>
      </p:pic>
      <p:sp>
        <p:nvSpPr>
          <p:cNvPr id="5" name="Text 2"/>
          <p:cNvSpPr txBox="1"/>
          <p:nvPr/>
        </p:nvSpPr>
        <p:spPr>
          <a:xfrm>
            <a:off x="685800" y="6291072"/>
            <a:ext cx="9997135" cy="274320"/>
          </a:xfrm>
          <a:prstGeom prst="rect">
            <a:avLst/>
          </a:prstGeom>
          <a:noFill/>
          <a:ln/>
        </p:spPr>
        <p:txBody>
          <a:bodyPr wrap="square" lIns="0" tIns="0" rIns="0" bIns="0" rtlCol="0" anchor="ctr"/>
          <a:lstStyle/>
          <a:p>
            <a:pPr indent="0" marL="0">
              <a:buNone/>
            </a:pPr>
            <a:r>
              <a:rPr lang="en-US" sz="1000" i="1" dirty="0">
                <a:solidFill>
                  <a:srgbClr val="82796A"/>
                </a:solidFill>
                <a:latin typeface="Arial" pitchFamily="34" charset="0"/>
                <a:ea typeface="Arial" pitchFamily="34" charset="-122"/>
                <a:cs typeface="Arial" pitchFamily="34" charset="-120"/>
              </a:rPr>
              <a:t>Vì sao B2 khớp cụm dài nhất: “nồng độ cồn” phải thắng hai cụm rời “nồng độ” và “cồn” — khớp cụm ngắn trước thì mọi bước sau đều sai theo</a:t>
            </a:r>
            <a:endParaRPr lang="en-US" sz="1000" dirty="0"/>
          </a:p>
        </p:txBody>
      </p:sp>
      <p:sp>
        <p:nvSpPr>
          <p:cNvPr id="6" name="Text 3"/>
          <p:cNvSpPr txBox="1"/>
          <p:nvPr/>
        </p:nvSpPr>
        <p:spPr>
          <a:xfrm>
            <a:off x="10865815" y="6291072"/>
            <a:ext cx="640080" cy="274320"/>
          </a:xfrm>
          <a:prstGeom prst="rect">
            <a:avLst/>
          </a:prstGeom>
          <a:noFill/>
          <a:ln/>
        </p:spPr>
        <p:txBody>
          <a:bodyPr wrap="square" lIns="0" tIns="0" rIns="0" bIns="0" rtlCol="0" anchor="ctr"/>
          <a:lstStyle/>
          <a:p>
            <a:pPr algn="r" indent="0" marL="0">
              <a:buNone/>
            </a:pPr>
            <a:r>
              <a:rPr lang="en-US" sz="1000" dirty="0">
                <a:solidFill>
                  <a:srgbClr val="82796A"/>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200" b="1" spc="200" kern="0" dirty="0">
                <a:solidFill>
                  <a:srgbClr val="8C491A"/>
                </a:solidFill>
                <a:latin typeface="Arial" pitchFamily="34" charset="0"/>
                <a:ea typeface="Arial" pitchFamily="34" charset="-122"/>
                <a:cs typeface="Arial" pitchFamily="34" charset="-120"/>
              </a:rPr>
              <a:t>BẢY LỚP BÀI TOÁN</a:t>
            </a:r>
            <a:endParaRPr lang="en-US" sz="1200" dirty="0"/>
          </a:p>
        </p:txBody>
      </p:sp>
      <p:sp>
        <p:nvSpPr>
          <p:cNvPr id="3" name="Text 1"/>
          <p:cNvSpPr txBox="1"/>
          <p:nvPr/>
        </p:nvSpPr>
        <p:spPr>
          <a:xfrm>
            <a:off x="685800" y="658368"/>
            <a:ext cx="10820095" cy="566928"/>
          </a:xfrm>
          <a:prstGeom prst="rect">
            <a:avLst/>
          </a:prstGeom>
          <a:noFill/>
          <a:ln/>
        </p:spPr>
        <p:txBody>
          <a:bodyPr wrap="square" lIns="0" tIns="0" rIns="0" bIns="0" rtlCol="0" anchor="ctr"/>
          <a:lstStyle/>
          <a:p>
            <a:pPr indent="0" marL="0">
              <a:buNone/>
            </a:pPr>
            <a:r>
              <a:rPr lang="en-US" sz="3000" b="1" dirty="0">
                <a:solidFill>
                  <a:srgbClr val="201E1D"/>
                </a:solidFill>
                <a:latin typeface="Arial" pitchFamily="34" charset="0"/>
                <a:ea typeface="Arial" pitchFamily="34" charset="-122"/>
                <a:cs typeface="Arial" pitchFamily="34" charset="-120"/>
              </a:rPr>
              <a:t>Phân lớp để chọn bộ giải — nhưng không chặn kết quả</a:t>
            </a:r>
            <a:endParaRPr lang="en-US" sz="3000" dirty="0"/>
          </a:p>
        </p:txBody>
      </p:sp>
      <p:sp>
        <p:nvSpPr>
          <p:cNvPr id="4" name="Shape 2"/>
          <p:cNvSpPr/>
          <p:nvPr/>
        </p:nvSpPr>
        <p:spPr>
          <a:xfrm>
            <a:off x="685800" y="1572768"/>
            <a:ext cx="3465576" cy="914400"/>
          </a:xfrm>
          <a:prstGeom prst="roundRect">
            <a:avLst>
              <a:gd name="adj" fmla="val 14000"/>
            </a:avLst>
          </a:prstGeom>
          <a:solidFill>
            <a:srgbClr val="F9F4ED"/>
          </a:solidFill>
          <a:ln w="12700">
            <a:solidFill>
              <a:srgbClr val="DCD3C4"/>
            </a:solidFill>
            <a:prstDash val="solid"/>
          </a:ln>
        </p:spPr>
      </p:sp>
      <p:sp>
        <p:nvSpPr>
          <p:cNvPr id="5" name="Shape 3"/>
          <p:cNvSpPr/>
          <p:nvPr/>
        </p:nvSpPr>
        <p:spPr>
          <a:xfrm>
            <a:off x="905256" y="1755648"/>
            <a:ext cx="512064" cy="274320"/>
          </a:xfrm>
          <a:prstGeom prst="roundRect">
            <a:avLst>
              <a:gd name="adj" fmla="val 50000"/>
            </a:avLst>
          </a:prstGeom>
          <a:solidFill>
            <a:srgbClr val="C67139"/>
          </a:solidFill>
          <a:ln/>
        </p:spPr>
      </p:sp>
      <p:sp>
        <p:nvSpPr>
          <p:cNvPr id="6" name="Text 4"/>
          <p:cNvSpPr txBox="1"/>
          <p:nvPr/>
        </p:nvSpPr>
        <p:spPr>
          <a:xfrm>
            <a:off x="905256" y="1755648"/>
            <a:ext cx="512064" cy="274320"/>
          </a:xfrm>
          <a:prstGeom prst="rect">
            <a:avLst/>
          </a:prstGeom>
          <a:noFill/>
          <a:ln/>
        </p:spPr>
        <p:txBody>
          <a:bodyPr wrap="square" lIns="0" tIns="0" rIns="0" bIns="0" rtlCol="0" anchor="ctr"/>
          <a:lstStyle/>
          <a:p>
            <a:pPr algn="ctr" indent="0" marL="0">
              <a:buNone/>
            </a:pPr>
            <a:r>
              <a:rPr lang="en-US" sz="1000" b="1" dirty="0">
                <a:solidFill>
                  <a:srgbClr val="F5EAD8"/>
                </a:solidFill>
                <a:latin typeface="Arial" pitchFamily="34" charset="0"/>
                <a:ea typeface="Arial" pitchFamily="34" charset="-122"/>
                <a:cs typeface="Arial" pitchFamily="34" charset="-120"/>
              </a:rPr>
              <a:t>P1</a:t>
            </a:r>
            <a:endParaRPr lang="en-US" sz="1000" dirty="0"/>
          </a:p>
        </p:txBody>
      </p:sp>
      <p:sp>
        <p:nvSpPr>
          <p:cNvPr id="7" name="Text 5"/>
          <p:cNvSpPr txBox="1"/>
          <p:nvPr/>
        </p:nvSpPr>
        <p:spPr>
          <a:xfrm>
            <a:off x="1545336" y="1737360"/>
            <a:ext cx="2414016" cy="274320"/>
          </a:xfrm>
          <a:prstGeom prst="rect">
            <a:avLst/>
          </a:prstGeom>
          <a:noFill/>
          <a:ln/>
        </p:spPr>
        <p:txBody>
          <a:bodyPr wrap="square" lIns="0" tIns="0" rIns="0" bIns="0" rtlCol="0" anchor="ctr"/>
          <a:lstStyle/>
          <a:p>
            <a:pPr indent="0" marL="0">
              <a:buNone/>
            </a:pPr>
            <a:r>
              <a:rPr lang="en-US" sz="1300" b="1" dirty="0">
                <a:solidFill>
                  <a:srgbClr val="201E1D"/>
                </a:solidFill>
                <a:latin typeface="Arial" pitchFamily="34" charset="0"/>
                <a:ea typeface="Arial" pitchFamily="34" charset="-122"/>
                <a:cs typeface="Arial" pitchFamily="34" charset="-120"/>
              </a:rPr>
              <a:t>Tra cứu khái niệm</a:t>
            </a:r>
            <a:endParaRPr lang="en-US" sz="1300" dirty="0"/>
          </a:p>
        </p:txBody>
      </p:sp>
      <p:sp>
        <p:nvSpPr>
          <p:cNvPr id="8" name="Text 6"/>
          <p:cNvSpPr txBox="1"/>
          <p:nvPr/>
        </p:nvSpPr>
        <p:spPr>
          <a:xfrm>
            <a:off x="905256" y="2084832"/>
            <a:ext cx="3026664" cy="365760"/>
          </a:xfrm>
          <a:prstGeom prst="rect">
            <a:avLst/>
          </a:prstGeom>
          <a:noFill/>
          <a:ln/>
        </p:spPr>
        <p:txBody>
          <a:bodyPr wrap="square" lIns="0" tIns="0" rIns="0" bIns="0" rtlCol="0" anchor="ctr"/>
          <a:lstStyle/>
          <a:p>
            <a:pPr indent="0" marL="0">
              <a:buNone/>
            </a:pPr>
            <a:r>
              <a:rPr lang="en-US" sz="1050" i="1" dirty="0">
                <a:solidFill>
                  <a:srgbClr val="82796A"/>
                </a:solidFill>
                <a:latin typeface="Arial" pitchFamily="34" charset="0"/>
                <a:ea typeface="Arial" pitchFamily="34" charset="-122"/>
                <a:cs typeface="Arial" pitchFamily="34" charset="-120"/>
              </a:rPr>
              <a:t>Xe cơ giới là gì?</a:t>
            </a:r>
            <a:endParaRPr lang="en-US" sz="1050" dirty="0"/>
          </a:p>
        </p:txBody>
      </p:sp>
      <p:sp>
        <p:nvSpPr>
          <p:cNvPr id="9" name="Shape 7"/>
          <p:cNvSpPr/>
          <p:nvPr/>
        </p:nvSpPr>
        <p:spPr>
          <a:xfrm>
            <a:off x="4361688" y="1572768"/>
            <a:ext cx="3465576" cy="914400"/>
          </a:xfrm>
          <a:prstGeom prst="roundRect">
            <a:avLst>
              <a:gd name="adj" fmla="val 14000"/>
            </a:avLst>
          </a:prstGeom>
          <a:solidFill>
            <a:srgbClr val="F9F4ED"/>
          </a:solidFill>
          <a:ln w="12700">
            <a:solidFill>
              <a:srgbClr val="DCD3C4"/>
            </a:solidFill>
            <a:prstDash val="solid"/>
          </a:ln>
        </p:spPr>
      </p:sp>
      <p:sp>
        <p:nvSpPr>
          <p:cNvPr id="10" name="Shape 8"/>
          <p:cNvSpPr/>
          <p:nvPr/>
        </p:nvSpPr>
        <p:spPr>
          <a:xfrm>
            <a:off x="4581144" y="1755648"/>
            <a:ext cx="512064" cy="274320"/>
          </a:xfrm>
          <a:prstGeom prst="roundRect">
            <a:avLst>
              <a:gd name="adj" fmla="val 50000"/>
            </a:avLst>
          </a:prstGeom>
          <a:solidFill>
            <a:srgbClr val="C67139"/>
          </a:solidFill>
          <a:ln/>
        </p:spPr>
      </p:sp>
      <p:sp>
        <p:nvSpPr>
          <p:cNvPr id="11" name="Text 9"/>
          <p:cNvSpPr txBox="1"/>
          <p:nvPr/>
        </p:nvSpPr>
        <p:spPr>
          <a:xfrm>
            <a:off x="4581144" y="1755648"/>
            <a:ext cx="512064" cy="274320"/>
          </a:xfrm>
          <a:prstGeom prst="rect">
            <a:avLst/>
          </a:prstGeom>
          <a:noFill/>
          <a:ln/>
        </p:spPr>
        <p:txBody>
          <a:bodyPr wrap="square" lIns="0" tIns="0" rIns="0" bIns="0" rtlCol="0" anchor="ctr"/>
          <a:lstStyle/>
          <a:p>
            <a:pPr algn="ctr" indent="0" marL="0">
              <a:buNone/>
            </a:pPr>
            <a:r>
              <a:rPr lang="en-US" sz="1000" b="1" dirty="0">
                <a:solidFill>
                  <a:srgbClr val="F5EAD8"/>
                </a:solidFill>
                <a:latin typeface="Arial" pitchFamily="34" charset="0"/>
                <a:ea typeface="Arial" pitchFamily="34" charset="-122"/>
                <a:cs typeface="Arial" pitchFamily="34" charset="-120"/>
              </a:rPr>
              <a:t>P2</a:t>
            </a:r>
            <a:endParaRPr lang="en-US" sz="1000" dirty="0"/>
          </a:p>
        </p:txBody>
      </p:sp>
      <p:sp>
        <p:nvSpPr>
          <p:cNvPr id="12" name="Text 10"/>
          <p:cNvSpPr txBox="1"/>
          <p:nvPr/>
        </p:nvSpPr>
        <p:spPr>
          <a:xfrm>
            <a:off x="5221224" y="1737360"/>
            <a:ext cx="2414016" cy="274320"/>
          </a:xfrm>
          <a:prstGeom prst="rect">
            <a:avLst/>
          </a:prstGeom>
          <a:noFill/>
          <a:ln/>
        </p:spPr>
        <p:txBody>
          <a:bodyPr wrap="square" lIns="0" tIns="0" rIns="0" bIns="0" rtlCol="0" anchor="ctr"/>
          <a:lstStyle/>
          <a:p>
            <a:pPr indent="0" marL="0">
              <a:buNone/>
            </a:pPr>
            <a:r>
              <a:rPr lang="en-US" sz="1300" b="1" dirty="0">
                <a:solidFill>
                  <a:srgbClr val="201E1D"/>
                </a:solidFill>
                <a:latin typeface="Arial" pitchFamily="34" charset="0"/>
                <a:ea typeface="Arial" pitchFamily="34" charset="-122"/>
                <a:cs typeface="Arial" pitchFamily="34" charset="-120"/>
              </a:rPr>
              <a:t>Tra cứu quy định</a:t>
            </a:r>
            <a:endParaRPr lang="en-US" sz="1300" dirty="0"/>
          </a:p>
        </p:txBody>
      </p:sp>
      <p:sp>
        <p:nvSpPr>
          <p:cNvPr id="13" name="Text 11"/>
          <p:cNvSpPr txBox="1"/>
          <p:nvPr/>
        </p:nvSpPr>
        <p:spPr>
          <a:xfrm>
            <a:off x="4581144" y="2084832"/>
            <a:ext cx="3026664" cy="365760"/>
          </a:xfrm>
          <a:prstGeom prst="rect">
            <a:avLst/>
          </a:prstGeom>
          <a:noFill/>
          <a:ln/>
        </p:spPr>
        <p:txBody>
          <a:bodyPr wrap="square" lIns="0" tIns="0" rIns="0" bIns="0" rtlCol="0" anchor="ctr"/>
          <a:lstStyle/>
          <a:p>
            <a:pPr indent="0" marL="0">
              <a:buNone/>
            </a:pPr>
            <a:r>
              <a:rPr lang="en-US" sz="1050" i="1" dirty="0">
                <a:solidFill>
                  <a:srgbClr val="82796A"/>
                </a:solidFill>
                <a:latin typeface="Arial" pitchFamily="34" charset="0"/>
                <a:ea typeface="Arial" pitchFamily="34" charset="-122"/>
                <a:cs typeface="Arial" pitchFamily="34" charset="-120"/>
              </a:rPr>
              <a:t>Quy tắc nhường đường tại nơi giao nhau?</a:t>
            </a:r>
            <a:endParaRPr lang="en-US" sz="1050" dirty="0"/>
          </a:p>
        </p:txBody>
      </p:sp>
      <p:sp>
        <p:nvSpPr>
          <p:cNvPr id="14" name="Shape 12"/>
          <p:cNvSpPr/>
          <p:nvPr/>
        </p:nvSpPr>
        <p:spPr>
          <a:xfrm>
            <a:off x="8037576" y="1572768"/>
            <a:ext cx="3465576" cy="914400"/>
          </a:xfrm>
          <a:prstGeom prst="roundRect">
            <a:avLst>
              <a:gd name="adj" fmla="val 14000"/>
            </a:avLst>
          </a:prstGeom>
          <a:solidFill>
            <a:srgbClr val="F9F4ED"/>
          </a:solidFill>
          <a:ln w="12700">
            <a:solidFill>
              <a:srgbClr val="DCD3C4"/>
            </a:solidFill>
            <a:prstDash val="solid"/>
          </a:ln>
        </p:spPr>
      </p:sp>
      <p:sp>
        <p:nvSpPr>
          <p:cNvPr id="15" name="Shape 13"/>
          <p:cNvSpPr/>
          <p:nvPr/>
        </p:nvSpPr>
        <p:spPr>
          <a:xfrm>
            <a:off x="8257032" y="1755648"/>
            <a:ext cx="512064" cy="274320"/>
          </a:xfrm>
          <a:prstGeom prst="roundRect">
            <a:avLst>
              <a:gd name="adj" fmla="val 50000"/>
            </a:avLst>
          </a:prstGeom>
          <a:solidFill>
            <a:srgbClr val="C67139"/>
          </a:solidFill>
          <a:ln/>
        </p:spPr>
      </p:sp>
      <p:sp>
        <p:nvSpPr>
          <p:cNvPr id="16" name="Text 14"/>
          <p:cNvSpPr txBox="1"/>
          <p:nvPr/>
        </p:nvSpPr>
        <p:spPr>
          <a:xfrm>
            <a:off x="8257032" y="1755648"/>
            <a:ext cx="512064" cy="274320"/>
          </a:xfrm>
          <a:prstGeom prst="rect">
            <a:avLst/>
          </a:prstGeom>
          <a:noFill/>
          <a:ln/>
        </p:spPr>
        <p:txBody>
          <a:bodyPr wrap="square" lIns="0" tIns="0" rIns="0" bIns="0" rtlCol="0" anchor="ctr"/>
          <a:lstStyle/>
          <a:p>
            <a:pPr algn="ctr" indent="0" marL="0">
              <a:buNone/>
            </a:pPr>
            <a:r>
              <a:rPr lang="en-US" sz="1000" b="1" dirty="0">
                <a:solidFill>
                  <a:srgbClr val="F5EAD8"/>
                </a:solidFill>
                <a:latin typeface="Arial" pitchFamily="34" charset="0"/>
                <a:ea typeface="Arial" pitchFamily="34" charset="-122"/>
                <a:cs typeface="Arial" pitchFamily="34" charset="-120"/>
              </a:rPr>
              <a:t>P3</a:t>
            </a:r>
            <a:endParaRPr lang="en-US" sz="1000" dirty="0"/>
          </a:p>
        </p:txBody>
      </p:sp>
      <p:sp>
        <p:nvSpPr>
          <p:cNvPr id="17" name="Text 15"/>
          <p:cNvSpPr txBox="1"/>
          <p:nvPr/>
        </p:nvSpPr>
        <p:spPr>
          <a:xfrm>
            <a:off x="8897112" y="1737360"/>
            <a:ext cx="2414016" cy="274320"/>
          </a:xfrm>
          <a:prstGeom prst="rect">
            <a:avLst/>
          </a:prstGeom>
          <a:noFill/>
          <a:ln/>
        </p:spPr>
        <p:txBody>
          <a:bodyPr wrap="square" lIns="0" tIns="0" rIns="0" bIns="0" rtlCol="0" anchor="ctr"/>
          <a:lstStyle/>
          <a:p>
            <a:pPr indent="0" marL="0">
              <a:buNone/>
            </a:pPr>
            <a:r>
              <a:rPr lang="en-US" sz="1300" b="1" dirty="0">
                <a:solidFill>
                  <a:srgbClr val="201E1D"/>
                </a:solidFill>
                <a:latin typeface="Arial" pitchFamily="34" charset="0"/>
                <a:ea typeface="Arial" pitchFamily="34" charset="-122"/>
                <a:cs typeface="Arial" pitchFamily="34" charset="-120"/>
              </a:rPr>
              <a:t>Tra cứu chế tài</a:t>
            </a:r>
            <a:endParaRPr lang="en-US" sz="1300" dirty="0"/>
          </a:p>
        </p:txBody>
      </p:sp>
      <p:sp>
        <p:nvSpPr>
          <p:cNvPr id="18" name="Text 16"/>
          <p:cNvSpPr txBox="1"/>
          <p:nvPr/>
        </p:nvSpPr>
        <p:spPr>
          <a:xfrm>
            <a:off x="8257032" y="2084832"/>
            <a:ext cx="3026664" cy="365760"/>
          </a:xfrm>
          <a:prstGeom prst="rect">
            <a:avLst/>
          </a:prstGeom>
          <a:noFill/>
          <a:ln/>
        </p:spPr>
        <p:txBody>
          <a:bodyPr wrap="square" lIns="0" tIns="0" rIns="0" bIns="0" rtlCol="0" anchor="ctr"/>
          <a:lstStyle/>
          <a:p>
            <a:pPr indent="0" marL="0">
              <a:buNone/>
            </a:pPr>
            <a:r>
              <a:rPr lang="en-US" sz="1050" i="1" dirty="0">
                <a:solidFill>
                  <a:srgbClr val="82796A"/>
                </a:solidFill>
                <a:latin typeface="Arial" pitchFamily="34" charset="0"/>
                <a:ea typeface="Arial" pitchFamily="34" charset="-122"/>
                <a:cs typeface="Arial" pitchFamily="34" charset="-120"/>
              </a:rPr>
              <a:t>Vượt đèn đỏ xe máy phạt bao nhiêu?</a:t>
            </a:r>
            <a:endParaRPr lang="en-US" sz="1050" dirty="0"/>
          </a:p>
        </p:txBody>
      </p:sp>
      <p:sp>
        <p:nvSpPr>
          <p:cNvPr id="19" name="Shape 17"/>
          <p:cNvSpPr/>
          <p:nvPr/>
        </p:nvSpPr>
        <p:spPr>
          <a:xfrm>
            <a:off x="685800" y="2651760"/>
            <a:ext cx="3465576" cy="914400"/>
          </a:xfrm>
          <a:prstGeom prst="roundRect">
            <a:avLst>
              <a:gd name="adj" fmla="val 14000"/>
            </a:avLst>
          </a:prstGeom>
          <a:solidFill>
            <a:srgbClr val="F9F4ED"/>
          </a:solidFill>
          <a:ln w="12700">
            <a:solidFill>
              <a:srgbClr val="DCD3C4"/>
            </a:solidFill>
            <a:prstDash val="solid"/>
          </a:ln>
        </p:spPr>
      </p:sp>
      <p:sp>
        <p:nvSpPr>
          <p:cNvPr id="20" name="Shape 18"/>
          <p:cNvSpPr/>
          <p:nvPr/>
        </p:nvSpPr>
        <p:spPr>
          <a:xfrm>
            <a:off x="905256" y="2834640"/>
            <a:ext cx="512064" cy="274320"/>
          </a:xfrm>
          <a:prstGeom prst="roundRect">
            <a:avLst>
              <a:gd name="adj" fmla="val 50000"/>
            </a:avLst>
          </a:prstGeom>
          <a:solidFill>
            <a:srgbClr val="C67139"/>
          </a:solidFill>
          <a:ln/>
        </p:spPr>
      </p:sp>
      <p:sp>
        <p:nvSpPr>
          <p:cNvPr id="21" name="Text 19"/>
          <p:cNvSpPr txBox="1"/>
          <p:nvPr/>
        </p:nvSpPr>
        <p:spPr>
          <a:xfrm>
            <a:off x="905256" y="2834640"/>
            <a:ext cx="512064" cy="274320"/>
          </a:xfrm>
          <a:prstGeom prst="rect">
            <a:avLst/>
          </a:prstGeom>
          <a:noFill/>
          <a:ln/>
        </p:spPr>
        <p:txBody>
          <a:bodyPr wrap="square" lIns="0" tIns="0" rIns="0" bIns="0" rtlCol="0" anchor="ctr"/>
          <a:lstStyle/>
          <a:p>
            <a:pPr algn="ctr" indent="0" marL="0">
              <a:buNone/>
            </a:pPr>
            <a:r>
              <a:rPr lang="en-US" sz="1000" b="1" dirty="0">
                <a:solidFill>
                  <a:srgbClr val="F5EAD8"/>
                </a:solidFill>
                <a:latin typeface="Arial" pitchFamily="34" charset="0"/>
                <a:ea typeface="Arial" pitchFamily="34" charset="-122"/>
                <a:cs typeface="Arial" pitchFamily="34" charset="-120"/>
              </a:rPr>
              <a:t>P4</a:t>
            </a:r>
            <a:endParaRPr lang="en-US" sz="1000" dirty="0"/>
          </a:p>
        </p:txBody>
      </p:sp>
      <p:sp>
        <p:nvSpPr>
          <p:cNvPr id="22" name="Text 20"/>
          <p:cNvSpPr txBox="1"/>
          <p:nvPr/>
        </p:nvSpPr>
        <p:spPr>
          <a:xfrm>
            <a:off x="1545336" y="2816352"/>
            <a:ext cx="2414016" cy="274320"/>
          </a:xfrm>
          <a:prstGeom prst="rect">
            <a:avLst/>
          </a:prstGeom>
          <a:noFill/>
          <a:ln/>
        </p:spPr>
        <p:txBody>
          <a:bodyPr wrap="square" lIns="0" tIns="0" rIns="0" bIns="0" rtlCol="0" anchor="ctr"/>
          <a:lstStyle/>
          <a:p>
            <a:pPr indent="0" marL="0">
              <a:buNone/>
            </a:pPr>
            <a:r>
              <a:rPr lang="en-US" sz="1300" b="1" dirty="0">
                <a:solidFill>
                  <a:srgbClr val="201E1D"/>
                </a:solidFill>
                <a:latin typeface="Arial" pitchFamily="34" charset="0"/>
                <a:ea typeface="Arial" pitchFamily="34" charset="-122"/>
                <a:cs typeface="Arial" pitchFamily="34" charset="-120"/>
              </a:rPr>
              <a:t>Tra cứu ngược</a:t>
            </a:r>
            <a:endParaRPr lang="en-US" sz="1300" dirty="0"/>
          </a:p>
        </p:txBody>
      </p:sp>
      <p:sp>
        <p:nvSpPr>
          <p:cNvPr id="23" name="Text 21"/>
          <p:cNvSpPr txBox="1"/>
          <p:nvPr/>
        </p:nvSpPr>
        <p:spPr>
          <a:xfrm>
            <a:off x="905256" y="3163824"/>
            <a:ext cx="3026664" cy="365760"/>
          </a:xfrm>
          <a:prstGeom prst="rect">
            <a:avLst/>
          </a:prstGeom>
          <a:noFill/>
          <a:ln/>
        </p:spPr>
        <p:txBody>
          <a:bodyPr wrap="square" lIns="0" tIns="0" rIns="0" bIns="0" rtlCol="0" anchor="ctr"/>
          <a:lstStyle/>
          <a:p>
            <a:pPr indent="0" marL="0">
              <a:buNone/>
            </a:pPr>
            <a:r>
              <a:rPr lang="en-US" sz="1050" i="1" dirty="0">
                <a:solidFill>
                  <a:srgbClr val="82796A"/>
                </a:solidFill>
                <a:latin typeface="Arial" pitchFamily="34" charset="0"/>
                <a:ea typeface="Arial" pitchFamily="34" charset="-122"/>
                <a:cs typeface="Arial" pitchFamily="34" charset="-120"/>
              </a:rPr>
              <a:t>Lỗi nào bị trừ 10 điểm giấy phép lái xe?</a:t>
            </a:r>
            <a:endParaRPr lang="en-US" sz="1050" dirty="0"/>
          </a:p>
        </p:txBody>
      </p:sp>
      <p:sp>
        <p:nvSpPr>
          <p:cNvPr id="24" name="Shape 22"/>
          <p:cNvSpPr/>
          <p:nvPr/>
        </p:nvSpPr>
        <p:spPr>
          <a:xfrm>
            <a:off x="4361688" y="2651760"/>
            <a:ext cx="3465576" cy="914400"/>
          </a:xfrm>
          <a:prstGeom prst="roundRect">
            <a:avLst>
              <a:gd name="adj" fmla="val 14000"/>
            </a:avLst>
          </a:prstGeom>
          <a:solidFill>
            <a:srgbClr val="F9F4ED"/>
          </a:solidFill>
          <a:ln w="12700">
            <a:solidFill>
              <a:srgbClr val="DCD3C4"/>
            </a:solidFill>
            <a:prstDash val="solid"/>
          </a:ln>
        </p:spPr>
      </p:sp>
      <p:sp>
        <p:nvSpPr>
          <p:cNvPr id="25" name="Shape 23"/>
          <p:cNvSpPr/>
          <p:nvPr/>
        </p:nvSpPr>
        <p:spPr>
          <a:xfrm>
            <a:off x="4581144" y="2834640"/>
            <a:ext cx="512064" cy="274320"/>
          </a:xfrm>
          <a:prstGeom prst="roundRect">
            <a:avLst>
              <a:gd name="adj" fmla="val 50000"/>
            </a:avLst>
          </a:prstGeom>
          <a:solidFill>
            <a:srgbClr val="C67139"/>
          </a:solidFill>
          <a:ln/>
        </p:spPr>
      </p:sp>
      <p:sp>
        <p:nvSpPr>
          <p:cNvPr id="26" name="Text 24"/>
          <p:cNvSpPr txBox="1"/>
          <p:nvPr/>
        </p:nvSpPr>
        <p:spPr>
          <a:xfrm>
            <a:off x="4581144" y="2834640"/>
            <a:ext cx="512064" cy="274320"/>
          </a:xfrm>
          <a:prstGeom prst="rect">
            <a:avLst/>
          </a:prstGeom>
          <a:noFill/>
          <a:ln/>
        </p:spPr>
        <p:txBody>
          <a:bodyPr wrap="square" lIns="0" tIns="0" rIns="0" bIns="0" rtlCol="0" anchor="ctr"/>
          <a:lstStyle/>
          <a:p>
            <a:pPr algn="ctr" indent="0" marL="0">
              <a:buNone/>
            </a:pPr>
            <a:r>
              <a:rPr lang="en-US" sz="1000" b="1" dirty="0">
                <a:solidFill>
                  <a:srgbClr val="F5EAD8"/>
                </a:solidFill>
                <a:latin typeface="Arial" pitchFamily="34" charset="0"/>
                <a:ea typeface="Arial" pitchFamily="34" charset="-122"/>
                <a:cs typeface="Arial" pitchFamily="34" charset="-120"/>
              </a:rPr>
              <a:t>P5</a:t>
            </a:r>
            <a:endParaRPr lang="en-US" sz="1000" dirty="0"/>
          </a:p>
        </p:txBody>
      </p:sp>
      <p:sp>
        <p:nvSpPr>
          <p:cNvPr id="27" name="Text 25"/>
          <p:cNvSpPr txBox="1"/>
          <p:nvPr/>
        </p:nvSpPr>
        <p:spPr>
          <a:xfrm>
            <a:off x="5221224" y="2816352"/>
            <a:ext cx="2414016" cy="274320"/>
          </a:xfrm>
          <a:prstGeom prst="rect">
            <a:avLst/>
          </a:prstGeom>
          <a:noFill/>
          <a:ln/>
        </p:spPr>
        <p:txBody>
          <a:bodyPr wrap="square" lIns="0" tIns="0" rIns="0" bIns="0" rtlCol="0" anchor="ctr"/>
          <a:lstStyle/>
          <a:p>
            <a:pPr indent="0" marL="0">
              <a:buNone/>
            </a:pPr>
            <a:r>
              <a:rPr lang="en-US" sz="1300" b="1" dirty="0">
                <a:solidFill>
                  <a:srgbClr val="201E1D"/>
                </a:solidFill>
                <a:latin typeface="Arial" pitchFamily="34" charset="0"/>
                <a:ea typeface="Arial" pitchFamily="34" charset="-122"/>
                <a:cs typeface="Arial" pitchFamily="34" charset="-120"/>
              </a:rPr>
              <a:t>Suy diễn tình huống</a:t>
            </a:r>
            <a:endParaRPr lang="en-US" sz="1300" dirty="0"/>
          </a:p>
        </p:txBody>
      </p:sp>
      <p:sp>
        <p:nvSpPr>
          <p:cNvPr id="28" name="Text 26"/>
          <p:cNvSpPr txBox="1"/>
          <p:nvPr/>
        </p:nvSpPr>
        <p:spPr>
          <a:xfrm>
            <a:off x="4581144" y="3163824"/>
            <a:ext cx="3026664" cy="365760"/>
          </a:xfrm>
          <a:prstGeom prst="rect">
            <a:avLst/>
          </a:prstGeom>
          <a:noFill/>
          <a:ln/>
        </p:spPr>
        <p:txBody>
          <a:bodyPr wrap="square" lIns="0" tIns="0" rIns="0" bIns="0" rtlCol="0" anchor="ctr"/>
          <a:lstStyle/>
          <a:p>
            <a:pPr indent="0" marL="0">
              <a:buNone/>
            </a:pPr>
            <a:r>
              <a:rPr lang="en-US" sz="1050" i="1" dirty="0">
                <a:solidFill>
                  <a:srgbClr val="82796A"/>
                </a:solidFill>
                <a:latin typeface="Arial" pitchFamily="34" charset="0"/>
                <a:ea typeface="Arial" pitchFamily="34" charset="-122"/>
                <a:cs typeface="Arial" pitchFamily="34" charset="-120"/>
              </a:rPr>
              <a:t>Vừa vượt đèn đỏ vừa không có bằng?</a:t>
            </a:r>
            <a:endParaRPr lang="en-US" sz="1050" dirty="0"/>
          </a:p>
        </p:txBody>
      </p:sp>
      <p:sp>
        <p:nvSpPr>
          <p:cNvPr id="29" name="Shape 27"/>
          <p:cNvSpPr/>
          <p:nvPr/>
        </p:nvSpPr>
        <p:spPr>
          <a:xfrm>
            <a:off x="8037576" y="2651760"/>
            <a:ext cx="3465576" cy="914400"/>
          </a:xfrm>
          <a:prstGeom prst="roundRect">
            <a:avLst>
              <a:gd name="adj" fmla="val 14000"/>
            </a:avLst>
          </a:prstGeom>
          <a:solidFill>
            <a:srgbClr val="F9F4ED"/>
          </a:solidFill>
          <a:ln w="12700">
            <a:solidFill>
              <a:srgbClr val="DCD3C4"/>
            </a:solidFill>
            <a:prstDash val="solid"/>
          </a:ln>
        </p:spPr>
      </p:sp>
      <p:sp>
        <p:nvSpPr>
          <p:cNvPr id="30" name="Shape 28"/>
          <p:cNvSpPr/>
          <p:nvPr/>
        </p:nvSpPr>
        <p:spPr>
          <a:xfrm>
            <a:off x="8257032" y="2834640"/>
            <a:ext cx="512064" cy="274320"/>
          </a:xfrm>
          <a:prstGeom prst="roundRect">
            <a:avLst>
              <a:gd name="adj" fmla="val 50000"/>
            </a:avLst>
          </a:prstGeom>
          <a:solidFill>
            <a:srgbClr val="C67139"/>
          </a:solidFill>
          <a:ln/>
        </p:spPr>
      </p:sp>
      <p:sp>
        <p:nvSpPr>
          <p:cNvPr id="31" name="Text 29"/>
          <p:cNvSpPr txBox="1"/>
          <p:nvPr/>
        </p:nvSpPr>
        <p:spPr>
          <a:xfrm>
            <a:off x="8257032" y="2834640"/>
            <a:ext cx="512064" cy="274320"/>
          </a:xfrm>
          <a:prstGeom prst="rect">
            <a:avLst/>
          </a:prstGeom>
          <a:noFill/>
          <a:ln/>
        </p:spPr>
        <p:txBody>
          <a:bodyPr wrap="square" lIns="0" tIns="0" rIns="0" bIns="0" rtlCol="0" anchor="ctr"/>
          <a:lstStyle/>
          <a:p>
            <a:pPr algn="ctr" indent="0" marL="0">
              <a:buNone/>
            </a:pPr>
            <a:r>
              <a:rPr lang="en-US" sz="1000" b="1" dirty="0">
                <a:solidFill>
                  <a:srgbClr val="F5EAD8"/>
                </a:solidFill>
                <a:latin typeface="Arial" pitchFamily="34" charset="0"/>
                <a:ea typeface="Arial" pitchFamily="34" charset="-122"/>
                <a:cs typeface="Arial" pitchFamily="34" charset="-120"/>
              </a:rPr>
              <a:t>P6</a:t>
            </a:r>
            <a:endParaRPr lang="en-US" sz="1000" dirty="0"/>
          </a:p>
        </p:txBody>
      </p:sp>
      <p:sp>
        <p:nvSpPr>
          <p:cNvPr id="32" name="Text 30"/>
          <p:cNvSpPr txBox="1"/>
          <p:nvPr/>
        </p:nvSpPr>
        <p:spPr>
          <a:xfrm>
            <a:off x="8897112" y="2816352"/>
            <a:ext cx="2414016" cy="274320"/>
          </a:xfrm>
          <a:prstGeom prst="rect">
            <a:avLst/>
          </a:prstGeom>
          <a:noFill/>
          <a:ln/>
        </p:spPr>
        <p:txBody>
          <a:bodyPr wrap="square" lIns="0" tIns="0" rIns="0" bIns="0" rtlCol="0" anchor="ctr"/>
          <a:lstStyle/>
          <a:p>
            <a:pPr indent="0" marL="0">
              <a:buNone/>
            </a:pPr>
            <a:r>
              <a:rPr lang="en-US" sz="1300" b="1" dirty="0">
                <a:solidFill>
                  <a:srgbClr val="201E1D"/>
                </a:solidFill>
                <a:latin typeface="Arial" pitchFamily="34" charset="0"/>
                <a:ea typeface="Arial" pitchFamily="34" charset="-122"/>
                <a:cs typeface="Arial" pitchFamily="34" charset="-120"/>
              </a:rPr>
              <a:t>Tra cứu căn cứ</a:t>
            </a:r>
            <a:endParaRPr lang="en-US" sz="1300" dirty="0"/>
          </a:p>
        </p:txBody>
      </p:sp>
      <p:sp>
        <p:nvSpPr>
          <p:cNvPr id="33" name="Text 31"/>
          <p:cNvSpPr txBox="1"/>
          <p:nvPr/>
        </p:nvSpPr>
        <p:spPr>
          <a:xfrm>
            <a:off x="8257032" y="3163824"/>
            <a:ext cx="3026664" cy="365760"/>
          </a:xfrm>
          <a:prstGeom prst="rect">
            <a:avLst/>
          </a:prstGeom>
          <a:noFill/>
          <a:ln/>
        </p:spPr>
        <p:txBody>
          <a:bodyPr wrap="square" lIns="0" tIns="0" rIns="0" bIns="0" rtlCol="0" anchor="ctr"/>
          <a:lstStyle/>
          <a:p>
            <a:pPr indent="0" marL="0">
              <a:buNone/>
            </a:pPr>
            <a:r>
              <a:rPr lang="en-US" sz="1050" i="1" dirty="0">
                <a:solidFill>
                  <a:srgbClr val="82796A"/>
                </a:solidFill>
                <a:latin typeface="Arial" pitchFamily="34" charset="0"/>
                <a:ea typeface="Arial" pitchFamily="34" charset="-122"/>
                <a:cs typeface="Arial" pitchFamily="34" charset="-120"/>
              </a:rPr>
              <a:t>Điều 6 khoản 9 điểm a NĐ 168 nói lỗi gì?</a:t>
            </a:r>
            <a:endParaRPr lang="en-US" sz="1050" dirty="0"/>
          </a:p>
        </p:txBody>
      </p:sp>
      <p:sp>
        <p:nvSpPr>
          <p:cNvPr id="34" name="Shape 32"/>
          <p:cNvSpPr/>
          <p:nvPr/>
        </p:nvSpPr>
        <p:spPr>
          <a:xfrm>
            <a:off x="685800" y="3730752"/>
            <a:ext cx="3465576" cy="914400"/>
          </a:xfrm>
          <a:prstGeom prst="roundRect">
            <a:avLst>
              <a:gd name="adj" fmla="val 14000"/>
            </a:avLst>
          </a:prstGeom>
          <a:solidFill>
            <a:srgbClr val="F9F4ED"/>
          </a:solidFill>
          <a:ln w="12700">
            <a:solidFill>
              <a:srgbClr val="DCD3C4"/>
            </a:solidFill>
            <a:prstDash val="solid"/>
          </a:ln>
        </p:spPr>
      </p:sp>
      <p:sp>
        <p:nvSpPr>
          <p:cNvPr id="35" name="Shape 33"/>
          <p:cNvSpPr/>
          <p:nvPr/>
        </p:nvSpPr>
        <p:spPr>
          <a:xfrm>
            <a:off x="905256" y="3913632"/>
            <a:ext cx="512064" cy="274320"/>
          </a:xfrm>
          <a:prstGeom prst="roundRect">
            <a:avLst>
              <a:gd name="adj" fmla="val 50000"/>
            </a:avLst>
          </a:prstGeom>
          <a:solidFill>
            <a:srgbClr val="7A8A5E"/>
          </a:solidFill>
          <a:ln/>
        </p:spPr>
      </p:sp>
      <p:sp>
        <p:nvSpPr>
          <p:cNvPr id="36" name="Text 34"/>
          <p:cNvSpPr txBox="1"/>
          <p:nvPr/>
        </p:nvSpPr>
        <p:spPr>
          <a:xfrm>
            <a:off x="905256" y="3913632"/>
            <a:ext cx="512064" cy="274320"/>
          </a:xfrm>
          <a:prstGeom prst="rect">
            <a:avLst/>
          </a:prstGeom>
          <a:noFill/>
          <a:ln/>
        </p:spPr>
        <p:txBody>
          <a:bodyPr wrap="square" lIns="0" tIns="0" rIns="0" bIns="0" rtlCol="0" anchor="ctr"/>
          <a:lstStyle/>
          <a:p>
            <a:pPr algn="ctr" indent="0" marL="0">
              <a:buNone/>
            </a:pPr>
            <a:r>
              <a:rPr lang="en-US" sz="1000" b="1" dirty="0">
                <a:solidFill>
                  <a:srgbClr val="F5EAD8"/>
                </a:solidFill>
                <a:latin typeface="Arial" pitchFamily="34" charset="0"/>
                <a:ea typeface="Arial" pitchFamily="34" charset="-122"/>
                <a:cs typeface="Arial" pitchFamily="34" charset="-120"/>
              </a:rPr>
              <a:t>P7</a:t>
            </a:r>
            <a:endParaRPr lang="en-US" sz="1000" dirty="0"/>
          </a:p>
        </p:txBody>
      </p:sp>
      <p:sp>
        <p:nvSpPr>
          <p:cNvPr id="37" name="Text 35"/>
          <p:cNvSpPr txBox="1"/>
          <p:nvPr/>
        </p:nvSpPr>
        <p:spPr>
          <a:xfrm>
            <a:off x="1545336" y="3895344"/>
            <a:ext cx="2414016" cy="274320"/>
          </a:xfrm>
          <a:prstGeom prst="rect">
            <a:avLst/>
          </a:prstGeom>
          <a:noFill/>
          <a:ln/>
        </p:spPr>
        <p:txBody>
          <a:bodyPr wrap="square" lIns="0" tIns="0" rIns="0" bIns="0" rtlCol="0" anchor="ctr"/>
          <a:lstStyle/>
          <a:p>
            <a:pPr indent="0" marL="0">
              <a:buNone/>
            </a:pPr>
            <a:r>
              <a:rPr lang="en-US" sz="1300" b="1" dirty="0">
                <a:solidFill>
                  <a:srgbClr val="201E1D"/>
                </a:solidFill>
                <a:latin typeface="Arial" pitchFamily="34" charset="0"/>
                <a:ea typeface="Arial" pitchFamily="34" charset="-122"/>
                <a:cs typeface="Arial" pitchFamily="34" charset="-120"/>
              </a:rPr>
              <a:t>Tra cứu liên quan</a:t>
            </a:r>
            <a:endParaRPr lang="en-US" sz="1300" dirty="0"/>
          </a:p>
        </p:txBody>
      </p:sp>
      <p:sp>
        <p:nvSpPr>
          <p:cNvPr id="38" name="Text 36"/>
          <p:cNvSpPr txBox="1"/>
          <p:nvPr/>
        </p:nvSpPr>
        <p:spPr>
          <a:xfrm>
            <a:off x="905256" y="4242816"/>
            <a:ext cx="3026664" cy="365760"/>
          </a:xfrm>
          <a:prstGeom prst="rect">
            <a:avLst/>
          </a:prstGeom>
          <a:noFill/>
          <a:ln/>
        </p:spPr>
        <p:txBody>
          <a:bodyPr wrap="square" lIns="0" tIns="0" rIns="0" bIns="0" rtlCol="0" anchor="ctr"/>
          <a:lstStyle/>
          <a:p>
            <a:pPr indent="0" marL="0">
              <a:buNone/>
            </a:pPr>
            <a:r>
              <a:rPr lang="en-US" sz="1050" i="1" dirty="0">
                <a:solidFill>
                  <a:srgbClr val="82796A"/>
                </a:solidFill>
                <a:latin typeface="Arial" pitchFamily="34" charset="0"/>
                <a:ea typeface="Arial" pitchFamily="34" charset="-122"/>
                <a:cs typeface="Arial" pitchFamily="34" charset="-120"/>
              </a:rPr>
              <a:t>Cho tôi thông tin về điểm giấy phép lái xe.</a:t>
            </a:r>
            <a:endParaRPr lang="en-US" sz="1050" dirty="0"/>
          </a:p>
        </p:txBody>
      </p:sp>
      <p:sp>
        <p:nvSpPr>
          <p:cNvPr id="39" name="Shape 37"/>
          <p:cNvSpPr/>
          <p:nvPr/>
        </p:nvSpPr>
        <p:spPr>
          <a:xfrm>
            <a:off x="4361688" y="3730752"/>
            <a:ext cx="7141464" cy="914400"/>
          </a:xfrm>
          <a:prstGeom prst="roundRect">
            <a:avLst>
              <a:gd name="adj" fmla="val 14000"/>
            </a:avLst>
          </a:prstGeom>
          <a:solidFill>
            <a:srgbClr val="F0FAE1"/>
          </a:solidFill>
          <a:ln w="12700">
            <a:solidFill>
              <a:srgbClr val="CCDBB2"/>
            </a:solidFill>
            <a:prstDash val="solid"/>
          </a:ln>
        </p:spPr>
      </p:sp>
      <p:sp>
        <p:nvSpPr>
          <p:cNvPr id="40" name="Text 38"/>
          <p:cNvSpPr txBox="1"/>
          <p:nvPr/>
        </p:nvSpPr>
        <p:spPr>
          <a:xfrm>
            <a:off x="4599432" y="3877056"/>
            <a:ext cx="6665976" cy="640080"/>
          </a:xfrm>
          <a:prstGeom prst="rect">
            <a:avLst/>
          </a:prstGeom>
          <a:noFill/>
          <a:ln/>
        </p:spPr>
        <p:txBody>
          <a:bodyPr wrap="square" lIns="0" tIns="0" rIns="0" bIns="0" rtlCol="0" anchor="ctr"/>
          <a:lstStyle/>
          <a:p>
            <a:pPr indent="0" marL="0">
              <a:lnSpc>
                <a:spcPts val="1600"/>
              </a:lnSpc>
              <a:buNone/>
            </a:pPr>
            <a:r>
              <a:rPr lang="en-US" sz="1200" dirty="0">
                <a:solidFill>
                  <a:srgbClr val="56633F"/>
                </a:solidFill>
                <a:latin typeface="Arial" pitchFamily="34" charset="0"/>
                <a:ea typeface="Arial" pitchFamily="34" charset="-122"/>
                <a:cs typeface="Arial" pitchFamily="34" charset="-120"/>
              </a:rPr>
              <a:t>Phân lớp KHÔNG chặn kết quả: sau khi bộ giải chạy, hệ luôn bổ sung đủ ba loại tri thức còn thiếu nếu điểm ≥ 0,40 — nhờ vậy một câu bị phân lớp sai vẫn có cơ hội trả đúng.</a:t>
            </a:r>
            <a:endParaRPr lang="en-US" sz="1200" dirty="0"/>
          </a:p>
        </p:txBody>
      </p:sp>
      <p:sp>
        <p:nvSpPr>
          <p:cNvPr id="41" name="Shape 39"/>
          <p:cNvSpPr/>
          <p:nvPr/>
        </p:nvSpPr>
        <p:spPr>
          <a:xfrm>
            <a:off x="685800" y="4809744"/>
            <a:ext cx="7315200" cy="1280160"/>
          </a:xfrm>
          <a:prstGeom prst="roundRect">
            <a:avLst>
              <a:gd name="adj" fmla="val 10000"/>
            </a:avLst>
          </a:prstGeom>
          <a:solidFill>
            <a:srgbClr val="EBDDC5"/>
          </a:solidFill>
          <a:ln/>
        </p:spPr>
      </p:sp>
      <p:sp>
        <p:nvSpPr>
          <p:cNvPr id="42" name="Text 40"/>
          <p:cNvSpPr txBox="1"/>
          <p:nvPr/>
        </p:nvSpPr>
        <p:spPr>
          <a:xfrm>
            <a:off x="996696" y="4937760"/>
            <a:ext cx="2194560" cy="256032"/>
          </a:xfrm>
          <a:prstGeom prst="rect">
            <a:avLst/>
          </a:prstGeom>
          <a:noFill/>
          <a:ln/>
        </p:spPr>
        <p:txBody>
          <a:bodyPr wrap="square" lIns="0" tIns="0" rIns="0" bIns="0" rtlCol="0" anchor="ctr"/>
          <a:lstStyle/>
          <a:p>
            <a:pPr indent="0" marL="0">
              <a:buNone/>
            </a:pPr>
            <a:r>
              <a:rPr lang="en-US" sz="1300" b="1" dirty="0">
                <a:solidFill>
                  <a:srgbClr val="8C491A"/>
                </a:solidFill>
                <a:latin typeface="Arial" pitchFamily="34" charset="0"/>
                <a:ea typeface="Arial" pitchFamily="34" charset="-122"/>
                <a:cs typeface="Arial" pitchFamily="34" charset="-120"/>
              </a:rPr>
              <a:t>Hàm điểm lai</a:t>
            </a:r>
            <a:endParaRPr lang="en-US" sz="1300" dirty="0"/>
          </a:p>
        </p:txBody>
      </p:sp>
      <p:sp>
        <p:nvSpPr>
          <p:cNvPr id="43" name="Text 41"/>
          <p:cNvSpPr txBox="1"/>
          <p:nvPr/>
        </p:nvSpPr>
        <p:spPr>
          <a:xfrm>
            <a:off x="996696" y="5212080"/>
            <a:ext cx="6766560" cy="274320"/>
          </a:xfrm>
          <a:prstGeom prst="rect">
            <a:avLst/>
          </a:prstGeom>
          <a:noFill/>
          <a:ln/>
        </p:spPr>
        <p:txBody>
          <a:bodyPr wrap="square" lIns="0" tIns="0" rIns="0" bIns="0" rtlCol="0" anchor="ctr"/>
          <a:lstStyle/>
          <a:p>
            <a:pPr indent="0" marL="0">
              <a:buNone/>
            </a:pPr>
            <a:r>
              <a:rPr lang="en-US" sz="1250" b="1" dirty="0">
                <a:solidFill>
                  <a:srgbClr val="201E1D"/>
                </a:solidFill>
                <a:latin typeface="Courier New" pitchFamily="34" charset="0"/>
                <a:ea typeface="Courier New" pitchFamily="34" charset="-122"/>
                <a:cs typeface="Courier New" pitchFamily="34" charset="-120"/>
              </a:rPr>
              <a:t>score = 0,55·s_keyphrase + 0,30·s_ngữ_nghĩa + 0,15·s_ngữ_cảnh</a:t>
            </a:r>
            <a:endParaRPr lang="en-US" sz="1250" dirty="0"/>
          </a:p>
        </p:txBody>
      </p:sp>
      <p:sp>
        <p:nvSpPr>
          <p:cNvPr id="44" name="Text 42"/>
          <p:cNvSpPr txBox="1"/>
          <p:nvPr/>
        </p:nvSpPr>
        <p:spPr>
          <a:xfrm>
            <a:off x="996696" y="5504688"/>
            <a:ext cx="6693408" cy="512064"/>
          </a:xfrm>
          <a:prstGeom prst="rect">
            <a:avLst/>
          </a:prstGeom>
          <a:noFill/>
          <a:ln/>
        </p:spPr>
        <p:txBody>
          <a:bodyPr wrap="square" lIns="0" tIns="0" rIns="0" bIns="0" rtlCol="0" anchor="ctr"/>
          <a:lstStyle/>
          <a:p>
            <a:pPr indent="0" marL="0">
              <a:lnSpc>
                <a:spcPts val="1400"/>
              </a:lnSpc>
              <a:buNone/>
            </a:pPr>
            <a:r>
              <a:rPr lang="en-US" sz="1100" dirty="0">
                <a:solidFill>
                  <a:srgbClr val="645C50"/>
                </a:solidFill>
                <a:latin typeface="Arial" pitchFamily="34" charset="0"/>
                <a:ea typeface="Arial" pitchFamily="34" charset="-122"/>
                <a:cs typeface="Arial" pitchFamily="34" charset="-120"/>
              </a:rPr>
              <a:t>Keyphrase nhận trọng số cao nhất vì là tín hiệu chắc chắn; TF-IDF char n-gram lo phần phủ cho câu khẩu ngữ; ngữ cảnh chỉ để phân biệt các hành vi na ná nhau.</a:t>
            </a:r>
            <a:endParaRPr lang="en-US" sz="1100" dirty="0"/>
          </a:p>
        </p:txBody>
      </p:sp>
      <p:sp>
        <p:nvSpPr>
          <p:cNvPr id="45" name="Shape 43"/>
          <p:cNvSpPr/>
          <p:nvPr/>
        </p:nvSpPr>
        <p:spPr>
          <a:xfrm>
            <a:off x="8275320" y="4809744"/>
            <a:ext cx="1517904" cy="1280160"/>
          </a:xfrm>
          <a:prstGeom prst="roundRect">
            <a:avLst>
              <a:gd name="adj" fmla="val 10000"/>
            </a:avLst>
          </a:prstGeom>
          <a:solidFill>
            <a:srgbClr val="F9F4ED"/>
          </a:solidFill>
          <a:ln w="12700">
            <a:solidFill>
              <a:srgbClr val="DCD3C4"/>
            </a:solidFill>
            <a:prstDash val="solid"/>
          </a:ln>
        </p:spPr>
      </p:sp>
      <p:sp>
        <p:nvSpPr>
          <p:cNvPr id="46" name="Text 44"/>
          <p:cNvSpPr txBox="1"/>
          <p:nvPr/>
        </p:nvSpPr>
        <p:spPr>
          <a:xfrm>
            <a:off x="8275320" y="4974336"/>
            <a:ext cx="1517904" cy="457200"/>
          </a:xfrm>
          <a:prstGeom prst="rect">
            <a:avLst/>
          </a:prstGeom>
          <a:noFill/>
          <a:ln/>
        </p:spPr>
        <p:txBody>
          <a:bodyPr wrap="square" lIns="0" tIns="0" rIns="0" bIns="0" rtlCol="0" anchor="ctr"/>
          <a:lstStyle/>
          <a:p>
            <a:pPr algn="ctr" indent="0" marL="0">
              <a:buNone/>
            </a:pPr>
            <a:r>
              <a:rPr lang="en-US" sz="2200" b="1" dirty="0">
                <a:solidFill>
                  <a:srgbClr val="82796A"/>
                </a:solidFill>
                <a:latin typeface="Arial" pitchFamily="34" charset="0"/>
                <a:ea typeface="Arial" pitchFamily="34" charset="-122"/>
                <a:cs typeface="Arial" pitchFamily="34" charset="-120"/>
              </a:rPr>
              <a:t>58,3%</a:t>
            </a:r>
            <a:endParaRPr lang="en-US" sz="2200" dirty="0"/>
          </a:p>
        </p:txBody>
      </p:sp>
      <p:sp>
        <p:nvSpPr>
          <p:cNvPr id="47" name="Text 45"/>
          <p:cNvSpPr txBox="1"/>
          <p:nvPr/>
        </p:nvSpPr>
        <p:spPr>
          <a:xfrm>
            <a:off x="8275320" y="5449824"/>
            <a:ext cx="1517904" cy="256032"/>
          </a:xfrm>
          <a:prstGeom prst="rect">
            <a:avLst/>
          </a:prstGeom>
          <a:noFill/>
          <a:ln/>
        </p:spPr>
        <p:txBody>
          <a:bodyPr wrap="square" lIns="0" tIns="0" rIns="0" bIns="0" rtlCol="0" anchor="ctr"/>
          <a:lstStyle/>
          <a:p>
            <a:pPr algn="ctr" indent="0" marL="0">
              <a:buNone/>
            </a:pPr>
            <a:r>
              <a:rPr lang="en-US" sz="1100" dirty="0">
                <a:solidFill>
                  <a:srgbClr val="645C50"/>
                </a:solidFill>
                <a:latin typeface="Arial" pitchFamily="34" charset="0"/>
                <a:ea typeface="Arial" pitchFamily="34" charset="-122"/>
                <a:cs typeface="Arial" pitchFamily="34" charset="-120"/>
              </a:rPr>
              <a:t>chỉ TF-IDF</a:t>
            </a:r>
            <a:endParaRPr lang="en-US" sz="1100" dirty="0"/>
          </a:p>
        </p:txBody>
      </p:sp>
      <p:sp>
        <p:nvSpPr>
          <p:cNvPr id="48" name="Shape 46"/>
          <p:cNvSpPr/>
          <p:nvPr/>
        </p:nvSpPr>
        <p:spPr>
          <a:xfrm>
            <a:off x="9985248" y="4809744"/>
            <a:ext cx="1517904" cy="1280160"/>
          </a:xfrm>
          <a:prstGeom prst="roundRect">
            <a:avLst>
              <a:gd name="adj" fmla="val 10000"/>
            </a:avLst>
          </a:prstGeom>
          <a:solidFill>
            <a:srgbClr val="FFF2EB"/>
          </a:solidFill>
          <a:ln w="12700">
            <a:solidFill>
              <a:srgbClr val="FFC6A5"/>
            </a:solidFill>
            <a:prstDash val="solid"/>
          </a:ln>
        </p:spPr>
      </p:sp>
      <p:sp>
        <p:nvSpPr>
          <p:cNvPr id="49" name="Text 47"/>
          <p:cNvSpPr txBox="1"/>
          <p:nvPr/>
        </p:nvSpPr>
        <p:spPr>
          <a:xfrm>
            <a:off x="9985248" y="4974336"/>
            <a:ext cx="1517904" cy="457200"/>
          </a:xfrm>
          <a:prstGeom prst="rect">
            <a:avLst/>
          </a:prstGeom>
          <a:noFill/>
          <a:ln/>
        </p:spPr>
        <p:txBody>
          <a:bodyPr wrap="square" lIns="0" tIns="0" rIns="0" bIns="0" rtlCol="0" anchor="ctr"/>
          <a:lstStyle/>
          <a:p>
            <a:pPr algn="ctr" indent="0" marL="0">
              <a:buNone/>
            </a:pPr>
            <a:r>
              <a:rPr lang="en-US" sz="2200" b="1" dirty="0">
                <a:solidFill>
                  <a:srgbClr val="C67139"/>
                </a:solidFill>
                <a:latin typeface="Arial" pitchFamily="34" charset="0"/>
                <a:ea typeface="Arial" pitchFamily="34" charset="-122"/>
                <a:cs typeface="Arial" pitchFamily="34" charset="-120"/>
              </a:rPr>
              <a:t>76,7%</a:t>
            </a:r>
            <a:endParaRPr lang="en-US" sz="2200" dirty="0"/>
          </a:p>
        </p:txBody>
      </p:sp>
      <p:sp>
        <p:nvSpPr>
          <p:cNvPr id="50" name="Text 48"/>
          <p:cNvSpPr txBox="1"/>
          <p:nvPr/>
        </p:nvSpPr>
        <p:spPr>
          <a:xfrm>
            <a:off x="9985248" y="5449824"/>
            <a:ext cx="1517904" cy="256032"/>
          </a:xfrm>
          <a:prstGeom prst="rect">
            <a:avLst/>
          </a:prstGeom>
          <a:noFill/>
          <a:ln/>
        </p:spPr>
        <p:txBody>
          <a:bodyPr wrap="square" lIns="0" tIns="0" rIns="0" bIns="0" rtlCol="0" anchor="ctr"/>
          <a:lstStyle/>
          <a:p>
            <a:pPr algn="ctr" indent="0" marL="0">
              <a:buNone/>
            </a:pPr>
            <a:r>
              <a:rPr lang="en-US" sz="1100" dirty="0">
                <a:solidFill>
                  <a:srgbClr val="645C50"/>
                </a:solidFill>
                <a:latin typeface="Arial" pitchFamily="34" charset="0"/>
                <a:ea typeface="Arial" pitchFamily="34" charset="-122"/>
                <a:cs typeface="Arial" pitchFamily="34" charset="-120"/>
              </a:rPr>
              <a:t>hệ đầy đủ</a:t>
            </a:r>
            <a:endParaRPr lang="en-US" sz="1100" dirty="0"/>
          </a:p>
        </p:txBody>
      </p:sp>
      <p:sp>
        <p:nvSpPr>
          <p:cNvPr id="51" name="Text 49"/>
          <p:cNvSpPr txBox="1"/>
          <p:nvPr/>
        </p:nvSpPr>
        <p:spPr>
          <a:xfrm>
            <a:off x="685800" y="6291072"/>
            <a:ext cx="9997135" cy="274320"/>
          </a:xfrm>
          <a:prstGeom prst="rect">
            <a:avLst/>
          </a:prstGeom>
          <a:noFill/>
          <a:ln/>
        </p:spPr>
        <p:txBody>
          <a:bodyPr wrap="square" lIns="0" tIns="0" rIns="0" bIns="0" rtlCol="0" anchor="ctr"/>
          <a:lstStyle/>
          <a:p>
            <a:pPr indent="0" marL="0">
              <a:buNone/>
            </a:pPr>
            <a:r>
              <a:rPr lang="en-US" sz="1000" i="1" dirty="0">
                <a:solidFill>
                  <a:srgbClr val="82796A"/>
                </a:solidFill>
                <a:latin typeface="Arial" pitchFamily="34" charset="0"/>
                <a:ea typeface="Arial" pitchFamily="34" charset="-122"/>
                <a:cs typeface="Arial" pitchFamily="34" charset="-120"/>
              </a:rPr>
              <a:t>Top-1 trên 120 câu hỏi</a:t>
            </a:r>
            <a:endParaRPr lang="en-US" sz="1000" dirty="0"/>
          </a:p>
        </p:txBody>
      </p:sp>
      <p:sp>
        <p:nvSpPr>
          <p:cNvPr id="52" name="Text 50"/>
          <p:cNvSpPr txBox="1"/>
          <p:nvPr/>
        </p:nvSpPr>
        <p:spPr>
          <a:xfrm>
            <a:off x="10865815" y="6291072"/>
            <a:ext cx="640080" cy="274320"/>
          </a:xfrm>
          <a:prstGeom prst="rect">
            <a:avLst/>
          </a:prstGeom>
          <a:noFill/>
          <a:ln/>
        </p:spPr>
        <p:txBody>
          <a:bodyPr wrap="square" lIns="0" tIns="0" rIns="0" bIns="0" rtlCol="0" anchor="ctr"/>
          <a:lstStyle/>
          <a:p>
            <a:pPr algn="r" indent="0" marL="0">
              <a:buNone/>
            </a:pPr>
            <a:r>
              <a:rPr lang="en-US" sz="1000" dirty="0">
                <a:solidFill>
                  <a:srgbClr val="82796A"/>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200" b="1" spc="200" kern="0" dirty="0">
                <a:solidFill>
                  <a:srgbClr val="8C491A"/>
                </a:solidFill>
                <a:latin typeface="Arial" pitchFamily="34" charset="0"/>
                <a:ea typeface="Arial" pitchFamily="34" charset="-122"/>
                <a:cs typeface="Arial" pitchFamily="34" charset="-120"/>
              </a:rPr>
              <a:t>THỰC NGHIỆM</a:t>
            </a:r>
            <a:endParaRPr lang="en-US" sz="1200" dirty="0"/>
          </a:p>
        </p:txBody>
      </p:sp>
      <p:sp>
        <p:nvSpPr>
          <p:cNvPr id="3" name="Text 1"/>
          <p:cNvSpPr txBox="1"/>
          <p:nvPr/>
        </p:nvSpPr>
        <p:spPr>
          <a:xfrm>
            <a:off x="685800" y="658368"/>
            <a:ext cx="10820095" cy="566928"/>
          </a:xfrm>
          <a:prstGeom prst="rect">
            <a:avLst/>
          </a:prstGeom>
          <a:noFill/>
          <a:ln/>
        </p:spPr>
        <p:txBody>
          <a:bodyPr wrap="square" lIns="0" tIns="0" rIns="0" bIns="0" rtlCol="0" anchor="ctr"/>
          <a:lstStyle/>
          <a:p>
            <a:pPr indent="0" marL="0">
              <a:buNone/>
            </a:pPr>
            <a:r>
              <a:rPr lang="en-US" sz="3000" b="1" dirty="0">
                <a:solidFill>
                  <a:srgbClr val="201E1D"/>
                </a:solidFill>
                <a:latin typeface="Arial" pitchFamily="34" charset="0"/>
                <a:ea typeface="Arial" pitchFamily="34" charset="-122"/>
                <a:cs typeface="Arial" pitchFamily="34" charset="-120"/>
              </a:rPr>
              <a:t>Kết quả trên 120 câu hỏi có đáp án chuẩn</a:t>
            </a:r>
            <a:endParaRPr lang="en-US" sz="3000" dirty="0"/>
          </a:p>
        </p:txBody>
      </p:sp>
      <p:sp>
        <p:nvSpPr>
          <p:cNvPr id="4" name="Shape 2"/>
          <p:cNvSpPr/>
          <p:nvPr/>
        </p:nvSpPr>
        <p:spPr>
          <a:xfrm>
            <a:off x="685800" y="1572768"/>
            <a:ext cx="2542032" cy="1371600"/>
          </a:xfrm>
          <a:prstGeom prst="roundRect">
            <a:avLst>
              <a:gd name="adj" fmla="val 9333"/>
            </a:avLst>
          </a:prstGeom>
          <a:solidFill>
            <a:srgbClr val="FFF2EB"/>
          </a:solidFill>
          <a:ln w="12700">
            <a:solidFill>
              <a:srgbClr val="FFC6A5"/>
            </a:solidFill>
            <a:prstDash val="solid"/>
          </a:ln>
        </p:spPr>
      </p:sp>
      <p:sp>
        <p:nvSpPr>
          <p:cNvPr id="5" name="Text 3"/>
          <p:cNvSpPr txBox="1"/>
          <p:nvPr/>
        </p:nvSpPr>
        <p:spPr>
          <a:xfrm>
            <a:off x="685800" y="1719072"/>
            <a:ext cx="2542032" cy="566928"/>
          </a:xfrm>
          <a:prstGeom prst="rect">
            <a:avLst/>
          </a:prstGeom>
          <a:noFill/>
          <a:ln/>
        </p:spPr>
        <p:txBody>
          <a:bodyPr wrap="square" lIns="0" tIns="0" rIns="0" bIns="0" rtlCol="0" anchor="ctr"/>
          <a:lstStyle/>
          <a:p>
            <a:pPr algn="ctr" indent="0" marL="0">
              <a:buNone/>
            </a:pPr>
            <a:r>
              <a:rPr lang="en-US" sz="3000" b="1" dirty="0">
                <a:solidFill>
                  <a:srgbClr val="C67139"/>
                </a:solidFill>
                <a:latin typeface="Arial" pitchFamily="34" charset="0"/>
                <a:ea typeface="Arial" pitchFamily="34" charset="-122"/>
                <a:cs typeface="Arial" pitchFamily="34" charset="-120"/>
              </a:rPr>
              <a:t>95,83%</a:t>
            </a:r>
            <a:endParaRPr lang="en-US" sz="3000" dirty="0"/>
          </a:p>
        </p:txBody>
      </p:sp>
      <p:sp>
        <p:nvSpPr>
          <p:cNvPr id="6" name="Text 4"/>
          <p:cNvSpPr txBox="1"/>
          <p:nvPr/>
        </p:nvSpPr>
        <p:spPr>
          <a:xfrm>
            <a:off x="813816" y="2304288"/>
            <a:ext cx="2286000" cy="548640"/>
          </a:xfrm>
          <a:prstGeom prst="rect">
            <a:avLst/>
          </a:prstGeom>
          <a:noFill/>
          <a:ln/>
        </p:spPr>
        <p:txBody>
          <a:bodyPr wrap="square" lIns="0" tIns="0" rIns="0" bIns="0" rtlCol="0" anchor="ctr"/>
          <a:lstStyle/>
          <a:p>
            <a:pPr algn="ctr" indent="0" marL="0">
              <a:lnSpc>
                <a:spcPts val="1500"/>
              </a:lnSpc>
              <a:buNone/>
            </a:pPr>
            <a:r>
              <a:rPr lang="en-US" sz="1150" dirty="0">
                <a:solidFill>
                  <a:srgbClr val="645C50"/>
                </a:solidFill>
                <a:latin typeface="Arial" pitchFamily="34" charset="0"/>
                <a:ea typeface="Arial" pitchFamily="34" charset="-122"/>
                <a:cs typeface="Arial" pitchFamily="34" charset="-120"/>
              </a:rPr>
              <a:t>Độ chính xác phân lớp</a:t>
            </a:r>
            <a:endParaRPr lang="en-US" sz="1150" dirty="0"/>
          </a:p>
        </p:txBody>
      </p:sp>
      <p:sp>
        <p:nvSpPr>
          <p:cNvPr id="7" name="Shape 5"/>
          <p:cNvSpPr/>
          <p:nvPr/>
        </p:nvSpPr>
        <p:spPr>
          <a:xfrm>
            <a:off x="3438144" y="1572768"/>
            <a:ext cx="2542032" cy="1371600"/>
          </a:xfrm>
          <a:prstGeom prst="roundRect">
            <a:avLst>
              <a:gd name="adj" fmla="val 9333"/>
            </a:avLst>
          </a:prstGeom>
          <a:solidFill>
            <a:srgbClr val="FFF2EB"/>
          </a:solidFill>
          <a:ln w="12700">
            <a:solidFill>
              <a:srgbClr val="FFC6A5"/>
            </a:solidFill>
            <a:prstDash val="solid"/>
          </a:ln>
        </p:spPr>
      </p:sp>
      <p:sp>
        <p:nvSpPr>
          <p:cNvPr id="8" name="Text 6"/>
          <p:cNvSpPr txBox="1"/>
          <p:nvPr/>
        </p:nvSpPr>
        <p:spPr>
          <a:xfrm>
            <a:off x="3438144" y="1719072"/>
            <a:ext cx="2542032" cy="566928"/>
          </a:xfrm>
          <a:prstGeom prst="rect">
            <a:avLst/>
          </a:prstGeom>
          <a:noFill/>
          <a:ln/>
        </p:spPr>
        <p:txBody>
          <a:bodyPr wrap="square" lIns="0" tIns="0" rIns="0" bIns="0" rtlCol="0" anchor="ctr"/>
          <a:lstStyle/>
          <a:p>
            <a:pPr algn="ctr" indent="0" marL="0">
              <a:buNone/>
            </a:pPr>
            <a:r>
              <a:rPr lang="en-US" sz="3000" b="1" dirty="0">
                <a:solidFill>
                  <a:srgbClr val="C67139"/>
                </a:solidFill>
                <a:latin typeface="Arial" pitchFamily="34" charset="0"/>
                <a:ea typeface="Arial" pitchFamily="34" charset="-122"/>
                <a:cs typeface="Arial" pitchFamily="34" charset="-120"/>
              </a:rPr>
              <a:t>76,67%</a:t>
            </a:r>
            <a:endParaRPr lang="en-US" sz="3000" dirty="0"/>
          </a:p>
        </p:txBody>
      </p:sp>
      <p:sp>
        <p:nvSpPr>
          <p:cNvPr id="9" name="Text 7"/>
          <p:cNvSpPr txBox="1"/>
          <p:nvPr/>
        </p:nvSpPr>
        <p:spPr>
          <a:xfrm>
            <a:off x="3566160" y="2304288"/>
            <a:ext cx="2286000" cy="548640"/>
          </a:xfrm>
          <a:prstGeom prst="rect">
            <a:avLst/>
          </a:prstGeom>
          <a:noFill/>
          <a:ln/>
        </p:spPr>
        <p:txBody>
          <a:bodyPr wrap="square" lIns="0" tIns="0" rIns="0" bIns="0" rtlCol="0" anchor="ctr"/>
          <a:lstStyle/>
          <a:p>
            <a:pPr algn="ctr" indent="0" marL="0">
              <a:lnSpc>
                <a:spcPts val="1500"/>
              </a:lnSpc>
              <a:buNone/>
            </a:pPr>
            <a:r>
              <a:rPr lang="en-US" sz="1150" dirty="0">
                <a:solidFill>
                  <a:srgbClr val="645C50"/>
                </a:solidFill>
                <a:latin typeface="Arial" pitchFamily="34" charset="0"/>
                <a:ea typeface="Arial" pitchFamily="34" charset="-122"/>
                <a:cs typeface="Arial" pitchFamily="34" charset="-120"/>
              </a:rPr>
              <a:t>Top-1 — cổng chỉ số của CI</a:t>
            </a:r>
            <a:endParaRPr lang="en-US" sz="1150" dirty="0"/>
          </a:p>
        </p:txBody>
      </p:sp>
      <p:sp>
        <p:nvSpPr>
          <p:cNvPr id="10" name="Shape 8"/>
          <p:cNvSpPr/>
          <p:nvPr/>
        </p:nvSpPr>
        <p:spPr>
          <a:xfrm>
            <a:off x="6190488" y="1572768"/>
            <a:ext cx="2542032" cy="1371600"/>
          </a:xfrm>
          <a:prstGeom prst="roundRect">
            <a:avLst>
              <a:gd name="adj" fmla="val 9333"/>
            </a:avLst>
          </a:prstGeom>
          <a:solidFill>
            <a:srgbClr val="F0FAE1"/>
          </a:solidFill>
          <a:ln w="12700">
            <a:solidFill>
              <a:srgbClr val="CCDBB2"/>
            </a:solidFill>
            <a:prstDash val="solid"/>
          </a:ln>
        </p:spPr>
      </p:sp>
      <p:sp>
        <p:nvSpPr>
          <p:cNvPr id="11" name="Text 9"/>
          <p:cNvSpPr txBox="1"/>
          <p:nvPr/>
        </p:nvSpPr>
        <p:spPr>
          <a:xfrm>
            <a:off x="6190488" y="1719072"/>
            <a:ext cx="2542032" cy="566928"/>
          </a:xfrm>
          <a:prstGeom prst="rect">
            <a:avLst/>
          </a:prstGeom>
          <a:noFill/>
          <a:ln/>
        </p:spPr>
        <p:txBody>
          <a:bodyPr wrap="square" lIns="0" tIns="0" rIns="0" bIns="0" rtlCol="0" anchor="ctr"/>
          <a:lstStyle/>
          <a:p>
            <a:pPr algn="ctr" indent="0" marL="0">
              <a:buNone/>
            </a:pPr>
            <a:r>
              <a:rPr lang="en-US" sz="3000" b="1" dirty="0">
                <a:solidFill>
                  <a:srgbClr val="7A8A5E"/>
                </a:solidFill>
                <a:latin typeface="Arial" pitchFamily="34" charset="0"/>
                <a:ea typeface="Arial" pitchFamily="34" charset="-122"/>
                <a:cs typeface="Arial" pitchFamily="34" charset="-120"/>
              </a:rPr>
              <a:t>95,00%</a:t>
            </a:r>
            <a:endParaRPr lang="en-US" sz="3000" dirty="0"/>
          </a:p>
        </p:txBody>
      </p:sp>
      <p:sp>
        <p:nvSpPr>
          <p:cNvPr id="12" name="Text 10"/>
          <p:cNvSpPr txBox="1"/>
          <p:nvPr/>
        </p:nvSpPr>
        <p:spPr>
          <a:xfrm>
            <a:off x="6318504" y="2304288"/>
            <a:ext cx="2286000" cy="548640"/>
          </a:xfrm>
          <a:prstGeom prst="rect">
            <a:avLst/>
          </a:prstGeom>
          <a:noFill/>
          <a:ln/>
        </p:spPr>
        <p:txBody>
          <a:bodyPr wrap="square" lIns="0" tIns="0" rIns="0" bIns="0" rtlCol="0" anchor="ctr"/>
          <a:lstStyle/>
          <a:p>
            <a:pPr algn="ctr" indent="0" marL="0">
              <a:lnSpc>
                <a:spcPts val="1500"/>
              </a:lnSpc>
              <a:buNone/>
            </a:pPr>
            <a:r>
              <a:rPr lang="en-US" sz="1150" dirty="0">
                <a:solidFill>
                  <a:srgbClr val="645C50"/>
                </a:solidFill>
                <a:latin typeface="Arial" pitchFamily="34" charset="0"/>
                <a:ea typeface="Arial" pitchFamily="34" charset="-122"/>
                <a:cs typeface="Arial" pitchFamily="34" charset="-120"/>
              </a:rPr>
              <a:t>Top-5 — 9/120 câu sai hoàn toàn</a:t>
            </a:r>
            <a:endParaRPr lang="en-US" sz="1150" dirty="0"/>
          </a:p>
        </p:txBody>
      </p:sp>
      <p:sp>
        <p:nvSpPr>
          <p:cNvPr id="13" name="Shape 11"/>
          <p:cNvSpPr/>
          <p:nvPr/>
        </p:nvSpPr>
        <p:spPr>
          <a:xfrm>
            <a:off x="8942832" y="1572768"/>
            <a:ext cx="2542032" cy="1371600"/>
          </a:xfrm>
          <a:prstGeom prst="roundRect">
            <a:avLst>
              <a:gd name="adj" fmla="val 9333"/>
            </a:avLst>
          </a:prstGeom>
          <a:solidFill>
            <a:srgbClr val="F0FAE1"/>
          </a:solidFill>
          <a:ln w="12700">
            <a:solidFill>
              <a:srgbClr val="CCDBB2"/>
            </a:solidFill>
            <a:prstDash val="solid"/>
          </a:ln>
        </p:spPr>
      </p:sp>
      <p:sp>
        <p:nvSpPr>
          <p:cNvPr id="14" name="Text 12"/>
          <p:cNvSpPr txBox="1"/>
          <p:nvPr/>
        </p:nvSpPr>
        <p:spPr>
          <a:xfrm>
            <a:off x="8942832" y="1719072"/>
            <a:ext cx="2542032" cy="566928"/>
          </a:xfrm>
          <a:prstGeom prst="rect">
            <a:avLst/>
          </a:prstGeom>
          <a:noFill/>
          <a:ln/>
        </p:spPr>
        <p:txBody>
          <a:bodyPr wrap="square" lIns="0" tIns="0" rIns="0" bIns="0" rtlCol="0" anchor="ctr"/>
          <a:lstStyle/>
          <a:p>
            <a:pPr algn="ctr" indent="0" marL="0">
              <a:buNone/>
            </a:pPr>
            <a:r>
              <a:rPr lang="en-US" sz="3000" b="1" dirty="0">
                <a:solidFill>
                  <a:srgbClr val="7A8A5E"/>
                </a:solidFill>
                <a:latin typeface="Arial" pitchFamily="34" charset="0"/>
                <a:ea typeface="Arial" pitchFamily="34" charset="-122"/>
                <a:cs typeface="Arial" pitchFamily="34" charset="-120"/>
              </a:rPr>
              <a:t>0,8384</a:t>
            </a:r>
            <a:endParaRPr lang="en-US" sz="3000" dirty="0"/>
          </a:p>
        </p:txBody>
      </p:sp>
      <p:sp>
        <p:nvSpPr>
          <p:cNvPr id="15" name="Text 13"/>
          <p:cNvSpPr txBox="1"/>
          <p:nvPr/>
        </p:nvSpPr>
        <p:spPr>
          <a:xfrm>
            <a:off x="9070848" y="2304288"/>
            <a:ext cx="2286000" cy="548640"/>
          </a:xfrm>
          <a:prstGeom prst="rect">
            <a:avLst/>
          </a:prstGeom>
          <a:noFill/>
          <a:ln/>
        </p:spPr>
        <p:txBody>
          <a:bodyPr wrap="square" lIns="0" tIns="0" rIns="0" bIns="0" rtlCol="0" anchor="ctr"/>
          <a:lstStyle/>
          <a:p>
            <a:pPr algn="ctr" indent="0" marL="0">
              <a:lnSpc>
                <a:spcPts val="1500"/>
              </a:lnSpc>
              <a:buNone/>
            </a:pPr>
            <a:r>
              <a:rPr lang="en-US" sz="1150" dirty="0">
                <a:solidFill>
                  <a:srgbClr val="645C50"/>
                </a:solidFill>
                <a:latin typeface="Arial" pitchFamily="34" charset="0"/>
                <a:ea typeface="Arial" pitchFamily="34" charset="-122"/>
                <a:cs typeface="Arial" pitchFamily="34" charset="-120"/>
              </a:rPr>
              <a:t>MRR — đáp án đúng ở vị trí 1–2</a:t>
            </a:r>
            <a:endParaRPr lang="en-US" sz="1150" dirty="0"/>
          </a:p>
        </p:txBody>
      </p:sp>
      <p:graphicFrame>
        <p:nvGraphicFramePr>
          <p:cNvPr id="16" name="Chart 0" descr=""/>
          <p:cNvGraphicFramePr/>
          <p:nvPr/>
        </p:nvGraphicFramePr>
        <p:xfrm>
          <a:off x="685800" y="3127248"/>
          <a:ext cx="6675120" cy="2999232"/>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7680960" y="3127248"/>
            <a:ext cx="3824935" cy="2999232"/>
          </a:xfrm>
          <a:prstGeom prst="roundRect">
            <a:avLst>
              <a:gd name="adj" fmla="val 4268"/>
            </a:avLst>
          </a:prstGeom>
          <a:solidFill>
            <a:srgbClr val="F9F4ED"/>
          </a:solidFill>
          <a:ln w="12700">
            <a:solidFill>
              <a:srgbClr val="DCD3C4"/>
            </a:solidFill>
            <a:prstDash val="solid"/>
          </a:ln>
        </p:spPr>
      </p:sp>
      <p:sp>
        <p:nvSpPr>
          <p:cNvPr id="18" name="Shape 15"/>
          <p:cNvSpPr/>
          <p:nvPr/>
        </p:nvSpPr>
        <p:spPr>
          <a:xfrm>
            <a:off x="7973568" y="3328416"/>
            <a:ext cx="954634" cy="274320"/>
          </a:xfrm>
          <a:prstGeom prst="roundRect">
            <a:avLst>
              <a:gd name="adj" fmla="val 50000"/>
            </a:avLst>
          </a:prstGeom>
          <a:solidFill>
            <a:srgbClr val="C67139"/>
          </a:solidFill>
          <a:ln/>
        </p:spPr>
      </p:sp>
      <p:sp>
        <p:nvSpPr>
          <p:cNvPr id="19" name="Text 16"/>
          <p:cNvSpPr txBox="1"/>
          <p:nvPr/>
        </p:nvSpPr>
        <p:spPr>
          <a:xfrm>
            <a:off x="7973568" y="3328416"/>
            <a:ext cx="954634" cy="274320"/>
          </a:xfrm>
          <a:prstGeom prst="rect">
            <a:avLst/>
          </a:prstGeom>
          <a:noFill/>
          <a:ln/>
        </p:spPr>
        <p:txBody>
          <a:bodyPr wrap="square" lIns="0" tIns="0" rIns="0" bIns="0" rtlCol="0" anchor="ctr"/>
          <a:lstStyle/>
          <a:p>
            <a:pPr algn="ctr" indent="0" marL="0">
              <a:buNone/>
            </a:pPr>
            <a:r>
              <a:rPr lang="en-US" sz="1000" b="1" dirty="0">
                <a:solidFill>
                  <a:srgbClr val="F5EAD8"/>
                </a:solidFill>
                <a:latin typeface="Arial" pitchFamily="34" charset="0"/>
                <a:ea typeface="Arial" pitchFamily="34" charset="-122"/>
                <a:cs typeface="Arial" pitchFamily="34" charset="-120"/>
              </a:rPr>
              <a:t>NHẬN XÉT</a:t>
            </a:r>
            <a:endParaRPr lang="en-US" sz="1000" dirty="0"/>
          </a:p>
        </p:txBody>
      </p:sp>
      <p:sp>
        <p:nvSpPr>
          <p:cNvPr id="20" name="Text 17"/>
          <p:cNvSpPr txBox="1"/>
          <p:nvPr/>
        </p:nvSpPr>
        <p:spPr>
          <a:xfrm>
            <a:off x="7973568" y="3730752"/>
            <a:ext cx="3246120" cy="2194560"/>
          </a:xfrm>
          <a:prstGeom prst="rect">
            <a:avLst/>
          </a:prstGeom>
          <a:noFill/>
          <a:ln/>
        </p:spPr>
        <p:txBody>
          <a:bodyPr wrap="square" lIns="0" tIns="0" rIns="0" bIns="0" rtlCol="0" anchor="ctr"/>
          <a:lstStyle/>
          <a:p>
            <a:pPr indent="0" marL="0">
              <a:lnSpc>
                <a:spcPts val="1500"/>
              </a:lnSpc>
              <a:buNone/>
            </a:pPr>
            <a:r>
              <a:rPr lang="en-US" sz="1150" b="1" dirty="0">
                <a:solidFill>
                  <a:srgbClr val="201E1D"/>
                </a:solidFill>
                <a:latin typeface="Arial" pitchFamily="34" charset="0"/>
                <a:ea typeface="Arial" pitchFamily="34" charset="-122"/>
                <a:cs typeface="Arial" pitchFamily="34" charset="-120"/>
              </a:rPr>
              <a:t>P2 và P7 có Top-1 thấp nhưng Top-5 rất cao.
</a:t>
            </a:r>
            <a:endParaRPr lang="en-US" sz="1150" dirty="0"/>
          </a:p>
          <a:p>
            <a:pPr indent="0" marL="0">
              <a:lnSpc>
                <a:spcPts val="1500"/>
              </a:lnSpc>
              <a:buNone/>
            </a:pPr>
            <a:r>
              <a:rPr lang="en-US" sz="1150" dirty="0">
                <a:solidFill>
                  <a:srgbClr val="645C50"/>
                </a:solidFill>
                <a:latin typeface="Arial" pitchFamily="34" charset="0"/>
                <a:ea typeface="Arial" pitchFamily="34" charset="-122"/>
                <a:cs typeface="Arial" pitchFamily="34" charset="-120"/>
              </a:rPr>
              <a:t>Đáp án đúng CÓ trong danh sách trả về, chỉ chưa xếp đầu. P2 vì nhiều quy tắc gần nghĩa; P7 vì “kiến thức liên quan” vốn không có một đáp án duy nhất.
</a:t>
            </a:r>
            <a:endParaRPr lang="en-US" sz="1150" dirty="0"/>
          </a:p>
          <a:p>
            <a:pPr indent="0" marL="0">
              <a:lnSpc>
                <a:spcPts val="1500"/>
              </a:lnSpc>
              <a:buNone/>
            </a:pPr>
            <a:r>
              <a:rPr lang="en-US" sz="1150" b="1" dirty="0">
                <a:solidFill>
                  <a:srgbClr val="201E1D"/>
                </a:solidFill>
                <a:latin typeface="Arial" pitchFamily="34" charset="0"/>
                <a:ea typeface="Arial" pitchFamily="34" charset="-122"/>
                <a:cs typeface="Arial" pitchFamily="34" charset="-120"/>
              </a:rPr>
              <a:t>Precision 0,3373 không phải khiếm khuyết.
</a:t>
            </a:r>
            <a:endParaRPr lang="en-US" sz="1150" dirty="0"/>
          </a:p>
          <a:p>
            <a:pPr indent="0" marL="0">
              <a:lnSpc>
                <a:spcPts val="1500"/>
              </a:lnSpc>
              <a:buNone/>
            </a:pPr>
            <a:r>
              <a:rPr lang="en-US" sz="1150" dirty="0">
                <a:solidFill>
                  <a:srgbClr val="645C50"/>
                </a:solidFill>
                <a:latin typeface="Arial" pitchFamily="34" charset="0"/>
                <a:ea typeface="Arial" pitchFamily="34" charset="-122"/>
                <a:cs typeface="Arial" pitchFamily="34" charset="-120"/>
              </a:rPr>
              <a:t>Trả k = 5 kết quả cho đáp án một mẩu → trần toán học 0,20 mỗi câu. Recall 0,9306 mới là chỉ số phản ánh đúng mục tiêu của một hệ tra cứu.</a:t>
            </a:r>
            <a:endParaRPr lang="en-US" sz="1150" dirty="0"/>
          </a:p>
        </p:txBody>
      </p:sp>
      <p:sp>
        <p:nvSpPr>
          <p:cNvPr id="21" name="Text 18"/>
          <p:cNvSpPr txBox="1"/>
          <p:nvPr/>
        </p:nvSpPr>
        <p:spPr>
          <a:xfrm>
            <a:off x="685800" y="6291072"/>
            <a:ext cx="9997135" cy="274320"/>
          </a:xfrm>
          <a:prstGeom prst="rect">
            <a:avLst/>
          </a:prstGeom>
          <a:noFill/>
          <a:ln/>
        </p:spPr>
        <p:txBody>
          <a:bodyPr wrap="square" lIns="0" tIns="0" rIns="0" bIns="0" rtlCol="0" anchor="ctr"/>
          <a:lstStyle/>
          <a:p>
            <a:pPr indent="0" marL="0">
              <a:buNone/>
            </a:pPr>
            <a:r>
              <a:rPr lang="en-US" sz="1000" i="1" dirty="0">
                <a:solidFill>
                  <a:srgbClr val="82796A"/>
                </a:solidFill>
                <a:latin typeface="Arial" pitchFamily="34" charset="0"/>
                <a:ea typeface="Arial" pitchFamily="34" charset="-122"/>
                <a:cs typeface="Arial" pitchFamily="34" charset="-120"/>
              </a:rPr>
              <a:t>Thời gian trả lời trung bình 6,2 ms · chạy hoàn toàn cục bộ</a:t>
            </a:r>
            <a:endParaRPr lang="en-US" sz="1000" dirty="0"/>
          </a:p>
        </p:txBody>
      </p:sp>
      <p:sp>
        <p:nvSpPr>
          <p:cNvPr id="22" name="Text 19"/>
          <p:cNvSpPr txBox="1"/>
          <p:nvPr/>
        </p:nvSpPr>
        <p:spPr>
          <a:xfrm>
            <a:off x="10865815" y="6291072"/>
            <a:ext cx="640080" cy="274320"/>
          </a:xfrm>
          <a:prstGeom prst="rect">
            <a:avLst/>
          </a:prstGeom>
          <a:noFill/>
          <a:ln/>
        </p:spPr>
        <p:txBody>
          <a:bodyPr wrap="square" lIns="0" tIns="0" rIns="0" bIns="0" rtlCol="0" anchor="ctr"/>
          <a:lstStyle/>
          <a:p>
            <a:pPr algn="r" indent="0" marL="0">
              <a:buNone/>
            </a:pPr>
            <a:r>
              <a:rPr lang="en-US" sz="1000" dirty="0">
                <a:solidFill>
                  <a:srgbClr val="82796A"/>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200" b="1" spc="200" kern="0" dirty="0">
                <a:solidFill>
                  <a:srgbClr val="8C491A"/>
                </a:solidFill>
                <a:latin typeface="Arial" pitchFamily="34" charset="0"/>
                <a:ea typeface="Arial" pitchFamily="34" charset="-122"/>
                <a:cs typeface="Arial" pitchFamily="34" charset="-120"/>
              </a:rPr>
              <a:t>KIỂM CHỨNG</a:t>
            </a:r>
            <a:endParaRPr lang="en-US" sz="1200" dirty="0"/>
          </a:p>
        </p:txBody>
      </p:sp>
      <p:sp>
        <p:nvSpPr>
          <p:cNvPr id="3" name="Text 1"/>
          <p:cNvSpPr txBox="1"/>
          <p:nvPr/>
        </p:nvSpPr>
        <p:spPr>
          <a:xfrm>
            <a:off x="685800" y="658368"/>
            <a:ext cx="10820095" cy="566928"/>
          </a:xfrm>
          <a:prstGeom prst="rect">
            <a:avLst/>
          </a:prstGeom>
          <a:noFill/>
          <a:ln/>
        </p:spPr>
        <p:txBody>
          <a:bodyPr wrap="square" lIns="0" tIns="0" rIns="0" bIns="0" rtlCol="0" anchor="ctr"/>
          <a:lstStyle/>
          <a:p>
            <a:pPr indent="0" marL="0">
              <a:buNone/>
            </a:pPr>
            <a:r>
              <a:rPr lang="en-US" sz="3000" b="1" dirty="0">
                <a:solidFill>
                  <a:srgbClr val="201E1D"/>
                </a:solidFill>
                <a:latin typeface="Arial" pitchFamily="34" charset="0"/>
                <a:ea typeface="Arial" pitchFamily="34" charset="-122"/>
                <a:cs typeface="Arial" pitchFamily="34" charset="-120"/>
              </a:rPr>
              <a:t>Từng thành phần đóng góp bao nhiêu?</a:t>
            </a:r>
            <a:endParaRPr lang="en-US" sz="3000" dirty="0"/>
          </a:p>
        </p:txBody>
      </p:sp>
      <p:graphicFrame>
        <p:nvGraphicFramePr>
          <p:cNvPr id="4" name="Chart 0" descr=""/>
          <p:cNvGraphicFramePr/>
          <p:nvPr/>
        </p:nvGraphicFramePr>
        <p:xfrm>
          <a:off x="685800" y="1536192"/>
          <a:ext cx="6675120" cy="23774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536192"/>
            <a:ext cx="3824935" cy="2377440"/>
          </a:xfrm>
          <a:prstGeom prst="roundRect">
            <a:avLst>
              <a:gd name="adj" fmla="val 5385"/>
            </a:avLst>
          </a:prstGeom>
          <a:solidFill>
            <a:srgbClr val="FFF2EB"/>
          </a:solidFill>
          <a:ln w="12700">
            <a:solidFill>
              <a:srgbClr val="FFC6A5"/>
            </a:solidFill>
            <a:prstDash val="solid"/>
          </a:ln>
        </p:spPr>
      </p:sp>
      <p:sp>
        <p:nvSpPr>
          <p:cNvPr id="6" name="Text 3"/>
          <p:cNvSpPr txBox="1"/>
          <p:nvPr/>
        </p:nvSpPr>
        <p:spPr>
          <a:xfrm>
            <a:off x="7973568" y="1773936"/>
            <a:ext cx="3246120" cy="1920240"/>
          </a:xfrm>
          <a:prstGeom prst="rect">
            <a:avLst/>
          </a:prstGeom>
          <a:noFill/>
          <a:ln/>
        </p:spPr>
        <p:txBody>
          <a:bodyPr wrap="square" lIns="0" tIns="0" rIns="0" bIns="0" rtlCol="0" anchor="ctr"/>
          <a:lstStyle/>
          <a:p>
            <a:pPr indent="0" marL="0">
              <a:lnSpc>
                <a:spcPts val="1600"/>
              </a:lnSpc>
              <a:buNone/>
            </a:pPr>
            <a:r>
              <a:rPr lang="en-US" sz="1200" b="1" dirty="0">
                <a:solidFill>
                  <a:srgbClr val="8C491A"/>
                </a:solidFill>
                <a:latin typeface="Arial" pitchFamily="34" charset="0"/>
                <a:ea typeface="Arial" pitchFamily="34" charset="-122"/>
                <a:cs typeface="Arial" pitchFamily="34" charset="-120"/>
              </a:rPr>
              <a:t>Keyphrase đứng riêng YẾU HƠN TF-IDF
</a:t>
            </a:r>
            <a:endParaRPr lang="en-US" sz="1200" dirty="0"/>
          </a:p>
          <a:p>
            <a:pPr indent="0" marL="0">
              <a:lnSpc>
                <a:spcPts val="1600"/>
              </a:lnSpc>
              <a:buNone/>
            </a:pPr>
            <a:r>
              <a:rPr lang="en-US" sz="1200" dirty="0">
                <a:solidFill>
                  <a:srgbClr val="5A4032"/>
                </a:solidFill>
                <a:latin typeface="Arial" pitchFamily="34" charset="0"/>
                <a:ea typeface="Arial" pitchFamily="34" charset="-122"/>
                <a:cs typeface="Arial" pitchFamily="34" charset="-120"/>
              </a:rPr>
              <a:t>35,8% so với 58,3% — nhưng vẫn xứng trọng số cao nhất 0,55. Nó thua về ĐỘ PHỦ, không thua về ĐỘ CHÍNH XÁC. Lai lại: TF-IDF lo phần phủ, keyphrase lo phần chuẩn.</a:t>
            </a:r>
            <a:endParaRPr lang="en-US" sz="1200" dirty="0"/>
          </a:p>
        </p:txBody>
      </p:sp>
      <p:sp>
        <p:nvSpPr>
          <p:cNvPr id="7" name="Shape 4"/>
          <p:cNvSpPr/>
          <p:nvPr/>
        </p:nvSpPr>
        <p:spPr>
          <a:xfrm>
            <a:off x="685800" y="4114800"/>
            <a:ext cx="10820095" cy="1975104"/>
          </a:xfrm>
          <a:prstGeom prst="roundRect">
            <a:avLst>
              <a:gd name="adj" fmla="val 6481"/>
            </a:avLst>
          </a:prstGeom>
          <a:solidFill>
            <a:srgbClr val="EBDDC5"/>
          </a:solidFill>
          <a:ln/>
        </p:spPr>
      </p:sp>
      <p:sp>
        <p:nvSpPr>
          <p:cNvPr id="8" name="Shape 5"/>
          <p:cNvSpPr/>
          <p:nvPr/>
        </p:nvSpPr>
        <p:spPr>
          <a:xfrm>
            <a:off x="1014984" y="4315968"/>
            <a:ext cx="2242109" cy="274320"/>
          </a:xfrm>
          <a:prstGeom prst="roundRect">
            <a:avLst>
              <a:gd name="adj" fmla="val 50000"/>
            </a:avLst>
          </a:prstGeom>
          <a:solidFill>
            <a:srgbClr val="7A8A5E"/>
          </a:solidFill>
          <a:ln/>
        </p:spPr>
      </p:sp>
      <p:sp>
        <p:nvSpPr>
          <p:cNvPr id="9" name="Text 6"/>
          <p:cNvSpPr txBox="1"/>
          <p:nvPr/>
        </p:nvSpPr>
        <p:spPr>
          <a:xfrm>
            <a:off x="1014984" y="4315968"/>
            <a:ext cx="2242109" cy="274320"/>
          </a:xfrm>
          <a:prstGeom prst="rect">
            <a:avLst/>
          </a:prstGeom>
          <a:noFill/>
          <a:ln/>
        </p:spPr>
        <p:txBody>
          <a:bodyPr wrap="square" lIns="0" tIns="0" rIns="0" bIns="0" rtlCol="0" anchor="ctr"/>
          <a:lstStyle/>
          <a:p>
            <a:pPr algn="ctr" indent="0" marL="0">
              <a:buNone/>
            </a:pPr>
            <a:r>
              <a:rPr lang="en-US" sz="1000" b="1" dirty="0">
                <a:solidFill>
                  <a:srgbClr val="F5EAD8"/>
                </a:solidFill>
                <a:latin typeface="Arial" pitchFamily="34" charset="0"/>
                <a:ea typeface="Arial" pitchFamily="34" charset="-122"/>
                <a:cs typeface="Arial" pitchFamily="34" charset="-120"/>
              </a:rPr>
              <a:t>22 CÂU HỎI CÓ GIÁ TRỊ SỐ</a:t>
            </a:r>
            <a:endParaRPr lang="en-US" sz="1000" dirty="0"/>
          </a:p>
        </p:txBody>
      </p:sp>
      <p:sp>
        <p:nvSpPr>
          <p:cNvPr id="10" name="Text 7"/>
          <p:cNvSpPr txBox="1"/>
          <p:nvPr/>
        </p:nvSpPr>
        <p:spPr>
          <a:xfrm>
            <a:off x="1014984" y="4754880"/>
            <a:ext cx="1828800" cy="658368"/>
          </a:xfrm>
          <a:prstGeom prst="rect">
            <a:avLst/>
          </a:prstGeom>
          <a:noFill/>
          <a:ln/>
        </p:spPr>
        <p:txBody>
          <a:bodyPr wrap="square" lIns="0" tIns="0" rIns="0" bIns="0" rtlCol="0" anchor="ctr"/>
          <a:lstStyle/>
          <a:p>
            <a:pPr algn="ctr" indent="0" marL="0">
              <a:buNone/>
            </a:pPr>
            <a:r>
              <a:rPr lang="en-US" sz="3600" b="1" dirty="0">
                <a:solidFill>
                  <a:srgbClr val="82796A"/>
                </a:solidFill>
                <a:latin typeface="Arial" pitchFamily="34" charset="0"/>
                <a:ea typeface="Arial" pitchFamily="34" charset="-122"/>
                <a:cs typeface="Arial" pitchFamily="34" charset="-120"/>
              </a:rPr>
              <a:t>40,9%</a:t>
            </a:r>
            <a:endParaRPr lang="en-US" sz="3600" dirty="0"/>
          </a:p>
        </p:txBody>
      </p:sp>
      <p:sp>
        <p:nvSpPr>
          <p:cNvPr id="11" name="Text 8"/>
          <p:cNvSpPr txBox="1"/>
          <p:nvPr/>
        </p:nvSpPr>
        <p:spPr>
          <a:xfrm>
            <a:off x="1014984" y="5413248"/>
            <a:ext cx="1828800" cy="274320"/>
          </a:xfrm>
          <a:prstGeom prst="rect">
            <a:avLst/>
          </a:prstGeom>
          <a:noFill/>
          <a:ln/>
        </p:spPr>
        <p:txBody>
          <a:bodyPr wrap="square" lIns="0" tIns="0" rIns="0" bIns="0" rtlCol="0" anchor="ctr"/>
          <a:lstStyle/>
          <a:p>
            <a:pPr algn="ctr" indent="0" marL="0">
              <a:buNone/>
            </a:pPr>
            <a:r>
              <a:rPr lang="en-US" sz="1100" dirty="0">
                <a:solidFill>
                  <a:srgbClr val="645C50"/>
                </a:solidFill>
                <a:latin typeface="Arial" pitchFamily="34" charset="0"/>
                <a:ea typeface="Arial" pitchFamily="34" charset="-122"/>
                <a:cs typeface="Arial" pitchFamily="34" charset="-120"/>
              </a:rPr>
              <a:t>chưa suy diễn số học</a:t>
            </a:r>
            <a:endParaRPr lang="en-US" sz="1100" dirty="0"/>
          </a:p>
        </p:txBody>
      </p:sp>
      <p:sp>
        <p:nvSpPr>
          <p:cNvPr id="12" name="Text 9"/>
          <p:cNvSpPr txBox="1"/>
          <p:nvPr/>
        </p:nvSpPr>
        <p:spPr>
          <a:xfrm>
            <a:off x="2935224" y="4754880"/>
            <a:ext cx="731520" cy="658368"/>
          </a:xfrm>
          <a:prstGeom prst="rect">
            <a:avLst/>
          </a:prstGeom>
          <a:noFill/>
          <a:ln/>
        </p:spPr>
        <p:txBody>
          <a:bodyPr wrap="square" lIns="0" tIns="0" rIns="0" bIns="0" rtlCol="0" anchor="ctr"/>
          <a:lstStyle/>
          <a:p>
            <a:pPr algn="ctr" indent="0" marL="0">
              <a:buNone/>
            </a:pPr>
            <a:r>
              <a:rPr lang="en-US" sz="3000" b="1" dirty="0">
                <a:solidFill>
                  <a:srgbClr val="C67139"/>
                </a:solidFill>
                <a:latin typeface="Arial" pitchFamily="34" charset="0"/>
                <a:ea typeface="Arial" pitchFamily="34" charset="-122"/>
                <a:cs typeface="Arial" pitchFamily="34" charset="-120"/>
              </a:rPr>
              <a:t>→</a:t>
            </a:r>
            <a:endParaRPr lang="en-US" sz="3000" dirty="0"/>
          </a:p>
        </p:txBody>
      </p:sp>
      <p:sp>
        <p:nvSpPr>
          <p:cNvPr id="13" name="Text 10"/>
          <p:cNvSpPr txBox="1"/>
          <p:nvPr/>
        </p:nvSpPr>
        <p:spPr>
          <a:xfrm>
            <a:off x="3703320" y="4754880"/>
            <a:ext cx="1828800" cy="658368"/>
          </a:xfrm>
          <a:prstGeom prst="rect">
            <a:avLst/>
          </a:prstGeom>
          <a:noFill/>
          <a:ln/>
        </p:spPr>
        <p:txBody>
          <a:bodyPr wrap="square" lIns="0" tIns="0" rIns="0" bIns="0" rtlCol="0" anchor="ctr"/>
          <a:lstStyle/>
          <a:p>
            <a:pPr algn="ctr" indent="0" marL="0">
              <a:buNone/>
            </a:pPr>
            <a:r>
              <a:rPr lang="en-US" sz="3600" b="1" dirty="0">
                <a:solidFill>
                  <a:srgbClr val="C67139"/>
                </a:solidFill>
                <a:latin typeface="Arial" pitchFamily="34" charset="0"/>
                <a:ea typeface="Arial" pitchFamily="34" charset="-122"/>
                <a:cs typeface="Arial" pitchFamily="34" charset="-120"/>
              </a:rPr>
              <a:t>95,5%</a:t>
            </a:r>
            <a:endParaRPr lang="en-US" sz="3600" dirty="0"/>
          </a:p>
        </p:txBody>
      </p:sp>
      <p:sp>
        <p:nvSpPr>
          <p:cNvPr id="14" name="Text 11"/>
          <p:cNvSpPr txBox="1"/>
          <p:nvPr/>
        </p:nvSpPr>
        <p:spPr>
          <a:xfrm>
            <a:off x="3703320" y="5413248"/>
            <a:ext cx="1828800" cy="274320"/>
          </a:xfrm>
          <a:prstGeom prst="rect">
            <a:avLst/>
          </a:prstGeom>
          <a:noFill/>
          <a:ln/>
        </p:spPr>
        <p:txBody>
          <a:bodyPr wrap="square" lIns="0" tIns="0" rIns="0" bIns="0" rtlCol="0" anchor="ctr"/>
          <a:lstStyle/>
          <a:p>
            <a:pPr algn="ctr" indent="0" marL="0">
              <a:buNone/>
            </a:pPr>
            <a:r>
              <a:rPr lang="en-US" sz="1100" dirty="0">
                <a:solidFill>
                  <a:srgbClr val="645C50"/>
                </a:solidFill>
                <a:latin typeface="Arial" pitchFamily="34" charset="0"/>
                <a:ea typeface="Arial" pitchFamily="34" charset="-122"/>
                <a:cs typeface="Arial" pitchFamily="34" charset="-120"/>
              </a:rPr>
              <a:t>có suy diễn số học</a:t>
            </a:r>
            <a:endParaRPr lang="en-US" sz="1100" dirty="0"/>
          </a:p>
        </p:txBody>
      </p:sp>
      <p:sp>
        <p:nvSpPr>
          <p:cNvPr id="15" name="Text 12"/>
          <p:cNvSpPr txBox="1"/>
          <p:nvPr/>
        </p:nvSpPr>
        <p:spPr>
          <a:xfrm>
            <a:off x="5897880" y="4718304"/>
            <a:ext cx="5303520" cy="1188720"/>
          </a:xfrm>
          <a:prstGeom prst="rect">
            <a:avLst/>
          </a:prstGeom>
          <a:noFill/>
          <a:ln/>
        </p:spPr>
        <p:txBody>
          <a:bodyPr wrap="square" lIns="0" tIns="0" rIns="0" bIns="0" rtlCol="0" anchor="ctr"/>
          <a:lstStyle/>
          <a:p>
            <a:pPr indent="0" marL="0">
              <a:lnSpc>
                <a:spcPts val="1700"/>
              </a:lnSpc>
              <a:buNone/>
            </a:pPr>
            <a:r>
              <a:rPr lang="en-US" sz="1250" b="1" dirty="0">
                <a:solidFill>
                  <a:srgbClr val="201E1D"/>
                </a:solidFill>
                <a:latin typeface="Arial" pitchFamily="34" charset="0"/>
                <a:ea typeface="Arial" pitchFamily="34" charset="-122"/>
                <a:cs typeface="Arial" pitchFamily="34" charset="-120"/>
              </a:rPr>
              <a:t>Trong khi đó Top-5 gần như không đổi: 95,5% → 100,0%.
</a:t>
            </a:r>
            <a:endParaRPr lang="en-US" sz="1250" dirty="0"/>
          </a:p>
          <a:p>
            <a:pPr indent="0" marL="0">
              <a:lnSpc>
                <a:spcPts val="1700"/>
              </a:lnSpc>
              <a:buNone/>
            </a:pPr>
            <a:r>
              <a:rPr lang="en-US" sz="1250" dirty="0">
                <a:solidFill>
                  <a:srgbClr val="645C50"/>
                </a:solidFill>
                <a:latin typeface="Arial" pitchFamily="34" charset="0"/>
                <a:ea typeface="Arial" pitchFamily="34" charset="-122"/>
                <a:cs typeface="Arial" pitchFamily="34" charset="-120"/>
              </a:rPr>
              <a:t>Con số này nói đúng một điều: so khớp từ khoá VẪN TÌM RA đủ các khung phạt, nó chỉ không biết CHỌN KHUNG NÀO. NumericReasoner rút ngưỡng từ chính nguyên văn điều khoản rồi so sánh khoảng — giải quyết đúng khâu đó.</a:t>
            </a:r>
            <a:endParaRPr lang="en-US" sz="1250" dirty="0"/>
          </a:p>
        </p:txBody>
      </p:sp>
      <p:sp>
        <p:nvSpPr>
          <p:cNvPr id="16" name="Text 13"/>
          <p:cNvSpPr txBox="1"/>
          <p:nvPr/>
        </p:nvSpPr>
        <p:spPr>
          <a:xfrm>
            <a:off x="685800" y="6291072"/>
            <a:ext cx="9997135" cy="274320"/>
          </a:xfrm>
          <a:prstGeom prst="rect">
            <a:avLst/>
          </a:prstGeom>
          <a:noFill/>
          <a:ln/>
        </p:spPr>
        <p:txBody>
          <a:bodyPr wrap="square" lIns="0" tIns="0" rIns="0" bIns="0" rtlCol="0" anchor="ctr"/>
          <a:lstStyle/>
          <a:p>
            <a:pPr indent="0" marL="0">
              <a:buNone/>
            </a:pPr>
            <a:r>
              <a:rPr lang="en-US" sz="1000" i="1" dirty="0">
                <a:solidFill>
                  <a:srgbClr val="82796A"/>
                </a:solidFill>
                <a:latin typeface="Arial" pitchFamily="34" charset="0"/>
                <a:ea typeface="Arial" pitchFamily="34" charset="-122"/>
                <a:cs typeface="Arial" pitchFamily="34" charset="-120"/>
              </a:rPr>
              <a:t>python eval/ablation.py</a:t>
            </a:r>
            <a:endParaRPr lang="en-US" sz="1000" dirty="0"/>
          </a:p>
        </p:txBody>
      </p:sp>
      <p:sp>
        <p:nvSpPr>
          <p:cNvPr id="17" name="Text 14"/>
          <p:cNvSpPr txBox="1"/>
          <p:nvPr/>
        </p:nvSpPr>
        <p:spPr>
          <a:xfrm>
            <a:off x="10865815" y="6291072"/>
            <a:ext cx="640080" cy="274320"/>
          </a:xfrm>
          <a:prstGeom prst="rect">
            <a:avLst/>
          </a:prstGeom>
          <a:noFill/>
          <a:ln/>
        </p:spPr>
        <p:txBody>
          <a:bodyPr wrap="square" lIns="0" tIns="0" rIns="0" bIns="0" rtlCol="0" anchor="ctr"/>
          <a:lstStyle/>
          <a:p>
            <a:pPr algn="r" indent="0" marL="0">
              <a:buNone/>
            </a:pPr>
            <a:r>
              <a:rPr lang="en-US" sz="1000" dirty="0">
                <a:solidFill>
                  <a:srgbClr val="82796A"/>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E2B25"/>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200" b="1" spc="200" kern="0" dirty="0">
                <a:solidFill>
                  <a:srgbClr val="F6A06B"/>
                </a:solidFill>
                <a:latin typeface="Arial" pitchFamily="34" charset="0"/>
                <a:ea typeface="Arial" pitchFamily="34" charset="-122"/>
                <a:cs typeface="Arial" pitchFamily="34" charset="-120"/>
              </a:rPr>
              <a:t>DEMO TRỰC TIẾP</a:t>
            </a:r>
            <a:endParaRPr lang="en-US" sz="1200" dirty="0"/>
          </a:p>
        </p:txBody>
      </p:sp>
      <p:sp>
        <p:nvSpPr>
          <p:cNvPr id="3" name="Text 1"/>
          <p:cNvSpPr txBox="1"/>
          <p:nvPr/>
        </p:nvSpPr>
        <p:spPr>
          <a:xfrm>
            <a:off x="685800" y="658368"/>
            <a:ext cx="10820095" cy="566928"/>
          </a:xfrm>
          <a:prstGeom prst="rect">
            <a:avLst/>
          </a:prstGeom>
          <a:noFill/>
          <a:ln/>
        </p:spPr>
        <p:txBody>
          <a:bodyPr wrap="square" lIns="0" tIns="0" rIns="0" bIns="0" rtlCol="0" anchor="ctr"/>
          <a:lstStyle/>
          <a:p>
            <a:pPr indent="0" marL="0">
              <a:buNone/>
            </a:pPr>
            <a:r>
              <a:rPr lang="en-US" sz="3000" b="1" dirty="0">
                <a:solidFill>
                  <a:srgbClr val="F9F4ED"/>
                </a:solidFill>
                <a:latin typeface="Arial" pitchFamily="34" charset="0"/>
                <a:ea typeface="Arial" pitchFamily="34" charset="-122"/>
                <a:cs typeface="Arial" pitchFamily="34" charset="-120"/>
              </a:rPr>
              <a:t>Năm câu hỏi, năm điều muốn chứng minh</a:t>
            </a:r>
            <a:endParaRPr lang="en-US" sz="3000" dirty="0"/>
          </a:p>
        </p:txBody>
      </p:sp>
      <p:sp>
        <p:nvSpPr>
          <p:cNvPr id="4" name="Shape 2"/>
          <p:cNvSpPr/>
          <p:nvPr/>
        </p:nvSpPr>
        <p:spPr>
          <a:xfrm>
            <a:off x="685800" y="1481328"/>
            <a:ext cx="10820095" cy="822960"/>
          </a:xfrm>
          <a:prstGeom prst="roundRect">
            <a:avLst>
              <a:gd name="adj" fmla="val 13333"/>
            </a:avLst>
          </a:prstGeom>
          <a:solidFill>
            <a:srgbClr val="3A352D"/>
          </a:solidFill>
          <a:ln/>
        </p:spPr>
      </p:sp>
      <p:sp>
        <p:nvSpPr>
          <p:cNvPr id="5" name="Text 3"/>
          <p:cNvSpPr txBox="1"/>
          <p:nvPr/>
        </p:nvSpPr>
        <p:spPr>
          <a:xfrm>
            <a:off x="923544" y="1572768"/>
            <a:ext cx="548640" cy="640080"/>
          </a:xfrm>
          <a:prstGeom prst="rect">
            <a:avLst/>
          </a:prstGeom>
          <a:noFill/>
          <a:ln/>
        </p:spPr>
        <p:txBody>
          <a:bodyPr wrap="square" lIns="0" tIns="0" rIns="0" bIns="0" rtlCol="0" anchor="ctr"/>
          <a:lstStyle/>
          <a:p>
            <a:pPr algn="ctr" indent="0" marL="0">
              <a:buNone/>
            </a:pPr>
            <a:r>
              <a:rPr lang="en-US" sz="2000" b="1" dirty="0">
                <a:solidFill>
                  <a:srgbClr val="F6A06B"/>
                </a:solidFill>
                <a:latin typeface="Arial" pitchFamily="34" charset="0"/>
                <a:ea typeface="Arial" pitchFamily="34" charset="-122"/>
                <a:cs typeface="Arial" pitchFamily="34" charset="-120"/>
              </a:rPr>
              <a:t>01</a:t>
            </a:r>
            <a:endParaRPr lang="en-US" sz="2000" dirty="0"/>
          </a:p>
        </p:txBody>
      </p:sp>
      <p:sp>
        <p:nvSpPr>
          <p:cNvPr id="6" name="Text 4"/>
          <p:cNvSpPr txBox="1"/>
          <p:nvPr/>
        </p:nvSpPr>
        <p:spPr>
          <a:xfrm>
            <a:off x="1554480" y="1600200"/>
            <a:ext cx="4206240" cy="292608"/>
          </a:xfrm>
          <a:prstGeom prst="rect">
            <a:avLst/>
          </a:prstGeom>
          <a:noFill/>
          <a:ln/>
        </p:spPr>
        <p:txBody>
          <a:bodyPr wrap="square" lIns="0" tIns="0" rIns="0" bIns="0" rtlCol="0" anchor="ctr"/>
          <a:lstStyle/>
          <a:p>
            <a:pPr indent="0" marL="0">
              <a:buNone/>
            </a:pPr>
            <a:r>
              <a:rPr lang="en-US" sz="1300" b="1" dirty="0">
                <a:solidFill>
                  <a:srgbClr val="F9F4ED"/>
                </a:solidFill>
                <a:latin typeface="Arial" pitchFamily="34" charset="0"/>
                <a:ea typeface="Arial" pitchFamily="34" charset="-122"/>
                <a:cs typeface="Arial" pitchFamily="34" charset="-120"/>
              </a:rPr>
              <a:t>Vượt đèn đỏ xe máy phạt bao nhiêu?</a:t>
            </a:r>
            <a:endParaRPr lang="en-US" sz="1300" dirty="0"/>
          </a:p>
        </p:txBody>
      </p:sp>
      <p:sp>
        <p:nvSpPr>
          <p:cNvPr id="7" name="Text 5"/>
          <p:cNvSpPr txBox="1"/>
          <p:nvPr/>
        </p:nvSpPr>
        <p:spPr>
          <a:xfrm>
            <a:off x="1554480" y="1911096"/>
            <a:ext cx="4206240" cy="274320"/>
          </a:xfrm>
          <a:prstGeom prst="rect">
            <a:avLst/>
          </a:prstGeom>
          <a:noFill/>
          <a:ln/>
        </p:spPr>
        <p:txBody>
          <a:bodyPr wrap="square" lIns="0" tIns="0" rIns="0" bIns="0" rtlCol="0" anchor="ctr"/>
          <a:lstStyle/>
          <a:p>
            <a:pPr indent="0" marL="0">
              <a:buNone/>
            </a:pPr>
            <a:r>
              <a:rPr lang="en-US" sz="1150" dirty="0">
                <a:solidFill>
                  <a:srgbClr val="F6A06B"/>
                </a:solidFill>
                <a:latin typeface="Arial" pitchFamily="34" charset="0"/>
                <a:ea typeface="Arial" pitchFamily="34" charset="-122"/>
                <a:cs typeface="Arial" pitchFamily="34" charset="-120"/>
              </a:rPr>
              <a:t>→  4.000.000 – 6.000.000 đ · trừ 4 điểm</a:t>
            </a:r>
            <a:endParaRPr lang="en-US" sz="1150" dirty="0"/>
          </a:p>
        </p:txBody>
      </p:sp>
      <p:sp>
        <p:nvSpPr>
          <p:cNvPr id="8" name="Text 6"/>
          <p:cNvSpPr txBox="1"/>
          <p:nvPr/>
        </p:nvSpPr>
        <p:spPr>
          <a:xfrm>
            <a:off x="6035040" y="1627632"/>
            <a:ext cx="5150815" cy="566928"/>
          </a:xfrm>
          <a:prstGeom prst="rect">
            <a:avLst/>
          </a:prstGeom>
          <a:noFill/>
          <a:ln/>
        </p:spPr>
        <p:txBody>
          <a:bodyPr wrap="square" lIns="0" tIns="0" rIns="0" bIns="0" rtlCol="0" anchor="ctr"/>
          <a:lstStyle/>
          <a:p>
            <a:pPr indent="0" marL="0">
              <a:lnSpc>
                <a:spcPts val="1500"/>
              </a:lnSpc>
              <a:buNone/>
            </a:pPr>
            <a:r>
              <a:rPr lang="en-US" sz="1150" dirty="0">
                <a:solidFill>
                  <a:srgbClr val="CFC6B6"/>
                </a:solidFill>
                <a:latin typeface="Arial" pitchFamily="34" charset="0"/>
                <a:ea typeface="Arial" pitchFamily="34" charset="-122"/>
                <a:cs typeface="Arial" pitchFamily="34" charset="-120"/>
              </a:rPr>
              <a:t>Căn cứ Điều 7 khoản 7 điểm c NĐ 168/2024 hiện ngay dưới thẻ — mọi câu trả lời đều truy nguyên được</a:t>
            </a:r>
            <a:endParaRPr lang="en-US" sz="1150" dirty="0"/>
          </a:p>
        </p:txBody>
      </p:sp>
      <p:sp>
        <p:nvSpPr>
          <p:cNvPr id="9" name="Shape 7"/>
          <p:cNvSpPr/>
          <p:nvPr/>
        </p:nvSpPr>
        <p:spPr>
          <a:xfrm>
            <a:off x="685800" y="2414016"/>
            <a:ext cx="10820095" cy="822960"/>
          </a:xfrm>
          <a:prstGeom prst="roundRect">
            <a:avLst>
              <a:gd name="adj" fmla="val 13333"/>
            </a:avLst>
          </a:prstGeom>
          <a:solidFill>
            <a:srgbClr val="3A352D"/>
          </a:solidFill>
          <a:ln/>
        </p:spPr>
      </p:sp>
      <p:sp>
        <p:nvSpPr>
          <p:cNvPr id="10" name="Text 8"/>
          <p:cNvSpPr txBox="1"/>
          <p:nvPr/>
        </p:nvSpPr>
        <p:spPr>
          <a:xfrm>
            <a:off x="923544" y="2505456"/>
            <a:ext cx="548640" cy="640080"/>
          </a:xfrm>
          <a:prstGeom prst="rect">
            <a:avLst/>
          </a:prstGeom>
          <a:noFill/>
          <a:ln/>
        </p:spPr>
        <p:txBody>
          <a:bodyPr wrap="square" lIns="0" tIns="0" rIns="0" bIns="0" rtlCol="0" anchor="ctr"/>
          <a:lstStyle/>
          <a:p>
            <a:pPr algn="ctr" indent="0" marL="0">
              <a:buNone/>
            </a:pPr>
            <a:r>
              <a:rPr lang="en-US" sz="2000" b="1" dirty="0">
                <a:solidFill>
                  <a:srgbClr val="F6A06B"/>
                </a:solidFill>
                <a:latin typeface="Arial" pitchFamily="34" charset="0"/>
                <a:ea typeface="Arial" pitchFamily="34" charset="-122"/>
                <a:cs typeface="Arial" pitchFamily="34" charset="-120"/>
              </a:rPr>
              <a:t>02</a:t>
            </a:r>
            <a:endParaRPr lang="en-US" sz="2000" dirty="0"/>
          </a:p>
        </p:txBody>
      </p:sp>
      <p:sp>
        <p:nvSpPr>
          <p:cNvPr id="11" name="Text 9"/>
          <p:cNvSpPr txBox="1"/>
          <p:nvPr/>
        </p:nvSpPr>
        <p:spPr>
          <a:xfrm>
            <a:off x="1554480" y="2532888"/>
            <a:ext cx="4206240" cy="292608"/>
          </a:xfrm>
          <a:prstGeom prst="rect">
            <a:avLst/>
          </a:prstGeom>
          <a:noFill/>
          <a:ln/>
        </p:spPr>
        <p:txBody>
          <a:bodyPr wrap="square" lIns="0" tIns="0" rIns="0" bIns="0" rtlCol="0" anchor="ctr"/>
          <a:lstStyle/>
          <a:p>
            <a:pPr indent="0" marL="0">
              <a:buNone/>
            </a:pPr>
            <a:r>
              <a:rPr lang="en-US" sz="1300" b="1" dirty="0">
                <a:solidFill>
                  <a:srgbClr val="F9F4ED"/>
                </a:solidFill>
                <a:latin typeface="Arial" pitchFamily="34" charset="0"/>
                <a:ea typeface="Arial" pitchFamily="34" charset="-122"/>
                <a:cs typeface="Arial" pitchFamily="34" charset="-120"/>
              </a:rPr>
              <a:t>nhậu xong lái xe máy bị phạt nhiêu tiền</a:t>
            </a:r>
            <a:endParaRPr lang="en-US" sz="1300" dirty="0"/>
          </a:p>
        </p:txBody>
      </p:sp>
      <p:sp>
        <p:nvSpPr>
          <p:cNvPr id="12" name="Text 10"/>
          <p:cNvSpPr txBox="1"/>
          <p:nvPr/>
        </p:nvSpPr>
        <p:spPr>
          <a:xfrm>
            <a:off x="1554480" y="2843784"/>
            <a:ext cx="4206240" cy="274320"/>
          </a:xfrm>
          <a:prstGeom prst="rect">
            <a:avLst/>
          </a:prstGeom>
          <a:noFill/>
          <a:ln/>
        </p:spPr>
        <p:txBody>
          <a:bodyPr wrap="square" lIns="0" tIns="0" rIns="0" bIns="0" rtlCol="0" anchor="ctr"/>
          <a:lstStyle/>
          <a:p>
            <a:pPr indent="0" marL="0">
              <a:buNone/>
            </a:pPr>
            <a:r>
              <a:rPr lang="en-US" sz="1150" dirty="0">
                <a:solidFill>
                  <a:srgbClr val="F6A06B"/>
                </a:solidFill>
                <a:latin typeface="Arial" pitchFamily="34" charset="0"/>
                <a:ea typeface="Arial" pitchFamily="34" charset="-122"/>
                <a:cs typeface="Arial" pitchFamily="34" charset="-120"/>
              </a:rPr>
              <a:t>→  đúng khung nồng độ cồn</a:t>
            </a:r>
            <a:endParaRPr lang="en-US" sz="1150" dirty="0"/>
          </a:p>
        </p:txBody>
      </p:sp>
      <p:sp>
        <p:nvSpPr>
          <p:cNvPr id="13" name="Text 11"/>
          <p:cNvSpPr txBox="1"/>
          <p:nvPr/>
        </p:nvSpPr>
        <p:spPr>
          <a:xfrm>
            <a:off x="6035040" y="2560320"/>
            <a:ext cx="5150815" cy="566928"/>
          </a:xfrm>
          <a:prstGeom prst="rect">
            <a:avLst/>
          </a:prstGeom>
          <a:noFill/>
          <a:ln/>
        </p:spPr>
        <p:txBody>
          <a:bodyPr wrap="square" lIns="0" tIns="0" rIns="0" bIns="0" rtlCol="0" anchor="ctr"/>
          <a:lstStyle/>
          <a:p>
            <a:pPr indent="0" marL="0">
              <a:lnSpc>
                <a:spcPts val="1500"/>
              </a:lnSpc>
              <a:buNone/>
            </a:pPr>
            <a:r>
              <a:rPr lang="en-US" sz="1150" dirty="0">
                <a:solidFill>
                  <a:srgbClr val="CFC6B6"/>
                </a:solidFill>
                <a:latin typeface="Arial" pitchFamily="34" charset="0"/>
                <a:ea typeface="Arial" pitchFamily="34" charset="-122"/>
                <a:cs typeface="Arial" pitchFamily="34" charset="-120"/>
              </a:rPr>
              <a:t>Chữ “nhậu” KHÔNG có trong bất kỳ văn bản luật nào — đây chính là phần “ngữ nghĩa” của đề bài</a:t>
            </a:r>
            <a:endParaRPr lang="en-US" sz="1150" dirty="0"/>
          </a:p>
        </p:txBody>
      </p:sp>
      <p:sp>
        <p:nvSpPr>
          <p:cNvPr id="14" name="Shape 12"/>
          <p:cNvSpPr/>
          <p:nvPr/>
        </p:nvSpPr>
        <p:spPr>
          <a:xfrm>
            <a:off x="685800" y="3346704"/>
            <a:ext cx="10820095" cy="822960"/>
          </a:xfrm>
          <a:prstGeom prst="roundRect">
            <a:avLst>
              <a:gd name="adj" fmla="val 13333"/>
            </a:avLst>
          </a:prstGeom>
          <a:solidFill>
            <a:srgbClr val="3A352D"/>
          </a:solidFill>
          <a:ln/>
        </p:spPr>
      </p:sp>
      <p:sp>
        <p:nvSpPr>
          <p:cNvPr id="15" name="Text 13"/>
          <p:cNvSpPr txBox="1"/>
          <p:nvPr/>
        </p:nvSpPr>
        <p:spPr>
          <a:xfrm>
            <a:off x="923544" y="3438144"/>
            <a:ext cx="548640" cy="640080"/>
          </a:xfrm>
          <a:prstGeom prst="rect">
            <a:avLst/>
          </a:prstGeom>
          <a:noFill/>
          <a:ln/>
        </p:spPr>
        <p:txBody>
          <a:bodyPr wrap="square" lIns="0" tIns="0" rIns="0" bIns="0" rtlCol="0" anchor="ctr"/>
          <a:lstStyle/>
          <a:p>
            <a:pPr algn="ctr" indent="0" marL="0">
              <a:buNone/>
            </a:pPr>
            <a:r>
              <a:rPr lang="en-US" sz="2000" b="1" dirty="0">
                <a:solidFill>
                  <a:srgbClr val="F6A06B"/>
                </a:solidFill>
                <a:latin typeface="Arial" pitchFamily="34" charset="0"/>
                <a:ea typeface="Arial" pitchFamily="34" charset="-122"/>
                <a:cs typeface="Arial" pitchFamily="34" charset="-120"/>
              </a:rPr>
              <a:t>03</a:t>
            </a:r>
            <a:endParaRPr lang="en-US" sz="2000" dirty="0"/>
          </a:p>
        </p:txBody>
      </p:sp>
      <p:sp>
        <p:nvSpPr>
          <p:cNvPr id="16" name="Text 14"/>
          <p:cNvSpPr txBox="1"/>
          <p:nvPr/>
        </p:nvSpPr>
        <p:spPr>
          <a:xfrm>
            <a:off x="1554480" y="3465576"/>
            <a:ext cx="4206240" cy="292608"/>
          </a:xfrm>
          <a:prstGeom prst="rect">
            <a:avLst/>
          </a:prstGeom>
          <a:noFill/>
          <a:ln/>
        </p:spPr>
        <p:txBody>
          <a:bodyPr wrap="square" lIns="0" tIns="0" rIns="0" bIns="0" rtlCol="0" anchor="ctr"/>
          <a:lstStyle/>
          <a:p>
            <a:pPr indent="0" marL="0">
              <a:buNone/>
            </a:pPr>
            <a:r>
              <a:rPr lang="en-US" sz="1300" b="1" dirty="0">
                <a:solidFill>
                  <a:srgbClr val="F9F4ED"/>
                </a:solidFill>
                <a:latin typeface="Arial" pitchFamily="34" charset="0"/>
                <a:ea typeface="Arial" pitchFamily="34" charset="-122"/>
                <a:cs typeface="Arial" pitchFamily="34" charset="-120"/>
              </a:rPr>
              <a:t>xe máy nồng độ cồn 0,2 → 0,3 → 0,5 mg/l</a:t>
            </a:r>
            <a:endParaRPr lang="en-US" sz="1300" dirty="0"/>
          </a:p>
        </p:txBody>
      </p:sp>
      <p:sp>
        <p:nvSpPr>
          <p:cNvPr id="17" name="Text 15"/>
          <p:cNvSpPr txBox="1"/>
          <p:nvPr/>
        </p:nvSpPr>
        <p:spPr>
          <a:xfrm>
            <a:off x="1554480" y="3776472"/>
            <a:ext cx="4206240" cy="274320"/>
          </a:xfrm>
          <a:prstGeom prst="rect">
            <a:avLst/>
          </a:prstGeom>
          <a:noFill/>
          <a:ln/>
        </p:spPr>
        <p:txBody>
          <a:bodyPr wrap="square" lIns="0" tIns="0" rIns="0" bIns="0" rtlCol="0" anchor="ctr"/>
          <a:lstStyle/>
          <a:p>
            <a:pPr indent="0" marL="0">
              <a:buNone/>
            </a:pPr>
            <a:r>
              <a:rPr lang="en-US" sz="1150" dirty="0">
                <a:solidFill>
                  <a:srgbClr val="F6A06B"/>
                </a:solidFill>
                <a:latin typeface="Arial" pitchFamily="34" charset="0"/>
                <a:ea typeface="Arial" pitchFamily="34" charset="-122"/>
                <a:cs typeface="Arial" pitchFamily="34" charset="-120"/>
              </a:rPr>
              <a:t>→  ba khung phạt khác nhau</a:t>
            </a:r>
            <a:endParaRPr lang="en-US" sz="1150" dirty="0"/>
          </a:p>
        </p:txBody>
      </p:sp>
      <p:sp>
        <p:nvSpPr>
          <p:cNvPr id="18" name="Text 16"/>
          <p:cNvSpPr txBox="1"/>
          <p:nvPr/>
        </p:nvSpPr>
        <p:spPr>
          <a:xfrm>
            <a:off x="6035040" y="3493008"/>
            <a:ext cx="5150815" cy="566928"/>
          </a:xfrm>
          <a:prstGeom prst="rect">
            <a:avLst/>
          </a:prstGeom>
          <a:noFill/>
          <a:ln/>
        </p:spPr>
        <p:txBody>
          <a:bodyPr wrap="square" lIns="0" tIns="0" rIns="0" bIns="0" rtlCol="0" anchor="ctr"/>
          <a:lstStyle/>
          <a:p>
            <a:pPr indent="0" marL="0">
              <a:lnSpc>
                <a:spcPts val="1500"/>
              </a:lnSpc>
              <a:buNone/>
            </a:pPr>
            <a:r>
              <a:rPr lang="en-US" sz="1150" dirty="0">
                <a:solidFill>
                  <a:srgbClr val="CFC6B6"/>
                </a:solidFill>
                <a:latin typeface="Arial" pitchFamily="34" charset="0"/>
                <a:ea typeface="Arial" pitchFamily="34" charset="-122"/>
                <a:cs typeface="Arial" pitchFamily="34" charset="-120"/>
              </a:rPr>
              <a:t>So khớp từ khoá trả về cả bốn khung; hệ rút ngưỡng từ nguyên văn rồi so khoảng</a:t>
            </a:r>
            <a:endParaRPr lang="en-US" sz="1150" dirty="0"/>
          </a:p>
        </p:txBody>
      </p:sp>
      <p:sp>
        <p:nvSpPr>
          <p:cNvPr id="19" name="Shape 17"/>
          <p:cNvSpPr/>
          <p:nvPr/>
        </p:nvSpPr>
        <p:spPr>
          <a:xfrm>
            <a:off x="685800" y="4279392"/>
            <a:ext cx="10820095" cy="822960"/>
          </a:xfrm>
          <a:prstGeom prst="roundRect">
            <a:avLst>
              <a:gd name="adj" fmla="val 13333"/>
            </a:avLst>
          </a:prstGeom>
          <a:solidFill>
            <a:srgbClr val="3A352D"/>
          </a:solidFill>
          <a:ln/>
        </p:spPr>
      </p:sp>
      <p:sp>
        <p:nvSpPr>
          <p:cNvPr id="20" name="Text 18"/>
          <p:cNvSpPr txBox="1"/>
          <p:nvPr/>
        </p:nvSpPr>
        <p:spPr>
          <a:xfrm>
            <a:off x="923544" y="4370832"/>
            <a:ext cx="548640" cy="640080"/>
          </a:xfrm>
          <a:prstGeom prst="rect">
            <a:avLst/>
          </a:prstGeom>
          <a:noFill/>
          <a:ln/>
        </p:spPr>
        <p:txBody>
          <a:bodyPr wrap="square" lIns="0" tIns="0" rIns="0" bIns="0" rtlCol="0" anchor="ctr"/>
          <a:lstStyle/>
          <a:p>
            <a:pPr algn="ctr" indent="0" marL="0">
              <a:buNone/>
            </a:pPr>
            <a:r>
              <a:rPr lang="en-US" sz="2000" b="1" dirty="0">
                <a:solidFill>
                  <a:srgbClr val="F6A06B"/>
                </a:solidFill>
                <a:latin typeface="Arial" pitchFamily="34" charset="0"/>
                <a:ea typeface="Arial" pitchFamily="34" charset="-122"/>
                <a:cs typeface="Arial" pitchFamily="34" charset="-120"/>
              </a:rPr>
              <a:t>04</a:t>
            </a:r>
            <a:endParaRPr lang="en-US" sz="2000" dirty="0"/>
          </a:p>
        </p:txBody>
      </p:sp>
      <p:sp>
        <p:nvSpPr>
          <p:cNvPr id="21" name="Text 19"/>
          <p:cNvSpPr txBox="1"/>
          <p:nvPr/>
        </p:nvSpPr>
        <p:spPr>
          <a:xfrm>
            <a:off x="1554480" y="4398264"/>
            <a:ext cx="4206240" cy="292608"/>
          </a:xfrm>
          <a:prstGeom prst="rect">
            <a:avLst/>
          </a:prstGeom>
          <a:noFill/>
          <a:ln/>
        </p:spPr>
        <p:txBody>
          <a:bodyPr wrap="square" lIns="0" tIns="0" rIns="0" bIns="0" rtlCol="0" anchor="ctr"/>
          <a:lstStyle/>
          <a:p>
            <a:pPr indent="0" marL="0">
              <a:buNone/>
            </a:pPr>
            <a:r>
              <a:rPr lang="en-US" sz="1300" b="1" dirty="0">
                <a:solidFill>
                  <a:srgbClr val="F9F4ED"/>
                </a:solidFill>
                <a:latin typeface="Arial" pitchFamily="34" charset="0"/>
                <a:ea typeface="Arial" pitchFamily="34" charset="-122"/>
                <a:cs typeface="Arial" pitchFamily="34" charset="-120"/>
              </a:rPr>
              <a:t>Điều 6 khoản 9 điểm a NĐ 168/2024 nói về lỗi gì?</a:t>
            </a:r>
            <a:endParaRPr lang="en-US" sz="1300" dirty="0"/>
          </a:p>
        </p:txBody>
      </p:sp>
      <p:sp>
        <p:nvSpPr>
          <p:cNvPr id="22" name="Text 20"/>
          <p:cNvSpPr txBox="1"/>
          <p:nvPr/>
        </p:nvSpPr>
        <p:spPr>
          <a:xfrm>
            <a:off x="1554480" y="4709160"/>
            <a:ext cx="4206240" cy="274320"/>
          </a:xfrm>
          <a:prstGeom prst="rect">
            <a:avLst/>
          </a:prstGeom>
          <a:noFill/>
          <a:ln/>
        </p:spPr>
        <p:txBody>
          <a:bodyPr wrap="square" lIns="0" tIns="0" rIns="0" bIns="0" rtlCol="0" anchor="ctr"/>
          <a:lstStyle/>
          <a:p>
            <a:pPr indent="0" marL="0">
              <a:buNone/>
            </a:pPr>
            <a:r>
              <a:rPr lang="en-US" sz="1150" dirty="0">
                <a:solidFill>
                  <a:srgbClr val="F6A06B"/>
                </a:solidFill>
                <a:latin typeface="Arial" pitchFamily="34" charset="0"/>
                <a:ea typeface="Arial" pitchFamily="34" charset="-122"/>
                <a:cs typeface="Arial" pitchFamily="34" charset="-120"/>
              </a:rPr>
              <a:t>→  đúng 1 kết quả</a:t>
            </a:r>
            <a:endParaRPr lang="en-US" sz="1150" dirty="0"/>
          </a:p>
        </p:txBody>
      </p:sp>
      <p:sp>
        <p:nvSpPr>
          <p:cNvPr id="23" name="Text 21"/>
          <p:cNvSpPr txBox="1"/>
          <p:nvPr/>
        </p:nvSpPr>
        <p:spPr>
          <a:xfrm>
            <a:off x="6035040" y="4425696"/>
            <a:ext cx="5150815" cy="566928"/>
          </a:xfrm>
          <a:prstGeom prst="rect">
            <a:avLst/>
          </a:prstGeom>
          <a:noFill/>
          <a:ln/>
        </p:spPr>
        <p:txBody>
          <a:bodyPr wrap="square" lIns="0" tIns="0" rIns="0" bIns="0" rtlCol="0" anchor="ctr"/>
          <a:lstStyle/>
          <a:p>
            <a:pPr indent="0" marL="0">
              <a:lnSpc>
                <a:spcPts val="1500"/>
              </a:lnSpc>
              <a:buNone/>
            </a:pPr>
            <a:r>
              <a:rPr lang="en-US" sz="1150" dirty="0">
                <a:solidFill>
                  <a:srgbClr val="CFC6B6"/>
                </a:solidFill>
                <a:latin typeface="Arial" pitchFamily="34" charset="0"/>
                <a:ea typeface="Arial" pitchFamily="34" charset="-122"/>
                <a:cs typeface="Arial" pitchFamily="34" charset="-120"/>
              </a:rPr>
              <a:t>Tra theo căn cứ mà trả về 5 kết quả là sai</a:t>
            </a:r>
            <a:endParaRPr lang="en-US" sz="1150" dirty="0"/>
          </a:p>
        </p:txBody>
      </p:sp>
      <p:sp>
        <p:nvSpPr>
          <p:cNvPr id="24" name="Shape 22"/>
          <p:cNvSpPr/>
          <p:nvPr/>
        </p:nvSpPr>
        <p:spPr>
          <a:xfrm>
            <a:off x="685800" y="5212080"/>
            <a:ext cx="10820095" cy="822960"/>
          </a:xfrm>
          <a:prstGeom prst="roundRect">
            <a:avLst>
              <a:gd name="adj" fmla="val 13333"/>
            </a:avLst>
          </a:prstGeom>
          <a:solidFill>
            <a:srgbClr val="3D472B"/>
          </a:solidFill>
          <a:ln/>
        </p:spPr>
      </p:sp>
      <p:sp>
        <p:nvSpPr>
          <p:cNvPr id="25" name="Text 23"/>
          <p:cNvSpPr txBox="1"/>
          <p:nvPr/>
        </p:nvSpPr>
        <p:spPr>
          <a:xfrm>
            <a:off x="923544" y="5303520"/>
            <a:ext cx="548640" cy="640080"/>
          </a:xfrm>
          <a:prstGeom prst="rect">
            <a:avLst/>
          </a:prstGeom>
          <a:noFill/>
          <a:ln/>
        </p:spPr>
        <p:txBody>
          <a:bodyPr wrap="square" lIns="0" tIns="0" rIns="0" bIns="0" rtlCol="0" anchor="ctr"/>
          <a:lstStyle/>
          <a:p>
            <a:pPr algn="ctr" indent="0" marL="0">
              <a:buNone/>
            </a:pPr>
            <a:r>
              <a:rPr lang="en-US" sz="2000" b="1" dirty="0">
                <a:solidFill>
                  <a:srgbClr val="AEBF92"/>
                </a:solidFill>
                <a:latin typeface="Arial" pitchFamily="34" charset="0"/>
                <a:ea typeface="Arial" pitchFamily="34" charset="-122"/>
                <a:cs typeface="Arial" pitchFamily="34" charset="-120"/>
              </a:rPr>
              <a:t>05</a:t>
            </a:r>
            <a:endParaRPr lang="en-US" sz="2000" dirty="0"/>
          </a:p>
        </p:txBody>
      </p:sp>
      <p:sp>
        <p:nvSpPr>
          <p:cNvPr id="26" name="Text 24"/>
          <p:cNvSpPr txBox="1"/>
          <p:nvPr/>
        </p:nvSpPr>
        <p:spPr>
          <a:xfrm>
            <a:off x="1554480" y="5330952"/>
            <a:ext cx="4206240" cy="292608"/>
          </a:xfrm>
          <a:prstGeom prst="rect">
            <a:avLst/>
          </a:prstGeom>
          <a:noFill/>
          <a:ln/>
        </p:spPr>
        <p:txBody>
          <a:bodyPr wrap="square" lIns="0" tIns="0" rIns="0" bIns="0" rtlCol="0" anchor="ctr"/>
          <a:lstStyle/>
          <a:p>
            <a:pPr indent="0" marL="0">
              <a:buNone/>
            </a:pPr>
            <a:r>
              <a:rPr lang="en-US" sz="1300" b="1" dirty="0">
                <a:solidFill>
                  <a:srgbClr val="F9F4ED"/>
                </a:solidFill>
                <a:latin typeface="Arial" pitchFamily="34" charset="0"/>
                <a:ea typeface="Arial" pitchFamily="34" charset="-122"/>
                <a:cs typeface="Arial" pitchFamily="34" charset="-120"/>
              </a:rPr>
              <a:t>Màn /hieu-luc — hiệu lực theo thời gian</a:t>
            </a:r>
            <a:endParaRPr lang="en-US" sz="1300" dirty="0"/>
          </a:p>
        </p:txBody>
      </p:sp>
      <p:sp>
        <p:nvSpPr>
          <p:cNvPr id="27" name="Text 25"/>
          <p:cNvSpPr txBox="1"/>
          <p:nvPr/>
        </p:nvSpPr>
        <p:spPr>
          <a:xfrm>
            <a:off x="1554480" y="5641848"/>
            <a:ext cx="4206240" cy="274320"/>
          </a:xfrm>
          <a:prstGeom prst="rect">
            <a:avLst/>
          </a:prstGeom>
          <a:noFill/>
          <a:ln/>
        </p:spPr>
        <p:txBody>
          <a:bodyPr wrap="square" lIns="0" tIns="0" rIns="0" bIns="0" rtlCol="0" anchor="ctr"/>
          <a:lstStyle/>
          <a:p>
            <a:pPr indent="0" marL="0">
              <a:buNone/>
            </a:pPr>
            <a:r>
              <a:rPr lang="en-US" sz="1150" dirty="0">
                <a:solidFill>
                  <a:srgbClr val="AEBF92"/>
                </a:solidFill>
                <a:latin typeface="Arial" pitchFamily="34" charset="0"/>
                <a:ea typeface="Arial" pitchFamily="34" charset="-122"/>
                <a:cs typeface="Arial" pitchFamily="34" charset="-120"/>
              </a:rPr>
              <a:t>→  R15 có hiệu lực từ 01/7/2026</a:t>
            </a:r>
            <a:endParaRPr lang="en-US" sz="1150" dirty="0"/>
          </a:p>
        </p:txBody>
      </p:sp>
      <p:sp>
        <p:nvSpPr>
          <p:cNvPr id="28" name="Text 26"/>
          <p:cNvSpPr txBox="1"/>
          <p:nvPr/>
        </p:nvSpPr>
        <p:spPr>
          <a:xfrm>
            <a:off x="6035040" y="5358384"/>
            <a:ext cx="5150815" cy="566928"/>
          </a:xfrm>
          <a:prstGeom prst="rect">
            <a:avLst/>
          </a:prstGeom>
          <a:noFill/>
          <a:ln/>
        </p:spPr>
        <p:txBody>
          <a:bodyPr wrap="square" lIns="0" tIns="0" rIns="0" bIns="0" rtlCol="0" anchor="ctr"/>
          <a:lstStyle/>
          <a:p>
            <a:pPr indent="0" marL="0">
              <a:lnSpc>
                <a:spcPts val="1500"/>
              </a:lnSpc>
              <a:buNone/>
            </a:pPr>
            <a:r>
              <a:rPr lang="en-US" sz="1150" dirty="0">
                <a:solidFill>
                  <a:srgbClr val="CFC6B6"/>
                </a:solidFill>
                <a:latin typeface="Arial" pitchFamily="34" charset="0"/>
                <a:ea typeface="Arial" pitchFamily="34" charset="-122"/>
                <a:cs typeface="Arial" pitchFamily="34" charset="-120"/>
              </a:rPr>
              <a:t>Sửa đổi lưu như DỮ LIỆU, không hợp nhất cứng lúc dựng cơ sở tri thức</a:t>
            </a:r>
            <a:endParaRPr lang="en-US" sz="1150" dirty="0"/>
          </a:p>
        </p:txBody>
      </p:sp>
      <p:sp>
        <p:nvSpPr>
          <p:cNvPr id="29" name="Text 27"/>
          <p:cNvSpPr txBox="1"/>
          <p:nvPr/>
        </p:nvSpPr>
        <p:spPr>
          <a:xfrm>
            <a:off x="685800" y="6291072"/>
            <a:ext cx="9997135" cy="274320"/>
          </a:xfrm>
          <a:prstGeom prst="rect">
            <a:avLst/>
          </a:prstGeom>
          <a:noFill/>
          <a:ln/>
        </p:spPr>
        <p:txBody>
          <a:bodyPr wrap="square" lIns="0" tIns="0" rIns="0" bIns="0" rtlCol="0" anchor="ctr"/>
          <a:lstStyle/>
          <a:p>
            <a:pPr indent="0" marL="0">
              <a:buNone/>
            </a:pPr>
            <a:r>
              <a:rPr lang="en-US" sz="1000" i="1" dirty="0">
                <a:solidFill>
                  <a:srgbClr val="82796A"/>
                </a:solidFill>
                <a:latin typeface="Arial" pitchFamily="34" charset="0"/>
                <a:ea typeface="Arial" pitchFamily="34" charset="-122"/>
                <a:cs typeface="Arial" pitchFamily="34" charset="-120"/>
              </a:rPr>
              <a:t>docker/chay_demo.sh  ·  http://localhost:8000  ·  chạy hoàn toàn offline</a:t>
            </a:r>
            <a:endParaRPr lang="en-US" sz="1000" dirty="0"/>
          </a:p>
        </p:txBody>
      </p:sp>
      <p:sp>
        <p:nvSpPr>
          <p:cNvPr id="30" name="Text 28"/>
          <p:cNvSpPr txBox="1"/>
          <p:nvPr/>
        </p:nvSpPr>
        <p:spPr>
          <a:xfrm>
            <a:off x="10865815" y="6291072"/>
            <a:ext cx="640080" cy="274320"/>
          </a:xfrm>
          <a:prstGeom prst="rect">
            <a:avLst/>
          </a:prstGeom>
          <a:noFill/>
          <a:ln/>
        </p:spPr>
        <p:txBody>
          <a:bodyPr wrap="square" lIns="0" tIns="0" rIns="0" bIns="0" rtlCol="0" anchor="ctr"/>
          <a:lstStyle/>
          <a:p>
            <a:pPr algn="r" indent="0" marL="0">
              <a:buNone/>
            </a:pPr>
            <a:r>
              <a:rPr lang="en-US" sz="1000" dirty="0">
                <a:solidFill>
                  <a:srgbClr val="82796A"/>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200" b="1" spc="200" kern="0" dirty="0">
                <a:solidFill>
                  <a:srgbClr val="8C491A"/>
                </a:solidFill>
                <a:latin typeface="Arial" pitchFamily="34" charset="0"/>
                <a:ea typeface="Arial" pitchFamily="34" charset="-122"/>
                <a:cs typeface="Arial" pitchFamily="34" charset="-120"/>
              </a:rPr>
              <a:t>HẠN CHẾ</a:t>
            </a:r>
            <a:endParaRPr lang="en-US" sz="1200" dirty="0"/>
          </a:p>
        </p:txBody>
      </p:sp>
      <p:sp>
        <p:nvSpPr>
          <p:cNvPr id="3" name="Text 1"/>
          <p:cNvSpPr txBox="1"/>
          <p:nvPr/>
        </p:nvSpPr>
        <p:spPr>
          <a:xfrm>
            <a:off x="685800" y="658368"/>
            <a:ext cx="10820095" cy="566928"/>
          </a:xfrm>
          <a:prstGeom prst="rect">
            <a:avLst/>
          </a:prstGeom>
          <a:noFill/>
          <a:ln/>
        </p:spPr>
        <p:txBody>
          <a:bodyPr wrap="square" lIns="0" tIns="0" rIns="0" bIns="0" rtlCol="0" anchor="ctr"/>
          <a:lstStyle/>
          <a:p>
            <a:pPr indent="0" marL="0">
              <a:buNone/>
            </a:pPr>
            <a:r>
              <a:rPr lang="en-US" sz="3000" b="1" dirty="0">
                <a:solidFill>
                  <a:srgbClr val="201E1D"/>
                </a:solidFill>
                <a:latin typeface="Arial" pitchFamily="34" charset="0"/>
                <a:ea typeface="Arial" pitchFamily="34" charset="-122"/>
                <a:cs typeface="Arial" pitchFamily="34" charset="-120"/>
              </a:rPr>
              <a:t>Đã đo, đã ghi lại — kể cả những hướng đã bác bỏ</a:t>
            </a:r>
            <a:endParaRPr lang="en-US" sz="3000" dirty="0"/>
          </a:p>
        </p:txBody>
      </p:sp>
      <p:graphicFrame>
        <p:nvGraphicFramePr>
          <p:cNvPr id="4" name="Chart 0" descr=""/>
          <p:cNvGraphicFramePr/>
          <p:nvPr/>
        </p:nvGraphicFramePr>
        <p:xfrm>
          <a:off x="685800" y="1554480"/>
          <a:ext cx="5943600" cy="2286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858000" y="1554480"/>
            <a:ext cx="4647895" cy="2286000"/>
          </a:xfrm>
          <a:prstGeom prst="roundRect">
            <a:avLst>
              <a:gd name="adj" fmla="val 5600"/>
            </a:avLst>
          </a:prstGeom>
          <a:solidFill>
            <a:srgbClr val="FFF2EB"/>
          </a:solidFill>
          <a:ln w="12700">
            <a:solidFill>
              <a:srgbClr val="FFC6A5"/>
            </a:solidFill>
            <a:prstDash val="solid"/>
          </a:ln>
        </p:spPr>
      </p:sp>
      <p:sp>
        <p:nvSpPr>
          <p:cNvPr id="6" name="Text 3"/>
          <p:cNvSpPr txBox="1"/>
          <p:nvPr/>
        </p:nvSpPr>
        <p:spPr>
          <a:xfrm>
            <a:off x="7150608" y="1792224"/>
            <a:ext cx="4059936" cy="1883664"/>
          </a:xfrm>
          <a:prstGeom prst="rect">
            <a:avLst/>
          </a:prstGeom>
          <a:noFill/>
          <a:ln/>
        </p:spPr>
        <p:txBody>
          <a:bodyPr wrap="square" lIns="0" tIns="0" rIns="0" bIns="0" rtlCol="0" anchor="ctr"/>
          <a:lstStyle/>
          <a:p>
            <a:pPr indent="0" marL="0">
              <a:lnSpc>
                <a:spcPts val="1500"/>
              </a:lnSpc>
              <a:buNone/>
            </a:pPr>
            <a:r>
              <a:rPr lang="en-US" sz="1150" b="1" dirty="0">
                <a:solidFill>
                  <a:srgbClr val="8C491A"/>
                </a:solidFill>
                <a:latin typeface="Arial" pitchFamily="34" charset="0"/>
                <a:ea typeface="Arial" pitchFamily="34" charset="-122"/>
                <a:cs typeface="Arial" pitchFamily="34" charset="-120"/>
              </a:rPr>
              <a:t>Truy vấn ngoài lĩnh vực vẫn trả về kết quả.
</a:t>
            </a:r>
            <a:endParaRPr lang="en-US" sz="1150" dirty="0"/>
          </a:p>
          <a:p>
            <a:pPr indent="0" marL="0">
              <a:lnSpc>
                <a:spcPts val="1500"/>
              </a:lnSpc>
              <a:buNone/>
            </a:pPr>
            <a:r>
              <a:rPr lang="en-US" sz="1150" dirty="0">
                <a:solidFill>
                  <a:srgbClr val="5A4032"/>
                </a:solidFill>
                <a:latin typeface="Arial" pitchFamily="34" charset="0"/>
                <a:ea typeface="Arial" pitchFamily="34" charset="-122"/>
                <a:cs typeface="Arial" pitchFamily="34" charset="-120"/>
              </a:rPr>
              <a:t>Hỏi “cách nấu phở bò” thì hệ vẫn đưa ra một hành vi vi phạm. Đặc trưng TF-IDF quá yếu để tách miền: 56/120 câu hợp lệ chấm điểm thấp hơn hoặc bằng truy vấn rác. Không ngưỡng nào tách được.</a:t>
            </a:r>
            <a:endParaRPr lang="en-US" sz="1150" dirty="0"/>
          </a:p>
        </p:txBody>
      </p:sp>
      <p:sp>
        <p:nvSpPr>
          <p:cNvPr id="7" name="Shape 4"/>
          <p:cNvSpPr/>
          <p:nvPr/>
        </p:nvSpPr>
        <p:spPr>
          <a:xfrm>
            <a:off x="685800" y="4041648"/>
            <a:ext cx="5943600" cy="1481328"/>
          </a:xfrm>
          <a:prstGeom prst="roundRect">
            <a:avLst>
              <a:gd name="adj" fmla="val 8642"/>
            </a:avLst>
          </a:prstGeom>
          <a:solidFill>
            <a:srgbClr val="F0FAE1"/>
          </a:solidFill>
          <a:ln w="12700">
            <a:solidFill>
              <a:srgbClr val="CCDBB2"/>
            </a:solidFill>
            <a:prstDash val="solid"/>
          </a:ln>
        </p:spPr>
      </p:sp>
      <p:sp>
        <p:nvSpPr>
          <p:cNvPr id="8" name="Text 5"/>
          <p:cNvSpPr txBox="1"/>
          <p:nvPr/>
        </p:nvSpPr>
        <p:spPr>
          <a:xfrm>
            <a:off x="941832" y="4206240"/>
            <a:ext cx="5431536" cy="1188720"/>
          </a:xfrm>
          <a:prstGeom prst="rect">
            <a:avLst/>
          </a:prstGeom>
          <a:noFill/>
          <a:ln/>
        </p:spPr>
        <p:txBody>
          <a:bodyPr wrap="square" lIns="0" tIns="0" rIns="0" bIns="0" rtlCol="0" anchor="ctr"/>
          <a:lstStyle/>
          <a:p>
            <a:pPr indent="0" marL="0">
              <a:lnSpc>
                <a:spcPts val="1400"/>
              </a:lnSpc>
              <a:buNone/>
            </a:pPr>
            <a:r>
              <a:rPr lang="en-US" sz="1050" b="1" dirty="0">
                <a:solidFill>
                  <a:srgbClr val="56633F"/>
                </a:solidFill>
                <a:latin typeface="Arial" pitchFamily="34" charset="0"/>
                <a:ea typeface="Arial" pitchFamily="34" charset="-122"/>
                <a:cs typeface="Arial" pitchFamily="34" charset="-120"/>
              </a:rPr>
              <a:t>Đã thử dense embedding — và đã từ chối đánh đổi.
</a:t>
            </a:r>
            <a:endParaRPr lang="en-US" sz="1050" dirty="0"/>
          </a:p>
          <a:p>
            <a:pPr indent="0" marL="0">
              <a:lnSpc>
                <a:spcPts val="1400"/>
              </a:lnSpc>
              <a:buNone/>
            </a:pPr>
            <a:r>
              <a:rPr lang="en-US" sz="1050" dirty="0">
                <a:solidFill>
                  <a:srgbClr val="3F4A2E"/>
                </a:solidFill>
                <a:latin typeface="Arial" pitchFamily="34" charset="0"/>
                <a:ea typeface="Arial" pitchFamily="34" charset="-122"/>
                <a:cs typeface="Arial" pitchFamily="34" charset="-120"/>
              </a:rPr>
              <a:t>AUC 0,8746 → 0,9958, loại được 77,5% truy vấn rác mà không từ chối oan câu nào. Nhưng hai phân bố VẪN chồng lấn: trần điểm của rác 0,5158 còn nằm trên sàn 0,3919 của câu hợp lệ không có keyphrase. Loại 100% rác thì phải làm oan 5,8% câu hợp lệ.</a:t>
            </a:r>
            <a:endParaRPr lang="en-US" sz="1050" dirty="0"/>
          </a:p>
        </p:txBody>
      </p:sp>
      <p:sp>
        <p:nvSpPr>
          <p:cNvPr id="9" name="Shape 6"/>
          <p:cNvSpPr/>
          <p:nvPr/>
        </p:nvSpPr>
        <p:spPr>
          <a:xfrm>
            <a:off x="6858000" y="4041648"/>
            <a:ext cx="4647895" cy="1481328"/>
          </a:xfrm>
          <a:prstGeom prst="roundRect">
            <a:avLst>
              <a:gd name="adj" fmla="val 8642"/>
            </a:avLst>
          </a:prstGeom>
          <a:solidFill>
            <a:srgbClr val="F9F4ED"/>
          </a:solidFill>
          <a:ln w="12700">
            <a:solidFill>
              <a:srgbClr val="DCD3C4"/>
            </a:solidFill>
            <a:prstDash val="solid"/>
          </a:ln>
        </p:spPr>
      </p:sp>
      <p:sp>
        <p:nvSpPr>
          <p:cNvPr id="10" name="Text 7"/>
          <p:cNvSpPr txBox="1"/>
          <p:nvPr/>
        </p:nvSpPr>
        <p:spPr>
          <a:xfrm>
            <a:off x="7150608" y="4206240"/>
            <a:ext cx="4059936" cy="1188720"/>
          </a:xfrm>
          <a:prstGeom prst="rect">
            <a:avLst/>
          </a:prstGeom>
          <a:noFill/>
          <a:ln/>
        </p:spPr>
        <p:txBody>
          <a:bodyPr wrap="square" lIns="0" tIns="0" rIns="0" bIns="0" rtlCol="0" anchor="ctr"/>
          <a:lstStyle/>
          <a:p>
            <a:pPr indent="0" marL="0">
              <a:lnSpc>
                <a:spcPts val="1500"/>
              </a:lnSpc>
              <a:buNone/>
            </a:pPr>
            <a:r>
              <a:rPr lang="en-US" sz="1150" b="1" dirty="0">
                <a:solidFill>
                  <a:srgbClr val="201E1D"/>
                </a:solidFill>
                <a:latin typeface="Arial" pitchFamily="34" charset="0"/>
                <a:ea typeface="Arial" pitchFamily="34" charset="-122"/>
                <a:cs typeface="Arial" pitchFamily="34" charset="-120"/>
              </a:rPr>
              <a:t>Kết quả âm cũng là kết quả.
</a:t>
            </a:r>
            <a:endParaRPr lang="en-US" sz="1150" dirty="0"/>
          </a:p>
          <a:p>
            <a:pPr indent="0" marL="0">
              <a:lnSpc>
                <a:spcPts val="1500"/>
              </a:lnSpc>
              <a:buNone/>
            </a:pPr>
            <a:r>
              <a:rPr lang="en-US" sz="1150" dirty="0">
                <a:solidFill>
                  <a:srgbClr val="645C50"/>
                </a:solidFill>
                <a:latin typeface="Arial" pitchFamily="34" charset="0"/>
                <a:ea typeface="Arial" pitchFamily="34" charset="-122"/>
                <a:cs typeface="Arial" pitchFamily="34" charset="-120"/>
              </a:rPr>
              <a:t>Phủ từ vựng cơ sở tri thức là tín hiệu vô dụng cho việc tách miền — AUC 0,7243, thấp hơn cả TF-IDF thô. Hướng này đã thử và đã bác bỏ.</a:t>
            </a:r>
            <a:endParaRPr lang="en-US" sz="1150" dirty="0"/>
          </a:p>
        </p:txBody>
      </p:sp>
      <p:sp>
        <p:nvSpPr>
          <p:cNvPr id="11" name="Text 8"/>
          <p:cNvSpPr txBox="1"/>
          <p:nvPr/>
        </p:nvSpPr>
        <p:spPr>
          <a:xfrm>
            <a:off x="685800" y="5669280"/>
            <a:ext cx="10820095" cy="402336"/>
          </a:xfrm>
          <a:prstGeom prst="rect">
            <a:avLst/>
          </a:prstGeom>
          <a:noFill/>
          <a:ln/>
        </p:spPr>
        <p:txBody>
          <a:bodyPr wrap="square" lIns="0" tIns="0" rIns="0" bIns="0" rtlCol="0" anchor="ctr"/>
          <a:lstStyle/>
          <a:p>
            <a:pPr indent="0" marL="0">
              <a:lnSpc>
                <a:spcPts val="1400"/>
              </a:lnSpc>
              <a:buNone/>
            </a:pPr>
            <a:r>
              <a:rPr lang="en-US" sz="1100" dirty="0">
                <a:solidFill>
                  <a:srgbClr val="645C50"/>
                </a:solidFill>
                <a:latin typeface="Arial" pitchFamily="34" charset="0"/>
                <a:ea typeface="Arial" pitchFamily="34" charset="-122"/>
                <a:cs typeface="Arial" pitchFamily="34" charset="-120"/>
              </a:rPr>
              <a:t>Còn lại: 12/120 câu hợp lệ không rút được keyphrase nào  ·  46 chú thích sửa đổi của Luật 118/2025 chưa mô hình hoá ở mức từng khoản  ·  hệ không sinh ngôn ngữ tự nhiên (lựa chọn có chủ đích)</a:t>
            </a:r>
            <a:endParaRPr lang="en-US" sz="1100" dirty="0"/>
          </a:p>
        </p:txBody>
      </p:sp>
      <p:sp>
        <p:nvSpPr>
          <p:cNvPr id="12" name="Text 9"/>
          <p:cNvSpPr txBox="1"/>
          <p:nvPr/>
        </p:nvSpPr>
        <p:spPr>
          <a:xfrm>
            <a:off x="685800" y="6291072"/>
            <a:ext cx="9997135" cy="274320"/>
          </a:xfrm>
          <a:prstGeom prst="rect">
            <a:avLst/>
          </a:prstGeom>
          <a:noFill/>
          <a:ln/>
        </p:spPr>
        <p:txBody>
          <a:bodyPr wrap="square" lIns="0" tIns="0" rIns="0" bIns="0" rtlCol="0" anchor="ctr"/>
          <a:lstStyle/>
          <a:p>
            <a:pPr indent="0" marL="0">
              <a:buNone/>
            </a:pPr>
            <a:r>
              <a:rPr lang="en-US" sz="1000" i="1" dirty="0">
                <a:solidFill>
                  <a:srgbClr val="82796A"/>
                </a:solidFill>
                <a:latin typeface="Arial" pitchFamily="34" charset="0"/>
                <a:ea typeface="Arial" pitchFamily="34" charset="-122"/>
                <a:cs typeface="Arial" pitchFamily="34" charset="-120"/>
              </a:rPr>
              <a:t>5 test xfail strict — ngày nào chúng bất ngờ đạt, CI báo lỗi và buộc cập nhật tài liệu</a:t>
            </a:r>
            <a:endParaRPr lang="en-US" sz="1000" dirty="0"/>
          </a:p>
        </p:txBody>
      </p:sp>
      <p:sp>
        <p:nvSpPr>
          <p:cNvPr id="13" name="Text 10"/>
          <p:cNvSpPr txBox="1"/>
          <p:nvPr/>
        </p:nvSpPr>
        <p:spPr>
          <a:xfrm>
            <a:off x="10865815" y="6291072"/>
            <a:ext cx="640080" cy="274320"/>
          </a:xfrm>
          <a:prstGeom prst="rect">
            <a:avLst/>
          </a:prstGeom>
          <a:noFill/>
          <a:ln/>
        </p:spPr>
        <p:txBody>
          <a:bodyPr wrap="square" lIns="0" tIns="0" rIns="0" bIns="0" rtlCol="0" anchor="ctr"/>
          <a:lstStyle/>
          <a:p>
            <a:pPr algn="r" indent="0" marL="0">
              <a:buNone/>
            </a:pPr>
            <a:r>
              <a:rPr lang="en-US" sz="1000" dirty="0">
                <a:solidFill>
                  <a:srgbClr val="82796A"/>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E2B25"/>
        </a:solidFill>
      </p:bgPr>
    </p:bg>
    <p:spTree>
      <p:nvGrpSpPr>
        <p:cNvPr id="1" name=""/>
        <p:cNvGrpSpPr/>
        <p:nvPr/>
      </p:nvGrpSpPr>
      <p:grpSpPr>
        <a:xfrm>
          <a:off x="0" y="0"/>
          <a:ext cx="0" cy="0"/>
          <a:chOff x="0" y="0"/>
          <a:chExt cx="0" cy="0"/>
        </a:xfrm>
      </p:grpSpPr>
      <p:sp>
        <p:nvSpPr>
          <p:cNvPr id="2" name="Shape 0"/>
          <p:cNvSpPr/>
          <p:nvPr/>
        </p:nvSpPr>
        <p:spPr>
          <a:xfrm>
            <a:off x="10180015" y="-1554480"/>
            <a:ext cx="4023360" cy="4023360"/>
          </a:xfrm>
          <a:prstGeom prst="ellipse">
            <a:avLst/>
          </a:prstGeom>
          <a:solidFill>
            <a:srgbClr val="402310"/>
          </a:solidFill>
          <a:ln/>
        </p:spPr>
      </p:sp>
      <p:sp>
        <p:nvSpPr>
          <p:cNvPr id="3" name="Text 1"/>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200" b="1" spc="200" kern="0" dirty="0">
                <a:solidFill>
                  <a:srgbClr val="F6A06B"/>
                </a:solidFill>
                <a:latin typeface="Arial" pitchFamily="34" charset="0"/>
                <a:ea typeface="Arial" pitchFamily="34" charset="-122"/>
                <a:cs typeface="Arial" pitchFamily="34" charset="-120"/>
              </a:rPr>
              <a:t>KẾT LUẬN</a:t>
            </a:r>
            <a:endParaRPr lang="en-US" sz="1200" dirty="0"/>
          </a:p>
        </p:txBody>
      </p:sp>
      <p:sp>
        <p:nvSpPr>
          <p:cNvPr id="4" name="Text 2"/>
          <p:cNvSpPr txBox="1"/>
          <p:nvPr/>
        </p:nvSpPr>
        <p:spPr>
          <a:xfrm>
            <a:off x="685800" y="658368"/>
            <a:ext cx="10820095" cy="566928"/>
          </a:xfrm>
          <a:prstGeom prst="rect">
            <a:avLst/>
          </a:prstGeom>
          <a:noFill/>
          <a:ln/>
        </p:spPr>
        <p:txBody>
          <a:bodyPr wrap="square" lIns="0" tIns="0" rIns="0" bIns="0" rtlCol="0" anchor="ctr"/>
          <a:lstStyle/>
          <a:p>
            <a:pPr indent="0" marL="0">
              <a:buNone/>
            </a:pPr>
            <a:r>
              <a:rPr lang="en-US" sz="3000" b="1" dirty="0">
                <a:solidFill>
                  <a:srgbClr val="F9F4ED"/>
                </a:solidFill>
                <a:latin typeface="Arial" pitchFamily="34" charset="0"/>
                <a:ea typeface="Arial" pitchFamily="34" charset="-122"/>
                <a:cs typeface="Arial" pitchFamily="34" charset="-120"/>
              </a:rPr>
              <a:t>Điều nhóm giữ lại không phải con số Top-1</a:t>
            </a:r>
            <a:endParaRPr lang="en-US" sz="3000" dirty="0"/>
          </a:p>
        </p:txBody>
      </p:sp>
      <p:sp>
        <p:nvSpPr>
          <p:cNvPr id="5" name="Text 3"/>
          <p:cNvSpPr txBox="1"/>
          <p:nvPr/>
        </p:nvSpPr>
        <p:spPr>
          <a:xfrm>
            <a:off x="685800" y="1627632"/>
            <a:ext cx="5120640" cy="365760"/>
          </a:xfrm>
          <a:prstGeom prst="rect">
            <a:avLst/>
          </a:prstGeom>
          <a:noFill/>
          <a:ln/>
        </p:spPr>
        <p:txBody>
          <a:bodyPr wrap="square" lIns="0" tIns="0" rIns="0" bIns="0" rtlCol="0" anchor="ctr"/>
          <a:lstStyle/>
          <a:p>
            <a:pPr indent="0" marL="0">
              <a:buNone/>
            </a:pPr>
            <a:r>
              <a:rPr lang="en-US" sz="1900" b="1" dirty="0">
                <a:solidFill>
                  <a:srgbClr val="F6A06B"/>
                </a:solidFill>
                <a:latin typeface="Arial" pitchFamily="34" charset="0"/>
                <a:ea typeface="Arial" pitchFamily="34" charset="-122"/>
                <a:cs typeface="Arial" pitchFamily="34" charset="-120"/>
              </a:rPr>
              <a:t>73 · 482 · 109 · 345</a:t>
            </a:r>
            <a:endParaRPr lang="en-US" sz="1900" dirty="0"/>
          </a:p>
        </p:txBody>
      </p:sp>
      <p:sp>
        <p:nvSpPr>
          <p:cNvPr id="6" name="Text 4"/>
          <p:cNvSpPr txBox="1"/>
          <p:nvPr/>
        </p:nvSpPr>
        <p:spPr>
          <a:xfrm>
            <a:off x="685800" y="2011680"/>
            <a:ext cx="5120640" cy="420624"/>
          </a:xfrm>
          <a:prstGeom prst="rect">
            <a:avLst/>
          </a:prstGeom>
          <a:noFill/>
          <a:ln/>
        </p:spPr>
        <p:txBody>
          <a:bodyPr wrap="square" lIns="0" tIns="0" rIns="0" bIns="0" rtlCol="0" anchor="ctr"/>
          <a:lstStyle/>
          <a:p>
            <a:pPr indent="0" marL="0">
              <a:lnSpc>
                <a:spcPts val="1500"/>
              </a:lnSpc>
              <a:buNone/>
            </a:pPr>
            <a:r>
              <a:rPr lang="en-US" sz="1200" dirty="0">
                <a:solidFill>
                  <a:srgbClr val="C0B6A5"/>
                </a:solidFill>
                <a:latin typeface="Arial" pitchFamily="34" charset="0"/>
                <a:ea typeface="Arial" pitchFamily="34" charset="-122"/>
                <a:cs typeface="Arial" pitchFamily="34" charset="-120"/>
              </a:rPr>
              <a:t>khái niệm · quan hệ · quy tắc · hành vi vi phạm, 100% có căn cứ pháp lý</a:t>
            </a:r>
            <a:endParaRPr lang="en-US" sz="1200" dirty="0"/>
          </a:p>
        </p:txBody>
      </p:sp>
      <p:sp>
        <p:nvSpPr>
          <p:cNvPr id="7" name="Text 5"/>
          <p:cNvSpPr txBox="1"/>
          <p:nvPr/>
        </p:nvSpPr>
        <p:spPr>
          <a:xfrm>
            <a:off x="685800" y="2542032"/>
            <a:ext cx="5120640" cy="365760"/>
          </a:xfrm>
          <a:prstGeom prst="rect">
            <a:avLst/>
          </a:prstGeom>
          <a:noFill/>
          <a:ln/>
        </p:spPr>
        <p:txBody>
          <a:bodyPr wrap="square" lIns="0" tIns="0" rIns="0" bIns="0" rtlCol="0" anchor="ctr"/>
          <a:lstStyle/>
          <a:p>
            <a:pPr indent="0" marL="0">
              <a:buNone/>
            </a:pPr>
            <a:r>
              <a:rPr lang="en-US" sz="1900" b="1" dirty="0">
                <a:solidFill>
                  <a:srgbClr val="F6A06B"/>
                </a:solidFill>
                <a:latin typeface="Arial" pitchFamily="34" charset="0"/>
                <a:ea typeface="Arial" pitchFamily="34" charset="-122"/>
                <a:cs typeface="Arial" pitchFamily="34" charset="-120"/>
              </a:rPr>
              <a:t>1.674 keyphrase</a:t>
            </a:r>
            <a:endParaRPr lang="en-US" sz="1900" dirty="0"/>
          </a:p>
        </p:txBody>
      </p:sp>
      <p:sp>
        <p:nvSpPr>
          <p:cNvPr id="8" name="Text 6"/>
          <p:cNvSpPr txBox="1"/>
          <p:nvPr/>
        </p:nvSpPr>
        <p:spPr>
          <a:xfrm>
            <a:off x="685800" y="2926080"/>
            <a:ext cx="5120640" cy="420624"/>
          </a:xfrm>
          <a:prstGeom prst="rect">
            <a:avLst/>
          </a:prstGeom>
          <a:noFill/>
          <a:ln/>
        </p:spPr>
        <p:txBody>
          <a:bodyPr wrap="square" lIns="0" tIns="0" rIns="0" bIns="0" rtlCol="0" anchor="ctr"/>
          <a:lstStyle/>
          <a:p>
            <a:pPr indent="0" marL="0">
              <a:lnSpc>
                <a:spcPts val="1500"/>
              </a:lnSpc>
              <a:buNone/>
            </a:pPr>
            <a:r>
              <a:rPr lang="en-US" sz="1200" dirty="0">
                <a:solidFill>
                  <a:srgbClr val="C0B6A5"/>
                </a:solidFill>
                <a:latin typeface="Arial" pitchFamily="34" charset="0"/>
                <a:ea typeface="Arial" pitchFamily="34" charset="-122"/>
                <a:cs typeface="Arial" pitchFamily="34" charset="-120"/>
              </a:rPr>
              <a:t>120 câu hỏi có đáp án chuẩn · 12/12 ca nghiệm thu đạt</a:t>
            </a:r>
            <a:endParaRPr lang="en-US" sz="1200" dirty="0"/>
          </a:p>
        </p:txBody>
      </p:sp>
      <p:sp>
        <p:nvSpPr>
          <p:cNvPr id="9" name="Text 7"/>
          <p:cNvSpPr txBox="1"/>
          <p:nvPr/>
        </p:nvSpPr>
        <p:spPr>
          <a:xfrm>
            <a:off x="685800" y="3456432"/>
            <a:ext cx="5120640" cy="365760"/>
          </a:xfrm>
          <a:prstGeom prst="rect">
            <a:avLst/>
          </a:prstGeom>
          <a:noFill/>
          <a:ln/>
        </p:spPr>
        <p:txBody>
          <a:bodyPr wrap="square" lIns="0" tIns="0" rIns="0" bIns="0" rtlCol="0" anchor="ctr"/>
          <a:lstStyle/>
          <a:p>
            <a:pPr indent="0" marL="0">
              <a:buNone/>
            </a:pPr>
            <a:r>
              <a:rPr lang="en-US" sz="1900" b="1" dirty="0">
                <a:solidFill>
                  <a:srgbClr val="F6A06B"/>
                </a:solidFill>
                <a:latin typeface="Arial" pitchFamily="34" charset="0"/>
                <a:ea typeface="Arial" pitchFamily="34" charset="-122"/>
                <a:cs typeface="Arial" pitchFamily="34" charset="-120"/>
              </a:rPr>
              <a:t>256 test · phủ 90%</a:t>
            </a:r>
            <a:endParaRPr lang="en-US" sz="1900" dirty="0"/>
          </a:p>
        </p:txBody>
      </p:sp>
      <p:sp>
        <p:nvSpPr>
          <p:cNvPr id="10" name="Text 8"/>
          <p:cNvSpPr txBox="1"/>
          <p:nvPr/>
        </p:nvSpPr>
        <p:spPr>
          <a:xfrm>
            <a:off x="685800" y="3840480"/>
            <a:ext cx="5120640" cy="420624"/>
          </a:xfrm>
          <a:prstGeom prst="rect">
            <a:avLst/>
          </a:prstGeom>
          <a:noFill/>
          <a:ln/>
        </p:spPr>
        <p:txBody>
          <a:bodyPr wrap="square" lIns="0" tIns="0" rIns="0" bIns="0" rtlCol="0" anchor="ctr"/>
          <a:lstStyle/>
          <a:p>
            <a:pPr indent="0" marL="0">
              <a:lnSpc>
                <a:spcPts val="1500"/>
              </a:lnSpc>
              <a:buNone/>
            </a:pPr>
            <a:r>
              <a:rPr lang="en-US" sz="1200" dirty="0">
                <a:solidFill>
                  <a:srgbClr val="C0B6A5"/>
                </a:solidFill>
                <a:latin typeface="Arial" pitchFamily="34" charset="0"/>
                <a:ea typeface="Arial" pitchFamily="34" charset="-122"/>
                <a:cs typeface="Arial" pitchFamily="34" charset="-120"/>
              </a:rPr>
              <a:t>5 hạn chế đã đo và khoá bằng test xfail strict</a:t>
            </a:r>
            <a:endParaRPr lang="en-US" sz="1200" dirty="0"/>
          </a:p>
        </p:txBody>
      </p:sp>
      <p:sp>
        <p:nvSpPr>
          <p:cNvPr id="11" name="Shape 9"/>
          <p:cNvSpPr/>
          <p:nvPr/>
        </p:nvSpPr>
        <p:spPr>
          <a:xfrm>
            <a:off x="6309360" y="1627632"/>
            <a:ext cx="5196535" cy="2743200"/>
          </a:xfrm>
          <a:prstGeom prst="roundRect">
            <a:avLst>
              <a:gd name="adj" fmla="val 4667"/>
            </a:avLst>
          </a:prstGeom>
          <a:solidFill>
            <a:srgbClr val="3A352D"/>
          </a:solidFill>
          <a:ln w="12700">
            <a:solidFill>
              <a:srgbClr val="56503F"/>
            </a:solidFill>
            <a:prstDash val="solid"/>
          </a:ln>
        </p:spPr>
      </p:sp>
      <p:sp>
        <p:nvSpPr>
          <p:cNvPr id="12" name="Text 10"/>
          <p:cNvSpPr txBox="1"/>
          <p:nvPr/>
        </p:nvSpPr>
        <p:spPr>
          <a:xfrm>
            <a:off x="6620256" y="1847088"/>
            <a:ext cx="4480560" cy="2377440"/>
          </a:xfrm>
          <a:prstGeom prst="rect">
            <a:avLst/>
          </a:prstGeom>
          <a:noFill/>
          <a:ln/>
        </p:spPr>
        <p:txBody>
          <a:bodyPr wrap="square" lIns="0" tIns="0" rIns="0" bIns="0" rtlCol="0" anchor="ctr"/>
          <a:lstStyle/>
          <a:p>
            <a:pPr indent="0" marL="0">
              <a:lnSpc>
                <a:spcPts val="1700"/>
              </a:lnSpc>
              <a:buNone/>
            </a:pPr>
            <a:r>
              <a:rPr lang="en-US" sz="1500" b="1" dirty="0">
                <a:solidFill>
                  <a:srgbClr val="F9F4ED"/>
                </a:solidFill>
                <a:latin typeface="Arial" pitchFamily="34" charset="0"/>
                <a:ea typeface="Arial" pitchFamily="34" charset="-122"/>
                <a:cs typeface="Arial" pitchFamily="34" charset="-120"/>
              </a:rPr>
              <a:t>Kỷ luật đo đạc
</a:t>
            </a:r>
            <a:endParaRPr lang="en-US" sz="1200" dirty="0"/>
          </a:p>
          <a:p>
            <a:pPr indent="0" marL="0">
              <a:lnSpc>
                <a:spcPts val="1700"/>
              </a:lnSpc>
              <a:buNone/>
            </a:pPr>
            <a:r>
              <a:rPr lang="en-US" sz="1200" dirty="0">
                <a:solidFill>
                  <a:srgbClr val="C0B6A5"/>
                </a:solidFill>
                <a:latin typeface="Arial" pitchFamily="34" charset="0"/>
                <a:ea typeface="Arial" pitchFamily="34" charset="-122"/>
                <a:cs typeface="Arial" pitchFamily="34" charset="-120"/>
              </a:rPr>
              <a:t>Mọi khẳng định trong báo cáo đều sinh ra từ một lệnh chạy lại được.
</a:t>
            </a:r>
            <a:endParaRPr lang="en-US" sz="1200" dirty="0"/>
          </a:p>
          <a:p>
            <a:pPr indent="0" marL="0">
              <a:lnSpc>
                <a:spcPts val="1700"/>
              </a:lnSpc>
              <a:buNone/>
            </a:pPr>
            <a:r>
              <a:rPr lang="en-US" sz="1200" dirty="0">
                <a:solidFill>
                  <a:srgbClr val="C0B6A5"/>
                </a:solidFill>
                <a:latin typeface="Arial" pitchFamily="34" charset="0"/>
                <a:ea typeface="Arial" pitchFamily="34" charset="-122"/>
                <a:cs typeface="Arial" pitchFamily="34" charset="-120"/>
              </a:rPr>
              <a:t>Mọi hạn chế đều có số đo kèm theo.
</a:t>
            </a:r>
            <a:endParaRPr lang="en-US" sz="1200" dirty="0"/>
          </a:p>
          <a:p>
            <a:pPr indent="0" marL="0">
              <a:lnSpc>
                <a:spcPts val="1700"/>
              </a:lnSpc>
              <a:buNone/>
            </a:pPr>
            <a:r>
              <a:rPr lang="en-US" sz="1200" dirty="0">
                <a:solidFill>
                  <a:srgbClr val="C0B6A5"/>
                </a:solidFill>
                <a:latin typeface="Arial" pitchFamily="34" charset="0"/>
                <a:ea typeface="Arial" pitchFamily="34" charset="-122"/>
                <a:cs typeface="Arial" pitchFamily="34" charset="-120"/>
              </a:rPr>
              <a:t>Những hướng đã thử rồi bác bỏ đều được ghi lại thay vì giấu đi.</a:t>
            </a:r>
            <a:endParaRPr lang="en-US" sz="1200" dirty="0"/>
          </a:p>
        </p:txBody>
      </p:sp>
      <p:sp>
        <p:nvSpPr>
          <p:cNvPr id="13" name="Shape 11"/>
          <p:cNvSpPr/>
          <p:nvPr/>
        </p:nvSpPr>
        <p:spPr>
          <a:xfrm>
            <a:off x="685800" y="4645152"/>
            <a:ext cx="10820095" cy="1234440"/>
          </a:xfrm>
          <a:prstGeom prst="roundRect">
            <a:avLst>
              <a:gd name="adj" fmla="val 10370"/>
            </a:avLst>
          </a:prstGeom>
          <a:solidFill>
            <a:srgbClr val="3D472B"/>
          </a:solidFill>
          <a:ln/>
        </p:spPr>
      </p:sp>
      <p:sp>
        <p:nvSpPr>
          <p:cNvPr id="14" name="Text 12"/>
          <p:cNvSpPr txBox="1"/>
          <p:nvPr/>
        </p:nvSpPr>
        <p:spPr>
          <a:xfrm>
            <a:off x="1014984" y="4791456"/>
            <a:ext cx="2743200" cy="274320"/>
          </a:xfrm>
          <a:prstGeom prst="rect">
            <a:avLst/>
          </a:prstGeom>
          <a:noFill/>
          <a:ln/>
        </p:spPr>
        <p:txBody>
          <a:bodyPr wrap="square" lIns="0" tIns="0" rIns="0" bIns="0" rtlCol="0" anchor="ctr"/>
          <a:lstStyle/>
          <a:p>
            <a:pPr indent="0" marL="0">
              <a:buNone/>
            </a:pPr>
            <a:r>
              <a:rPr lang="en-US" sz="1300" b="1" dirty="0">
                <a:solidFill>
                  <a:srgbClr val="AEBF92"/>
                </a:solidFill>
                <a:latin typeface="Arial" pitchFamily="34" charset="0"/>
                <a:ea typeface="Arial" pitchFamily="34" charset="-122"/>
                <a:cs typeface="Arial" pitchFamily="34" charset="-120"/>
              </a:rPr>
              <a:t>Hướng phát triển</a:t>
            </a:r>
            <a:endParaRPr lang="en-US" sz="1300" dirty="0"/>
          </a:p>
        </p:txBody>
      </p:sp>
      <p:sp>
        <p:nvSpPr>
          <p:cNvPr id="15" name="Text 13"/>
          <p:cNvSpPr txBox="1"/>
          <p:nvPr/>
        </p:nvSpPr>
        <p:spPr>
          <a:xfrm>
            <a:off x="1014984" y="5084064"/>
            <a:ext cx="10161727" cy="676656"/>
          </a:xfrm>
          <a:prstGeom prst="rect">
            <a:avLst/>
          </a:prstGeom>
          <a:noFill/>
          <a:ln/>
        </p:spPr>
        <p:txBody>
          <a:bodyPr wrap="square" lIns="0" tIns="0" rIns="0" bIns="0" rtlCol="0" anchor="ctr"/>
          <a:lstStyle/>
          <a:p>
            <a:pPr indent="0" marL="0">
              <a:lnSpc>
                <a:spcPts val="1600"/>
              </a:lnSpc>
              <a:buNone/>
            </a:pPr>
            <a:r>
              <a:rPr lang="en-US" sz="1200" dirty="0">
                <a:solidFill>
                  <a:srgbClr val="C0B6A5"/>
                </a:solidFill>
                <a:latin typeface="Arial" pitchFamily="34" charset="0"/>
                <a:ea typeface="Arial" pitchFamily="34" charset="-122"/>
                <a:cs typeface="Arial" pitchFamily="34" charset="-120"/>
              </a:rPr>
              <a:t>Hỏi lại khi truy vấn thiếu phương tiện hoặc chủ thể  ·  tổng quát hoá mô hình sửa đổi để khép nốt 46 chú thích  ·  thêm tín hiệu phân biệt cho lớp P2 bằng đồ thị quan hệ  ·  đưa dense vào bản triển khai có tài nguyên với ngưỡng hai mức</a:t>
            </a:r>
            <a:endParaRPr lang="en-US" sz="1200" dirty="0"/>
          </a:p>
        </p:txBody>
      </p:sp>
      <p:sp>
        <p:nvSpPr>
          <p:cNvPr id="16" name="Text 14"/>
          <p:cNvSpPr txBox="1"/>
          <p:nvPr/>
        </p:nvSpPr>
        <p:spPr>
          <a:xfrm>
            <a:off x="685800" y="6254496"/>
            <a:ext cx="6400800" cy="310896"/>
          </a:xfrm>
          <a:prstGeom prst="rect">
            <a:avLst/>
          </a:prstGeom>
          <a:noFill/>
          <a:ln/>
        </p:spPr>
        <p:txBody>
          <a:bodyPr wrap="square" lIns="0" tIns="0" rIns="0" bIns="0" rtlCol="0" anchor="ctr"/>
          <a:lstStyle/>
          <a:p>
            <a:pPr indent="0" marL="0">
              <a:buNone/>
            </a:pPr>
            <a:r>
              <a:rPr lang="en-US" sz="1300" i="1" dirty="0">
                <a:solidFill>
                  <a:srgbClr val="82796A"/>
                </a:solidFill>
                <a:latin typeface="Arial" pitchFamily="34" charset="0"/>
                <a:ea typeface="Arial" pitchFamily="34" charset="-122"/>
                <a:cs typeface="Arial" pitchFamily="34" charset="-120"/>
              </a:rPr>
              <a:t>Cảm ơn thầy và các bạn đã lắng nghe.</a:t>
            </a:r>
            <a:endParaRPr lang="en-US" sz="1300" dirty="0"/>
          </a:p>
        </p:txBody>
      </p:sp>
      <p:sp>
        <p:nvSpPr>
          <p:cNvPr id="17" name="Text 15"/>
          <p:cNvSpPr txBox="1"/>
          <p:nvPr/>
        </p:nvSpPr>
        <p:spPr>
          <a:xfrm>
            <a:off x="10865815" y="6291072"/>
            <a:ext cx="640080" cy="274320"/>
          </a:xfrm>
          <a:prstGeom prst="rect">
            <a:avLst/>
          </a:prstGeom>
          <a:noFill/>
          <a:ln/>
        </p:spPr>
        <p:txBody>
          <a:bodyPr wrap="square" lIns="0" tIns="0" rIns="0" bIns="0" rtlCol="0" anchor="ctr"/>
          <a:lstStyle/>
          <a:p>
            <a:pPr algn="r" indent="0" marL="0">
              <a:buNone/>
            </a:pPr>
            <a:r>
              <a:rPr lang="en-US" sz="1000" dirty="0">
                <a:solidFill>
                  <a:srgbClr val="82796A"/>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tài 4 — Hệ thống tra cứu kiến thức pháp luật giao thông</dc:title>
  <dc:subject>PptxGenJS Presentation</dc:subject>
  <dc:creator>Nhóm 7 — CS106.F31.CN2</dc:creator>
  <cp:lastModifiedBy>Nhóm 7 — CS106.F31.CN2</cp:lastModifiedBy>
  <cp:revision>1</cp:revision>
  <dcterms:created xsi:type="dcterms:W3CDTF">2026-09-13T06:58:10Z</dcterms:created>
  <dcterms:modified xsi:type="dcterms:W3CDTF">2026-09-13T06:58:10Z</dcterms:modified>
</cp:coreProperties>
</file>